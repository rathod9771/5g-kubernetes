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Calibri"/>
              </a:defRPr>
            </a:pPr>
            <a:r>
              <a:rPr sz="1200" b="0" i="0" u="none" strike="noStrike">
                <a:solidFill>
                  <a:srgbClr val="FFFFFF"/>
                </a:solidFill>
                <a:latin typeface="Calibri"/>
              </a:rPr>
              <a:t>Sustained throughput, 10s single stream</a:t>
            </a:r>
          </a:p>
        </c:rich>
      </c:tx>
      <c:layout/>
      <c:overlay val="0"/>
    </c:title>
    <c:autoTitleDeleted val="0"/>
    <c:plotArea>
      <c:layout/>
      <c:barChart>
        <c:barDir val="col"/>
        <c:grouping val="clustered"/>
        <c:varyColors val="0"/>
        <c:ser>
          <c:idx val="0"/>
          <c:order val="0"/>
          <c:tx>
            <c:strRef>
              <c:f>Sheet1!$B$1</c:f>
              <c:strCache>
                <c:ptCount val="1"/>
                <c:pt idx="0">
                  <c:v>Throughput (Mbit/s)</c:v>
                </c:pt>
              </c:strCache>
            </c:strRef>
          </c:tx>
          <c:spPr>
            <a:solidFill>
              <a:srgbClr val="2DD4BF"/>
            </a:solidFill>
            <a:effectLst/>
          </c:spPr>
          <c:invertIfNegative val="0"/>
          <c:dLbls>
            <c:numFmt formatCode="#,##0"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O-RAN + OAI</c:v>
                  </c:pt>
                  <c:pt idx="1">
                    <c:v>v-CRAN + OAI</c:v>
                  </c:pt>
                  <c:pt idx="2">
                    <c:v>H-CRAN + OAI</c:v>
                  </c:pt>
                </c:lvl>
              </c:multiLvlStrCache>
            </c:multiLvlStrRef>
          </c:cat>
          <c:val>
            <c:numRef>
              <c:f>Sheet1!$B$2:$B$4</c:f>
              <c:numCache>
                <c:formatCode>General</c:formatCode>
                <c:ptCount val="3"/>
                <c:pt idx="0">
                  <c:v>320</c:v>
                </c:pt>
                <c:pt idx="1">
                  <c:v>339</c:v>
                </c:pt>
                <c:pt idx="2">
                  <c:v>292</c:v>
                </c:pt>
              </c:numCache>
            </c:numRef>
          </c:val>
        </c:ser>
        <c:dLbls>
          <c:numFmt formatCode="#,##0"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FC5DE"/>
                </a:solidFill>
                <a:latin typeface="Calibri"/>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12700" cap="flat">
              <a:solidFill>
                <a:srgbClr val="1F35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690AC"/>
                </a:solidFill>
                <a:latin typeface="Calibri"/>
              </a:defRPr>
            </a:pPr>
            <a:endParaRPr lang="en-US"/>
          </a:p>
        </c:txPr>
        <c:crossAx val="2094734554"/>
        <c:crosses val="autoZero"/>
        <c:crossBetween val="between"/>
      </c:valAx>
      <c:spPr>
        <a:solidFill>
          <a:srgbClr val="0A1628"/>
        </a:solidFill>
        <a:ln>
          <a:noFill/>
        </a:ln>
        <a:effectLst/>
      </c:spPr>
    </c:plotArea>
    <c:plotVisOnly val="1"/>
    <c:dispBlanksAs val="span"/>
  </c:chart>
  <c:spPr>
    <a:solidFill>
      <a:srgbClr val="0A162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on this slide are measured on the platform, not vendor claims. Method is on the performance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Real-radio path measured separately; the ZMQ variant shares the throughput profile of the other simulated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and latency for this architecture are on the ten-combination matrix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Shares the simulated-radio data path; throughput tracks the O-RAN and v-CRAN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and latency for this architecture are on the ten-combination matrix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and latency for this architecture are on the ten-combination matrix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flipV="1">
            <a:off x="9784080" y="640080"/>
            <a:ext cx="914400" cy="320040"/>
          </a:xfrm>
          <a:prstGeom prst="line">
            <a:avLst/>
          </a:prstGeom>
          <a:noFill/>
          <a:ln w="9525">
            <a:solidFill>
              <a:srgbClr val="2DD4BF">
                <a:alpha val="45000"/>
              </a:srgbClr>
            </a:solidFill>
            <a:prstDash val="solid"/>
          </a:ln>
        </p:spPr>
      </p:sp>
      <p:sp>
        <p:nvSpPr>
          <p:cNvPr id="3" name="Shape 1"/>
          <p:cNvSpPr/>
          <p:nvPr/>
        </p:nvSpPr>
        <p:spPr>
          <a:xfrm>
            <a:off x="10698480" y="640080"/>
            <a:ext cx="731520" cy="548640"/>
          </a:xfrm>
          <a:prstGeom prst="line">
            <a:avLst/>
          </a:prstGeom>
          <a:noFill/>
          <a:ln w="9525">
            <a:solidFill>
              <a:srgbClr val="2DD4BF">
                <a:alpha val="45000"/>
              </a:srgbClr>
            </a:solidFill>
            <a:prstDash val="solid"/>
          </a:ln>
        </p:spPr>
      </p:sp>
      <p:sp>
        <p:nvSpPr>
          <p:cNvPr id="4" name="Shape 2"/>
          <p:cNvSpPr/>
          <p:nvPr/>
        </p:nvSpPr>
        <p:spPr>
          <a:xfrm>
            <a:off x="9784080" y="960120"/>
            <a:ext cx="548640" cy="731520"/>
          </a:xfrm>
          <a:prstGeom prst="line">
            <a:avLst/>
          </a:prstGeom>
          <a:noFill/>
          <a:ln w="9525">
            <a:solidFill>
              <a:srgbClr val="2DD4BF">
                <a:alpha val="45000"/>
              </a:srgbClr>
            </a:solidFill>
            <a:prstDash val="solid"/>
          </a:ln>
        </p:spPr>
      </p:sp>
      <p:sp>
        <p:nvSpPr>
          <p:cNvPr id="5" name="Shape 3"/>
          <p:cNvSpPr/>
          <p:nvPr/>
        </p:nvSpPr>
        <p:spPr>
          <a:xfrm>
            <a:off x="10332720" y="1691640"/>
            <a:ext cx="1005840" cy="411480"/>
          </a:xfrm>
          <a:prstGeom prst="line">
            <a:avLst/>
          </a:prstGeom>
          <a:noFill/>
          <a:ln w="9525">
            <a:solidFill>
              <a:srgbClr val="2DD4BF">
                <a:alpha val="45000"/>
              </a:srgbClr>
            </a:solidFill>
            <a:prstDash val="solid"/>
          </a:ln>
        </p:spPr>
      </p:sp>
      <p:sp>
        <p:nvSpPr>
          <p:cNvPr id="6" name="Shape 4"/>
          <p:cNvSpPr/>
          <p:nvPr/>
        </p:nvSpPr>
        <p:spPr>
          <a:xfrm flipH="1">
            <a:off x="9509760" y="1691640"/>
            <a:ext cx="822960" cy="91440"/>
          </a:xfrm>
          <a:prstGeom prst="line">
            <a:avLst/>
          </a:prstGeom>
          <a:noFill/>
          <a:ln w="9525">
            <a:solidFill>
              <a:srgbClr val="2DD4BF">
                <a:alpha val="45000"/>
              </a:srgbClr>
            </a:solidFill>
            <a:prstDash val="solid"/>
          </a:ln>
        </p:spPr>
      </p:sp>
      <p:sp>
        <p:nvSpPr>
          <p:cNvPr id="7" name="Shape 5"/>
          <p:cNvSpPr/>
          <p:nvPr/>
        </p:nvSpPr>
        <p:spPr>
          <a:xfrm>
            <a:off x="10698480" y="640080"/>
            <a:ext cx="640080" cy="1463040"/>
          </a:xfrm>
          <a:prstGeom prst="line">
            <a:avLst/>
          </a:prstGeom>
          <a:noFill/>
          <a:ln w="9525">
            <a:solidFill>
              <a:srgbClr val="2DD4BF">
                <a:alpha val="45000"/>
              </a:srgbClr>
            </a:solidFill>
            <a:prstDash val="solid"/>
          </a:ln>
        </p:spPr>
      </p:sp>
      <p:sp>
        <p:nvSpPr>
          <p:cNvPr id="8" name="Shape 6"/>
          <p:cNvSpPr/>
          <p:nvPr/>
        </p:nvSpPr>
        <p:spPr>
          <a:xfrm>
            <a:off x="9738360" y="914400"/>
            <a:ext cx="91440" cy="91440"/>
          </a:xfrm>
          <a:prstGeom prst="ellipse">
            <a:avLst/>
          </a:prstGeom>
          <a:solidFill>
            <a:srgbClr val="2DD4BF"/>
          </a:solidFill>
          <a:ln w="12700">
            <a:solidFill>
              <a:srgbClr val="2DD4BF"/>
            </a:solidFill>
            <a:prstDash val="solid"/>
          </a:ln>
        </p:spPr>
      </p:sp>
      <p:sp>
        <p:nvSpPr>
          <p:cNvPr id="9" name="Shape 7"/>
          <p:cNvSpPr/>
          <p:nvPr/>
        </p:nvSpPr>
        <p:spPr>
          <a:xfrm>
            <a:off x="10652760" y="594360"/>
            <a:ext cx="91440" cy="91440"/>
          </a:xfrm>
          <a:prstGeom prst="ellipse">
            <a:avLst/>
          </a:prstGeom>
          <a:solidFill>
            <a:srgbClr val="2DD4BF"/>
          </a:solidFill>
          <a:ln w="12700">
            <a:solidFill>
              <a:srgbClr val="2DD4BF"/>
            </a:solidFill>
            <a:prstDash val="solid"/>
          </a:ln>
        </p:spPr>
      </p:sp>
      <p:sp>
        <p:nvSpPr>
          <p:cNvPr id="10" name="Shape 8"/>
          <p:cNvSpPr/>
          <p:nvPr/>
        </p:nvSpPr>
        <p:spPr>
          <a:xfrm>
            <a:off x="11384280" y="1143000"/>
            <a:ext cx="91440" cy="91440"/>
          </a:xfrm>
          <a:prstGeom prst="ellipse">
            <a:avLst/>
          </a:prstGeom>
          <a:solidFill>
            <a:srgbClr val="2DD4BF"/>
          </a:solidFill>
          <a:ln w="12700">
            <a:solidFill>
              <a:srgbClr val="2DD4BF"/>
            </a:solidFill>
            <a:prstDash val="solid"/>
          </a:ln>
        </p:spPr>
      </p:sp>
      <p:sp>
        <p:nvSpPr>
          <p:cNvPr id="11" name="Shape 9"/>
          <p:cNvSpPr/>
          <p:nvPr/>
        </p:nvSpPr>
        <p:spPr>
          <a:xfrm>
            <a:off x="10287000" y="1645920"/>
            <a:ext cx="91440" cy="91440"/>
          </a:xfrm>
          <a:prstGeom prst="ellipse">
            <a:avLst/>
          </a:prstGeom>
          <a:solidFill>
            <a:srgbClr val="2DD4BF"/>
          </a:solidFill>
          <a:ln w="12700">
            <a:solidFill>
              <a:srgbClr val="2DD4BF"/>
            </a:solidFill>
            <a:prstDash val="solid"/>
          </a:ln>
        </p:spPr>
      </p:sp>
      <p:sp>
        <p:nvSpPr>
          <p:cNvPr id="12" name="Shape 10"/>
          <p:cNvSpPr/>
          <p:nvPr/>
        </p:nvSpPr>
        <p:spPr>
          <a:xfrm>
            <a:off x="11292840" y="2057400"/>
            <a:ext cx="91440" cy="91440"/>
          </a:xfrm>
          <a:prstGeom prst="ellipse">
            <a:avLst/>
          </a:prstGeom>
          <a:solidFill>
            <a:srgbClr val="2DD4BF"/>
          </a:solidFill>
          <a:ln w="12700">
            <a:solidFill>
              <a:srgbClr val="2DD4BF"/>
            </a:solidFill>
            <a:prstDash val="solid"/>
          </a:ln>
        </p:spPr>
      </p:sp>
      <p:sp>
        <p:nvSpPr>
          <p:cNvPr id="13" name="Shape 11"/>
          <p:cNvSpPr/>
          <p:nvPr/>
        </p:nvSpPr>
        <p:spPr>
          <a:xfrm>
            <a:off x="9464040" y="1737360"/>
            <a:ext cx="91440" cy="91440"/>
          </a:xfrm>
          <a:prstGeom prst="ellipse">
            <a:avLst/>
          </a:prstGeom>
          <a:solidFill>
            <a:srgbClr val="2DD4BF"/>
          </a:solidFill>
          <a:ln w="12700">
            <a:solidFill>
              <a:srgbClr val="2DD4BF"/>
            </a:solidFill>
            <a:prstDash val="solid"/>
          </a:ln>
        </p:spPr>
      </p:sp>
      <p:sp>
        <p:nvSpPr>
          <p:cNvPr id="14" name="Text 12"/>
          <p:cNvSpPr txBox="1"/>
          <p:nvPr/>
        </p:nvSpPr>
        <p:spPr>
          <a:xfrm>
            <a:off x="502920" y="1508760"/>
            <a:ext cx="7315200" cy="320040"/>
          </a:xfrm>
          <a:prstGeom prst="rect">
            <a:avLst/>
          </a:prstGeom>
          <a:noFill/>
          <a:ln/>
        </p:spPr>
        <p:txBody>
          <a:bodyPr wrap="square" lIns="0" tIns="0" rIns="0" bIns="0"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KUBERNETES-NATIVE 5G PLATFORM</a:t>
            </a:r>
            <a:endParaRPr lang="en-US" sz="1250" dirty="0"/>
          </a:p>
        </p:txBody>
      </p:sp>
      <p:sp>
        <p:nvSpPr>
          <p:cNvPr id="15" name="Text 13"/>
          <p:cNvSpPr txBox="1"/>
          <p:nvPr/>
        </p:nvSpPr>
        <p:spPr>
          <a:xfrm>
            <a:off x="457200" y="1901952"/>
            <a:ext cx="105156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RAN Architecture Evolution</a:t>
            </a:r>
            <a:endParaRPr lang="en-US" sz="4600" dirty="0"/>
          </a:p>
        </p:txBody>
      </p:sp>
      <p:sp>
        <p:nvSpPr>
          <p:cNvPr id="16" name="Text 14"/>
          <p:cNvSpPr txBox="1"/>
          <p:nvPr/>
        </p:nvSpPr>
        <p:spPr>
          <a:xfrm>
            <a:off x="502920" y="2971800"/>
            <a:ext cx="9601200" cy="822960"/>
          </a:xfrm>
          <a:prstGeom prst="rect">
            <a:avLst/>
          </a:prstGeom>
          <a:noFill/>
          <a:ln/>
        </p:spPr>
        <p:txBody>
          <a:bodyPr wrap="square" lIns="0" tIns="0" rIns="0" bIns="0" rtlCol="0" anchor="ctr"/>
          <a:lstStyle/>
          <a:p>
            <a:pPr indent="0" marL="0">
              <a:lnSpc>
                <a:spcPct val="130000"/>
              </a:lnSpc>
              <a:buNone/>
            </a:pPr>
            <a:r>
              <a:rPr lang="en-US" sz="1550" dirty="0">
                <a:solidFill>
                  <a:srgbClr val="AFC5DE"/>
                </a:solidFill>
                <a:latin typeface="Calibri" pitchFamily="34" charset="0"/>
                <a:ea typeface="Calibri" pitchFamily="34" charset="-122"/>
                <a:cs typeface="Calibri" pitchFamily="34" charset="-120"/>
              </a:rPr>
              <a:t>Six architectures on one Open5GS core — with throughput, latency and</a:t>
            </a:r>
            <a:endParaRPr lang="en-US" sz="1550" dirty="0"/>
          </a:p>
          <a:p>
            <a:pPr indent="0" marL="0">
              <a:lnSpc>
                <a:spcPct val="130000"/>
              </a:lnSpc>
              <a:buNone/>
            </a:pPr>
            <a:r>
              <a:rPr lang="en-US" sz="1550" dirty="0">
                <a:solidFill>
                  <a:srgbClr val="AFC5DE"/>
                </a:solidFill>
                <a:latin typeface="Calibri" pitchFamily="34" charset="0"/>
                <a:ea typeface="Calibri" pitchFamily="34" charset="-122"/>
                <a:cs typeface="Calibri" pitchFamily="34" charset="-120"/>
              </a:rPr>
              <a:t>capacity measured end-to-end through each one.</a:t>
            </a:r>
            <a:endParaRPr lang="en-US" sz="1550" dirty="0"/>
          </a:p>
        </p:txBody>
      </p:sp>
      <p:sp>
        <p:nvSpPr>
          <p:cNvPr id="17" name="Shape 15"/>
          <p:cNvSpPr/>
          <p:nvPr/>
        </p:nvSpPr>
        <p:spPr>
          <a:xfrm>
            <a:off x="457200" y="4206240"/>
            <a:ext cx="2697480" cy="1143000"/>
          </a:xfrm>
          <a:prstGeom prst="roundRect">
            <a:avLst>
              <a:gd name="adj" fmla="val 7200"/>
            </a:avLst>
          </a:prstGeom>
          <a:solidFill>
            <a:srgbClr val="12233D"/>
          </a:solidFill>
          <a:ln w="9525">
            <a:solidFill>
              <a:srgbClr val="1F3557"/>
            </a:solidFill>
            <a:prstDash val="solid"/>
          </a:ln>
        </p:spPr>
      </p:sp>
      <p:sp>
        <p:nvSpPr>
          <p:cNvPr id="18" name="Text 16"/>
          <p:cNvSpPr txBox="1"/>
          <p:nvPr/>
        </p:nvSpPr>
        <p:spPr>
          <a:xfrm>
            <a:off x="457200" y="4315968"/>
            <a:ext cx="2697480" cy="566928"/>
          </a:xfrm>
          <a:prstGeom prst="rect">
            <a:avLst/>
          </a:prstGeom>
          <a:noFill/>
          <a:ln/>
        </p:spPr>
        <p:txBody>
          <a:bodyPr wrap="square" lIns="0" tIns="0" rIns="0" bIns="0" rtlCol="0" anchor="ctr"/>
          <a:lstStyle/>
          <a:p>
            <a:pPr algn="ctr" indent="0" marL="0">
              <a:buNone/>
            </a:pPr>
            <a:r>
              <a:rPr lang="en-US" sz="3400" b="1" dirty="0">
                <a:solidFill>
                  <a:srgbClr val="2DD4BF"/>
                </a:solidFill>
                <a:latin typeface="Cambria" pitchFamily="34" charset="0"/>
                <a:ea typeface="Cambria" pitchFamily="34" charset="-122"/>
                <a:cs typeface="Cambria" pitchFamily="34" charset="-120"/>
              </a:rPr>
              <a:t>292-339</a:t>
            </a:r>
            <a:endParaRPr lang="en-US" sz="3400" dirty="0"/>
          </a:p>
        </p:txBody>
      </p:sp>
      <p:sp>
        <p:nvSpPr>
          <p:cNvPr id="19" name="Text 17"/>
          <p:cNvSpPr txBox="1"/>
          <p:nvPr/>
        </p:nvSpPr>
        <p:spPr>
          <a:xfrm>
            <a:off x="457200" y="4864608"/>
            <a:ext cx="2697480" cy="310896"/>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Mbit/s across scenarios</a:t>
            </a:r>
            <a:endParaRPr lang="en-US" sz="950" dirty="0"/>
          </a:p>
        </p:txBody>
      </p:sp>
      <p:sp>
        <p:nvSpPr>
          <p:cNvPr id="20" name="Shape 18"/>
          <p:cNvSpPr/>
          <p:nvPr/>
        </p:nvSpPr>
        <p:spPr>
          <a:xfrm>
            <a:off x="3319272" y="4206240"/>
            <a:ext cx="2697480" cy="1143000"/>
          </a:xfrm>
          <a:prstGeom prst="roundRect">
            <a:avLst>
              <a:gd name="adj" fmla="val 7200"/>
            </a:avLst>
          </a:prstGeom>
          <a:solidFill>
            <a:srgbClr val="12233D"/>
          </a:solidFill>
          <a:ln w="9525">
            <a:solidFill>
              <a:srgbClr val="1F3557"/>
            </a:solidFill>
            <a:prstDash val="solid"/>
          </a:ln>
        </p:spPr>
      </p:sp>
      <p:sp>
        <p:nvSpPr>
          <p:cNvPr id="21" name="Text 19"/>
          <p:cNvSpPr txBox="1"/>
          <p:nvPr/>
        </p:nvSpPr>
        <p:spPr>
          <a:xfrm>
            <a:off x="3319272" y="4315968"/>
            <a:ext cx="2697480" cy="566928"/>
          </a:xfrm>
          <a:prstGeom prst="rect">
            <a:avLst/>
          </a:prstGeom>
          <a:noFill/>
          <a:ln/>
        </p:spPr>
        <p:txBody>
          <a:bodyPr wrap="square" lIns="0" tIns="0" rIns="0" bIns="0" rtlCol="0" anchor="ctr"/>
          <a:lstStyle/>
          <a:p>
            <a:pPr algn="ctr" indent="0" marL="0">
              <a:buNone/>
            </a:pPr>
            <a:r>
              <a:rPr lang="en-US" sz="3400" b="1" dirty="0">
                <a:solidFill>
                  <a:srgbClr val="2DD4BF"/>
                </a:solidFill>
                <a:latin typeface="Cambria" pitchFamily="34" charset="0"/>
                <a:ea typeface="Cambria" pitchFamily="34" charset="-122"/>
                <a:cs typeface="Cambria" pitchFamily="34" charset="-120"/>
              </a:rPr>
              <a:t>~10 ms</a:t>
            </a:r>
            <a:endParaRPr lang="en-US" sz="3400" dirty="0"/>
          </a:p>
        </p:txBody>
      </p:sp>
      <p:sp>
        <p:nvSpPr>
          <p:cNvPr id="22" name="Text 20"/>
          <p:cNvSpPr txBox="1"/>
          <p:nvPr/>
        </p:nvSpPr>
        <p:spPr>
          <a:xfrm>
            <a:off x="3319272" y="4864608"/>
            <a:ext cx="2697480" cy="310896"/>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RTT, every architecture</a:t>
            </a:r>
            <a:endParaRPr lang="en-US" sz="950" dirty="0"/>
          </a:p>
        </p:txBody>
      </p:sp>
      <p:sp>
        <p:nvSpPr>
          <p:cNvPr id="23" name="Shape 21"/>
          <p:cNvSpPr/>
          <p:nvPr/>
        </p:nvSpPr>
        <p:spPr>
          <a:xfrm>
            <a:off x="6181344" y="4206240"/>
            <a:ext cx="2697480" cy="1143000"/>
          </a:xfrm>
          <a:prstGeom prst="roundRect">
            <a:avLst>
              <a:gd name="adj" fmla="val 7200"/>
            </a:avLst>
          </a:prstGeom>
          <a:solidFill>
            <a:srgbClr val="12233D"/>
          </a:solidFill>
          <a:ln w="9525">
            <a:solidFill>
              <a:srgbClr val="1F3557"/>
            </a:solidFill>
            <a:prstDash val="solid"/>
          </a:ln>
        </p:spPr>
      </p:sp>
      <p:sp>
        <p:nvSpPr>
          <p:cNvPr id="24" name="Text 22"/>
          <p:cNvSpPr txBox="1"/>
          <p:nvPr/>
        </p:nvSpPr>
        <p:spPr>
          <a:xfrm>
            <a:off x="6181344" y="4315968"/>
            <a:ext cx="2697480" cy="566928"/>
          </a:xfrm>
          <a:prstGeom prst="rect">
            <a:avLst/>
          </a:prstGeom>
          <a:noFill/>
          <a:ln/>
        </p:spPr>
        <p:txBody>
          <a:bodyPr wrap="square" lIns="0" tIns="0" rIns="0" bIns="0" rtlCol="0" anchor="ctr"/>
          <a:lstStyle/>
          <a:p>
            <a:pPr algn="ctr" indent="0" marL="0">
              <a:buNone/>
            </a:pPr>
            <a:r>
              <a:rPr lang="en-US" sz="3400" b="1" dirty="0">
                <a:solidFill>
                  <a:srgbClr val="34D399"/>
                </a:solidFill>
                <a:latin typeface="Cambria" pitchFamily="34" charset="0"/>
                <a:ea typeface="Cambria" pitchFamily="34" charset="-122"/>
                <a:cs typeface="Cambria" pitchFamily="34" charset="-120"/>
              </a:rPr>
              <a:t>6×</a:t>
            </a:r>
            <a:endParaRPr lang="en-US" sz="3400" dirty="0"/>
          </a:p>
        </p:txBody>
      </p:sp>
      <p:sp>
        <p:nvSpPr>
          <p:cNvPr id="25" name="Text 23"/>
          <p:cNvSpPr txBox="1"/>
          <p:nvPr/>
        </p:nvSpPr>
        <p:spPr>
          <a:xfrm>
            <a:off x="6181344" y="4864608"/>
            <a:ext cx="2697480" cy="310896"/>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edge latency advantage</a:t>
            </a:r>
            <a:endParaRPr lang="en-US" sz="950" dirty="0"/>
          </a:p>
        </p:txBody>
      </p:sp>
      <p:sp>
        <p:nvSpPr>
          <p:cNvPr id="26" name="Shape 24"/>
          <p:cNvSpPr/>
          <p:nvPr/>
        </p:nvSpPr>
        <p:spPr>
          <a:xfrm>
            <a:off x="9043416" y="4206240"/>
            <a:ext cx="2697480" cy="1143000"/>
          </a:xfrm>
          <a:prstGeom prst="roundRect">
            <a:avLst>
              <a:gd name="adj" fmla="val 7200"/>
            </a:avLst>
          </a:prstGeom>
          <a:solidFill>
            <a:srgbClr val="12233D"/>
          </a:solidFill>
          <a:ln w="9525">
            <a:solidFill>
              <a:srgbClr val="1F3557"/>
            </a:solidFill>
            <a:prstDash val="solid"/>
          </a:ln>
        </p:spPr>
      </p:sp>
      <p:sp>
        <p:nvSpPr>
          <p:cNvPr id="27" name="Text 25"/>
          <p:cNvSpPr txBox="1"/>
          <p:nvPr/>
        </p:nvSpPr>
        <p:spPr>
          <a:xfrm>
            <a:off x="9043416" y="4315968"/>
            <a:ext cx="2697480" cy="566928"/>
          </a:xfrm>
          <a:prstGeom prst="rect">
            <a:avLst/>
          </a:prstGeom>
          <a:noFill/>
          <a:ln/>
        </p:spPr>
        <p:txBody>
          <a:bodyPr wrap="square" lIns="0" tIns="0" rIns="0" bIns="0" rtlCol="0" anchor="ctr"/>
          <a:lstStyle/>
          <a:p>
            <a:pPr algn="ctr" indent="0" marL="0">
              <a:buNone/>
            </a:pPr>
            <a:r>
              <a:rPr lang="en-US" sz="3400" b="1" dirty="0">
                <a:solidFill>
                  <a:srgbClr val="F2A65A"/>
                </a:solidFill>
                <a:latin typeface="Cambria" pitchFamily="34" charset="0"/>
                <a:ea typeface="Cambria" pitchFamily="34" charset="-122"/>
                <a:cs typeface="Cambria" pitchFamily="34" charset="-120"/>
              </a:rPr>
              <a:t>17,289</a:t>
            </a:r>
            <a:endParaRPr lang="en-US" sz="3400" dirty="0"/>
          </a:p>
        </p:txBody>
      </p:sp>
      <p:sp>
        <p:nvSpPr>
          <p:cNvPr id="28" name="Text 26"/>
          <p:cNvSpPr txBox="1"/>
          <p:nvPr/>
        </p:nvSpPr>
        <p:spPr>
          <a:xfrm>
            <a:off x="9043416" y="4864608"/>
            <a:ext cx="2697480" cy="310896"/>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retransmits at the ZMQ limit</a:t>
            </a:r>
            <a:endParaRPr lang="en-US" sz="950" dirty="0"/>
          </a:p>
        </p:txBody>
      </p:sp>
      <p:sp>
        <p:nvSpPr>
          <p:cNvPr id="29" name="Text 27"/>
          <p:cNvSpPr txBox="1"/>
          <p:nvPr/>
        </p:nvSpPr>
        <p:spPr>
          <a:xfrm>
            <a:off x="502920" y="5650992"/>
            <a:ext cx="9144000" cy="274320"/>
          </a:xfrm>
          <a:prstGeom prst="rect">
            <a:avLst/>
          </a:prstGeom>
          <a:noFill/>
          <a:ln/>
        </p:spPr>
        <p:txBody>
          <a:bodyPr wrap="square" lIns="0" tIns="0" rIns="0" bIns="0" rtlCol="0" anchor="ctr"/>
          <a:lstStyle/>
          <a:p>
            <a:pPr indent="0" marL="0">
              <a:buNone/>
            </a:pPr>
            <a:r>
              <a:rPr lang="en-US" sz="1000" dirty="0">
                <a:solidFill>
                  <a:srgbClr val="7690AC"/>
                </a:solidFill>
                <a:latin typeface="Calibri" pitchFamily="34" charset="0"/>
                <a:ea typeface="Calibri" pitchFamily="34" charset="-122"/>
                <a:cs typeface="Calibri" pitchFamily="34" charset="-120"/>
              </a:rPr>
              <a:t>Advanced Communications &amp; Networks Research  ·  Open Source 5G Platform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078992"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078992"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AGENDA</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Six Architectures, One Core</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Each model changes how RAN functions are split, placed and scaled — never what the core provides.</a:t>
            </a:r>
            <a:endParaRPr lang="en-US" sz="1350" dirty="0"/>
          </a:p>
        </p:txBody>
      </p:sp>
      <p:sp>
        <p:nvSpPr>
          <p:cNvPr id="6" name="Shape 4"/>
          <p:cNvSpPr/>
          <p:nvPr/>
        </p:nvSpPr>
        <p:spPr>
          <a:xfrm>
            <a:off x="457200" y="1938528"/>
            <a:ext cx="5440680" cy="1060704"/>
          </a:xfrm>
          <a:prstGeom prst="roundRect">
            <a:avLst>
              <a:gd name="adj" fmla="val 7759"/>
            </a:avLst>
          </a:prstGeom>
          <a:solidFill>
            <a:srgbClr val="12233D"/>
          </a:solidFill>
          <a:ln w="9525">
            <a:solidFill>
              <a:srgbClr val="1F3557"/>
            </a:solidFill>
            <a:prstDash val="solid"/>
          </a:ln>
        </p:spPr>
      </p:sp>
      <p:sp>
        <p:nvSpPr>
          <p:cNvPr id="7" name="Text 5"/>
          <p:cNvSpPr txBox="1"/>
          <p:nvPr/>
        </p:nvSpPr>
        <p:spPr>
          <a:xfrm>
            <a:off x="658368" y="2084832"/>
            <a:ext cx="822960" cy="777240"/>
          </a:xfrm>
          <a:prstGeom prst="rect">
            <a:avLst/>
          </a:prstGeom>
          <a:noFill/>
          <a:ln/>
        </p:spPr>
        <p:txBody>
          <a:bodyPr wrap="square" lIns="0" tIns="0" rIns="0" bIns="0" rtlCol="0" anchor="ctr"/>
          <a:lstStyle/>
          <a:p>
            <a:pPr indent="0" marL="0">
              <a:buNone/>
            </a:pPr>
            <a:r>
              <a:rPr lang="en-US" sz="2800" b="1" dirty="0">
                <a:solidFill>
                  <a:srgbClr val="1C7293">
                    <a:alpha val="70000"/>
                  </a:srgbClr>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508760" y="2103120"/>
            <a:ext cx="416052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Centralized RAN (C-RAN)</a:t>
            </a:r>
            <a:endParaRPr lang="en-US" sz="1450" dirty="0"/>
          </a:p>
        </p:txBody>
      </p:sp>
      <p:sp>
        <p:nvSpPr>
          <p:cNvPr id="9" name="Text 7"/>
          <p:cNvSpPr txBox="1"/>
          <p:nvPr/>
        </p:nvSpPr>
        <p:spPr>
          <a:xfrm>
            <a:off x="1508760" y="2468880"/>
            <a:ext cx="4160520" cy="457200"/>
          </a:xfrm>
          <a:prstGeom prst="rect">
            <a:avLst/>
          </a:prstGeom>
          <a:noFill/>
          <a:ln/>
        </p:spPr>
        <p:txBody>
          <a:bodyPr wrap="square" lIns="0" tIns="0" rIns="0" bIns="0" rtlCol="0" anchor="ctr"/>
          <a:lstStyle/>
          <a:p>
            <a:pPr indent="0" marL="0">
              <a:lnSpc>
                <a:spcPct val="115000"/>
              </a:lnSpc>
              <a:buNone/>
            </a:pPr>
            <a:r>
              <a:rPr lang="en-US" sz="1050" dirty="0">
                <a:solidFill>
                  <a:srgbClr val="AFC5DE"/>
                </a:solidFill>
                <a:latin typeface="Calibri" pitchFamily="34" charset="0"/>
                <a:ea typeface="Calibri" pitchFamily="34" charset="-122"/>
                <a:cs typeface="Calibri" pitchFamily="34" charset="-120"/>
              </a:rPr>
              <a:t>Monolithic gNB — the traditional baseline</a:t>
            </a:r>
            <a:endParaRPr lang="en-US" sz="1050" dirty="0"/>
          </a:p>
        </p:txBody>
      </p:sp>
      <p:sp>
        <p:nvSpPr>
          <p:cNvPr id="10" name="Shape 8"/>
          <p:cNvSpPr/>
          <p:nvPr/>
        </p:nvSpPr>
        <p:spPr>
          <a:xfrm>
            <a:off x="457200" y="3127248"/>
            <a:ext cx="5440680" cy="1060704"/>
          </a:xfrm>
          <a:prstGeom prst="roundRect">
            <a:avLst>
              <a:gd name="adj" fmla="val 7759"/>
            </a:avLst>
          </a:prstGeom>
          <a:solidFill>
            <a:srgbClr val="12233D"/>
          </a:solidFill>
          <a:ln w="9525">
            <a:solidFill>
              <a:srgbClr val="1F3557"/>
            </a:solidFill>
            <a:prstDash val="solid"/>
          </a:ln>
        </p:spPr>
      </p:sp>
      <p:sp>
        <p:nvSpPr>
          <p:cNvPr id="11" name="Text 9"/>
          <p:cNvSpPr txBox="1"/>
          <p:nvPr/>
        </p:nvSpPr>
        <p:spPr>
          <a:xfrm>
            <a:off x="658368" y="3273552"/>
            <a:ext cx="822960" cy="777240"/>
          </a:xfrm>
          <a:prstGeom prst="rect">
            <a:avLst/>
          </a:prstGeom>
          <a:noFill/>
          <a:ln/>
        </p:spPr>
        <p:txBody>
          <a:bodyPr wrap="square" lIns="0" tIns="0" rIns="0" bIns="0" rtlCol="0" anchor="ctr"/>
          <a:lstStyle/>
          <a:p>
            <a:pPr indent="0" marL="0">
              <a:buNone/>
            </a:pPr>
            <a:r>
              <a:rPr lang="en-US" sz="2800" b="1" dirty="0">
                <a:solidFill>
                  <a:srgbClr val="1C7293">
                    <a:alpha val="70000"/>
                  </a:srgbClr>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1508760" y="3291840"/>
            <a:ext cx="416052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Disaggregated RAN (O-RAN)</a:t>
            </a:r>
            <a:endParaRPr lang="en-US" sz="1450" dirty="0"/>
          </a:p>
        </p:txBody>
      </p:sp>
      <p:sp>
        <p:nvSpPr>
          <p:cNvPr id="13" name="Text 11"/>
          <p:cNvSpPr txBox="1"/>
          <p:nvPr/>
        </p:nvSpPr>
        <p:spPr>
          <a:xfrm>
            <a:off x="1508760" y="3657600"/>
            <a:ext cx="4160520" cy="457200"/>
          </a:xfrm>
          <a:prstGeom prst="rect">
            <a:avLst/>
          </a:prstGeom>
          <a:noFill/>
          <a:ln/>
        </p:spPr>
        <p:txBody>
          <a:bodyPr wrap="square" lIns="0" tIns="0" rIns="0" bIns="0" rtlCol="0" anchor="ctr"/>
          <a:lstStyle/>
          <a:p>
            <a:pPr indent="0" marL="0">
              <a:lnSpc>
                <a:spcPct val="115000"/>
              </a:lnSpc>
              <a:buNone/>
            </a:pPr>
            <a:r>
              <a:rPr lang="en-US" sz="1050" dirty="0">
                <a:solidFill>
                  <a:srgbClr val="AFC5DE"/>
                </a:solidFill>
                <a:latin typeface="Calibri" pitchFamily="34" charset="0"/>
                <a:ea typeface="Calibri" pitchFamily="34" charset="-122"/>
                <a:cs typeface="Calibri" pitchFamily="34" charset="-120"/>
              </a:rPr>
              <a:t>CU/DU split over the standardized F1 interface</a:t>
            </a:r>
            <a:endParaRPr lang="en-US" sz="1050" dirty="0"/>
          </a:p>
        </p:txBody>
      </p:sp>
      <p:sp>
        <p:nvSpPr>
          <p:cNvPr id="14" name="Shape 12"/>
          <p:cNvSpPr/>
          <p:nvPr/>
        </p:nvSpPr>
        <p:spPr>
          <a:xfrm>
            <a:off x="457200" y="4315968"/>
            <a:ext cx="5440680" cy="1060704"/>
          </a:xfrm>
          <a:prstGeom prst="roundRect">
            <a:avLst>
              <a:gd name="adj" fmla="val 7759"/>
            </a:avLst>
          </a:prstGeom>
          <a:solidFill>
            <a:srgbClr val="12233D"/>
          </a:solidFill>
          <a:ln w="9525">
            <a:solidFill>
              <a:srgbClr val="1F3557"/>
            </a:solidFill>
            <a:prstDash val="solid"/>
          </a:ln>
        </p:spPr>
      </p:sp>
      <p:sp>
        <p:nvSpPr>
          <p:cNvPr id="15" name="Text 13"/>
          <p:cNvSpPr txBox="1"/>
          <p:nvPr/>
        </p:nvSpPr>
        <p:spPr>
          <a:xfrm>
            <a:off x="658368" y="4462272"/>
            <a:ext cx="822960" cy="777240"/>
          </a:xfrm>
          <a:prstGeom prst="rect">
            <a:avLst/>
          </a:prstGeom>
          <a:noFill/>
          <a:ln/>
        </p:spPr>
        <p:txBody>
          <a:bodyPr wrap="square" lIns="0" tIns="0" rIns="0" bIns="0" rtlCol="0" anchor="ctr"/>
          <a:lstStyle/>
          <a:p>
            <a:pPr indent="0" marL="0">
              <a:buNone/>
            </a:pPr>
            <a:r>
              <a:rPr lang="en-US" sz="2800" b="1" dirty="0">
                <a:solidFill>
                  <a:srgbClr val="2DD4BF">
                    <a:alpha val="70000"/>
                  </a:srgbClr>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1508760" y="4480560"/>
            <a:ext cx="416052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Cloud-RAN</a:t>
            </a:r>
            <a:endParaRPr lang="en-US" sz="1450" dirty="0"/>
          </a:p>
        </p:txBody>
      </p:sp>
      <p:sp>
        <p:nvSpPr>
          <p:cNvPr id="17" name="Text 15"/>
          <p:cNvSpPr txBox="1"/>
          <p:nvPr/>
        </p:nvSpPr>
        <p:spPr>
          <a:xfrm>
            <a:off x="1508760" y="4846320"/>
            <a:ext cx="4160520" cy="457200"/>
          </a:xfrm>
          <a:prstGeom prst="rect">
            <a:avLst/>
          </a:prstGeom>
          <a:noFill/>
          <a:ln/>
        </p:spPr>
        <p:txBody>
          <a:bodyPr wrap="square" lIns="0" tIns="0" rIns="0" bIns="0" rtlCol="0" anchor="ctr"/>
          <a:lstStyle/>
          <a:p>
            <a:pPr indent="0" marL="0">
              <a:lnSpc>
                <a:spcPct val="115000"/>
              </a:lnSpc>
              <a:buNone/>
            </a:pPr>
            <a:r>
              <a:rPr lang="en-US" sz="1050" dirty="0">
                <a:solidFill>
                  <a:srgbClr val="AFC5DE"/>
                </a:solidFill>
                <a:latin typeface="Calibri" pitchFamily="34" charset="0"/>
                <a:ea typeface="Calibri" pitchFamily="34" charset="-122"/>
                <a:cs typeface="Calibri" pitchFamily="34" charset="-120"/>
              </a:rPr>
              <a:t>BBU functions virtualized in a shared compute pool</a:t>
            </a:r>
            <a:endParaRPr lang="en-US" sz="1050" dirty="0"/>
          </a:p>
        </p:txBody>
      </p:sp>
      <p:sp>
        <p:nvSpPr>
          <p:cNvPr id="18" name="Shape 16"/>
          <p:cNvSpPr/>
          <p:nvPr/>
        </p:nvSpPr>
        <p:spPr>
          <a:xfrm>
            <a:off x="6263640" y="1938528"/>
            <a:ext cx="5440680" cy="1060704"/>
          </a:xfrm>
          <a:prstGeom prst="roundRect">
            <a:avLst>
              <a:gd name="adj" fmla="val 7759"/>
            </a:avLst>
          </a:prstGeom>
          <a:solidFill>
            <a:srgbClr val="12233D"/>
          </a:solidFill>
          <a:ln w="9525">
            <a:solidFill>
              <a:srgbClr val="1F3557"/>
            </a:solidFill>
            <a:prstDash val="solid"/>
          </a:ln>
        </p:spPr>
      </p:sp>
      <p:sp>
        <p:nvSpPr>
          <p:cNvPr id="19" name="Text 17"/>
          <p:cNvSpPr txBox="1"/>
          <p:nvPr/>
        </p:nvSpPr>
        <p:spPr>
          <a:xfrm>
            <a:off x="6464808" y="2084832"/>
            <a:ext cx="822960" cy="777240"/>
          </a:xfrm>
          <a:prstGeom prst="rect">
            <a:avLst/>
          </a:prstGeom>
          <a:noFill/>
          <a:ln/>
        </p:spPr>
        <p:txBody>
          <a:bodyPr wrap="square" lIns="0" tIns="0" rIns="0" bIns="0" rtlCol="0" anchor="ctr"/>
          <a:lstStyle/>
          <a:p>
            <a:pPr indent="0" marL="0">
              <a:buNone/>
            </a:pPr>
            <a:r>
              <a:rPr lang="en-US" sz="2800" b="1" dirty="0">
                <a:solidFill>
                  <a:srgbClr val="34D399">
                    <a:alpha val="70000"/>
                  </a:srgbClr>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7315200" y="2103120"/>
            <a:ext cx="416052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Virtualized Cloud-RAN (v-CRAN)</a:t>
            </a:r>
            <a:endParaRPr lang="en-US" sz="1450" dirty="0"/>
          </a:p>
        </p:txBody>
      </p:sp>
      <p:sp>
        <p:nvSpPr>
          <p:cNvPr id="21" name="Text 19"/>
          <p:cNvSpPr txBox="1"/>
          <p:nvPr/>
        </p:nvSpPr>
        <p:spPr>
          <a:xfrm>
            <a:off x="7315200" y="2468880"/>
            <a:ext cx="4160520" cy="457200"/>
          </a:xfrm>
          <a:prstGeom prst="rect">
            <a:avLst/>
          </a:prstGeom>
          <a:noFill/>
          <a:ln/>
        </p:spPr>
        <p:txBody>
          <a:bodyPr wrap="square" lIns="0" tIns="0" rIns="0" bIns="0" rtlCol="0" anchor="ctr"/>
          <a:lstStyle/>
          <a:p>
            <a:pPr indent="0" marL="0">
              <a:lnSpc>
                <a:spcPct val="115000"/>
              </a:lnSpc>
              <a:buNone/>
            </a:pPr>
            <a:r>
              <a:rPr lang="en-US" sz="1050" dirty="0">
                <a:solidFill>
                  <a:srgbClr val="AFC5DE"/>
                </a:solidFill>
                <a:latin typeface="Calibri" pitchFamily="34" charset="0"/>
                <a:ea typeface="Calibri" pitchFamily="34" charset="-122"/>
                <a:cs typeface="Calibri" pitchFamily="34" charset="-120"/>
              </a:rPr>
              <a:t>The CU as an elastic, autoscaled workload</a:t>
            </a:r>
            <a:endParaRPr lang="en-US" sz="1050" dirty="0"/>
          </a:p>
        </p:txBody>
      </p:sp>
      <p:sp>
        <p:nvSpPr>
          <p:cNvPr id="22" name="Shape 20"/>
          <p:cNvSpPr/>
          <p:nvPr/>
        </p:nvSpPr>
        <p:spPr>
          <a:xfrm>
            <a:off x="6263640" y="3127248"/>
            <a:ext cx="5440680" cy="1060704"/>
          </a:xfrm>
          <a:prstGeom prst="roundRect">
            <a:avLst>
              <a:gd name="adj" fmla="val 7759"/>
            </a:avLst>
          </a:prstGeom>
          <a:solidFill>
            <a:srgbClr val="12233D"/>
          </a:solidFill>
          <a:ln w="9525">
            <a:solidFill>
              <a:srgbClr val="1F3557"/>
            </a:solidFill>
            <a:prstDash val="solid"/>
          </a:ln>
        </p:spPr>
      </p:sp>
      <p:sp>
        <p:nvSpPr>
          <p:cNvPr id="23" name="Text 21"/>
          <p:cNvSpPr txBox="1"/>
          <p:nvPr/>
        </p:nvSpPr>
        <p:spPr>
          <a:xfrm>
            <a:off x="6464808" y="3273552"/>
            <a:ext cx="822960" cy="777240"/>
          </a:xfrm>
          <a:prstGeom prst="rect">
            <a:avLst/>
          </a:prstGeom>
          <a:noFill/>
          <a:ln/>
        </p:spPr>
        <p:txBody>
          <a:bodyPr wrap="square" lIns="0" tIns="0" rIns="0" bIns="0" rtlCol="0" anchor="ctr"/>
          <a:lstStyle/>
          <a:p>
            <a:pPr indent="0" marL="0">
              <a:buNone/>
            </a:pPr>
            <a:r>
              <a:rPr lang="en-US" sz="2800" b="1" dirty="0">
                <a:solidFill>
                  <a:srgbClr val="F2A65A">
                    <a:alpha val="70000"/>
                  </a:srgbClr>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7315200" y="3291840"/>
            <a:ext cx="416052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Heterogeneous Cloud-RAN (H-CRAN)</a:t>
            </a:r>
            <a:endParaRPr lang="en-US" sz="1450" dirty="0"/>
          </a:p>
        </p:txBody>
      </p:sp>
      <p:sp>
        <p:nvSpPr>
          <p:cNvPr id="25" name="Text 23"/>
          <p:cNvSpPr txBox="1"/>
          <p:nvPr/>
        </p:nvSpPr>
        <p:spPr>
          <a:xfrm>
            <a:off x="7315200" y="3657600"/>
            <a:ext cx="4160520" cy="457200"/>
          </a:xfrm>
          <a:prstGeom prst="rect">
            <a:avLst/>
          </a:prstGeom>
          <a:noFill/>
          <a:ln/>
        </p:spPr>
        <p:txBody>
          <a:bodyPr wrap="square" lIns="0" tIns="0" rIns="0" bIns="0" rtlCol="0" anchor="ctr"/>
          <a:lstStyle/>
          <a:p>
            <a:pPr indent="0" marL="0">
              <a:lnSpc>
                <a:spcPct val="115000"/>
              </a:lnSpc>
              <a:buNone/>
            </a:pPr>
            <a:r>
              <a:rPr lang="en-US" sz="1050" dirty="0">
                <a:solidFill>
                  <a:srgbClr val="AFC5DE"/>
                </a:solidFill>
                <a:latin typeface="Calibri" pitchFamily="34" charset="0"/>
                <a:ea typeface="Calibri" pitchFamily="34" charset="-122"/>
                <a:cs typeface="Calibri" pitchFamily="34" charset="-120"/>
              </a:rPr>
              <a:t>Macro coverage + small-cell capacity, coordinated</a:t>
            </a:r>
            <a:endParaRPr lang="en-US" sz="1050" dirty="0"/>
          </a:p>
        </p:txBody>
      </p:sp>
      <p:sp>
        <p:nvSpPr>
          <p:cNvPr id="26" name="Shape 24"/>
          <p:cNvSpPr/>
          <p:nvPr/>
        </p:nvSpPr>
        <p:spPr>
          <a:xfrm>
            <a:off x="6263640" y="4315968"/>
            <a:ext cx="5440680" cy="1060704"/>
          </a:xfrm>
          <a:prstGeom prst="roundRect">
            <a:avLst>
              <a:gd name="adj" fmla="val 7759"/>
            </a:avLst>
          </a:prstGeom>
          <a:solidFill>
            <a:srgbClr val="12233D"/>
          </a:solidFill>
          <a:ln w="9525">
            <a:solidFill>
              <a:srgbClr val="1F3557"/>
            </a:solidFill>
            <a:prstDash val="solid"/>
          </a:ln>
        </p:spPr>
      </p:sp>
      <p:sp>
        <p:nvSpPr>
          <p:cNvPr id="27" name="Text 25"/>
          <p:cNvSpPr txBox="1"/>
          <p:nvPr/>
        </p:nvSpPr>
        <p:spPr>
          <a:xfrm>
            <a:off x="6464808" y="4462272"/>
            <a:ext cx="822960" cy="777240"/>
          </a:xfrm>
          <a:prstGeom prst="rect">
            <a:avLst/>
          </a:prstGeom>
          <a:noFill/>
          <a:ln/>
        </p:spPr>
        <p:txBody>
          <a:bodyPr wrap="square" lIns="0" tIns="0" rIns="0" bIns="0" rtlCol="0" anchor="ctr"/>
          <a:lstStyle/>
          <a:p>
            <a:pPr indent="0" marL="0">
              <a:buNone/>
            </a:pPr>
            <a:r>
              <a:rPr lang="en-US" sz="2800" b="1" dirty="0">
                <a:solidFill>
                  <a:srgbClr val="F2A65A">
                    <a:alpha val="70000"/>
                  </a:srgbClr>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315200" y="4480560"/>
            <a:ext cx="416052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Fog RAN (F-RAN)</a:t>
            </a:r>
            <a:endParaRPr lang="en-US" sz="1450" dirty="0"/>
          </a:p>
        </p:txBody>
      </p:sp>
      <p:sp>
        <p:nvSpPr>
          <p:cNvPr id="29" name="Text 27"/>
          <p:cNvSpPr txBox="1"/>
          <p:nvPr/>
        </p:nvSpPr>
        <p:spPr>
          <a:xfrm>
            <a:off x="7315200" y="4846320"/>
            <a:ext cx="4160520" cy="457200"/>
          </a:xfrm>
          <a:prstGeom prst="rect">
            <a:avLst/>
          </a:prstGeom>
          <a:noFill/>
          <a:ln/>
        </p:spPr>
        <p:txBody>
          <a:bodyPr wrap="square" lIns="0" tIns="0" rIns="0" bIns="0" rtlCol="0" anchor="ctr"/>
          <a:lstStyle/>
          <a:p>
            <a:pPr indent="0" marL="0">
              <a:lnSpc>
                <a:spcPct val="115000"/>
              </a:lnSpc>
              <a:buNone/>
            </a:pPr>
            <a:r>
              <a:rPr lang="en-US" sz="1050" dirty="0">
                <a:solidFill>
                  <a:srgbClr val="AFC5DE"/>
                </a:solidFill>
                <a:latin typeface="Calibri" pitchFamily="34" charset="0"/>
                <a:ea typeface="Calibri" pitchFamily="34" charset="-122"/>
                <a:cs typeface="Calibri" pitchFamily="34" charset="-120"/>
              </a:rPr>
              <a:t>Processing pushed to the edge for local breakout</a:t>
            </a:r>
            <a:endParaRPr lang="en-US" sz="1050" dirty="0"/>
          </a:p>
        </p:txBody>
      </p:sp>
      <p:sp>
        <p:nvSpPr>
          <p:cNvPr id="30" name="Text 2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31" name="Text 2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02 / 24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960120" cy="292608"/>
          </a:xfrm>
          <a:prstGeom prst="roundRect">
            <a:avLst>
              <a:gd name="adj" fmla="val 18750"/>
            </a:avLst>
          </a:prstGeom>
          <a:solidFill>
            <a:srgbClr val="1C7293">
              <a:alpha val="14000"/>
            </a:srgbClr>
          </a:solidFill>
          <a:ln w="9525">
            <a:solidFill>
              <a:srgbClr val="1C7293"/>
            </a:solidFill>
            <a:prstDash val="solid"/>
          </a:ln>
        </p:spPr>
      </p:sp>
      <p:sp>
        <p:nvSpPr>
          <p:cNvPr id="3" name="Text 1"/>
          <p:cNvSpPr txBox="1"/>
          <p:nvPr/>
        </p:nvSpPr>
        <p:spPr>
          <a:xfrm>
            <a:off x="457200" y="384048"/>
            <a:ext cx="960120" cy="292608"/>
          </a:xfrm>
          <a:prstGeom prst="rect">
            <a:avLst/>
          </a:prstGeom>
          <a:noFill/>
          <a:ln/>
        </p:spPr>
        <p:txBody>
          <a:bodyPr wrap="none" lIns="0" tIns="0" rIns="0" bIns="0" rtlCol="0" anchor="ctr"/>
          <a:lstStyle/>
          <a:p>
            <a:pPr algn="ctr" indent="0" marL="0">
              <a:buNone/>
            </a:pPr>
            <a:r>
              <a:rPr lang="en-US" sz="1050" b="1" spc="110" kern="0" dirty="0">
                <a:solidFill>
                  <a:srgbClr val="1C7293"/>
                </a:solidFill>
                <a:latin typeface="Calibri" pitchFamily="34" charset="0"/>
                <a:ea typeface="Calibri" pitchFamily="34" charset="-122"/>
                <a:cs typeface="Calibri" pitchFamily="34" charset="-120"/>
              </a:rPr>
              <a:t>C-RAN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Centralized 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1C7293"/>
                </a:solidFill>
                <a:latin typeface="Calibri" pitchFamily="34" charset="0"/>
                <a:ea typeface="Calibri" pitchFamily="34" charset="-122"/>
                <a:cs typeface="Calibri" pitchFamily="34" charset="-120"/>
              </a:rPr>
              <a:t>The traditional baseline — every gNB function in one process.</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1C7293">
                    <a:alpha val="20000"/>
                  </a:srgbClr>
                </a:solidFill>
                <a:latin typeface="Cambria" pitchFamily="34" charset="0"/>
                <a:ea typeface="Cambria" pitchFamily="34" charset="-122"/>
                <a:cs typeface="Cambria" pitchFamily="34" charset="-120"/>
              </a:rPr>
              <a:t>01</a:t>
            </a:r>
            <a:endParaRPr lang="en-US" sz="5200" dirty="0"/>
          </a:p>
        </p:txBody>
      </p:sp>
      <p:sp>
        <p:nvSpPr>
          <p:cNvPr id="7" name="Shape 5"/>
          <p:cNvSpPr/>
          <p:nvPr/>
        </p:nvSpPr>
        <p:spPr>
          <a:xfrm>
            <a:off x="457200" y="1920240"/>
            <a:ext cx="5486400" cy="1691640"/>
          </a:xfrm>
          <a:prstGeom prst="roundRect">
            <a:avLst>
              <a:gd name="adj" fmla="val 4865"/>
            </a:avLst>
          </a:prstGeom>
          <a:solidFill>
            <a:srgbClr val="12233D"/>
          </a:solidFill>
          <a:ln w="9525">
            <a:solidFill>
              <a:srgbClr val="1F3557"/>
            </a:solidFill>
            <a:prstDash val="solid"/>
          </a:ln>
        </p:spPr>
      </p:sp>
      <p:sp>
        <p:nvSpPr>
          <p:cNvPr id="8" name="Shape 6"/>
          <p:cNvSpPr/>
          <p:nvPr/>
        </p:nvSpPr>
        <p:spPr>
          <a:xfrm>
            <a:off x="658368" y="2103120"/>
            <a:ext cx="237744" cy="237744"/>
          </a:xfrm>
          <a:prstGeom prst="ellipse">
            <a:avLst/>
          </a:prstGeom>
          <a:solidFill>
            <a:srgbClr val="1C7293">
              <a:alpha val="20000"/>
            </a:srgbClr>
          </a:solidFill>
          <a:ln w="12700">
            <a:solidFill>
              <a:srgbClr val="1C7293"/>
            </a:solidFill>
            <a:prstDash val="solid"/>
          </a:ln>
        </p:spPr>
      </p:sp>
      <p:sp>
        <p:nvSpPr>
          <p:cNvPr id="9" name="Text 7"/>
          <p:cNvSpPr txBox="1"/>
          <p:nvPr/>
        </p:nvSpPr>
        <p:spPr>
          <a:xfrm>
            <a:off x="658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i</a:t>
            </a:r>
            <a:endParaRPr lang="en-US" sz="1100" dirty="0"/>
          </a:p>
        </p:txBody>
      </p:sp>
      <p:sp>
        <p:nvSpPr>
          <p:cNvPr id="10" name="Text 8"/>
          <p:cNvSpPr txBox="1"/>
          <p:nvPr/>
        </p:nvSpPr>
        <p:spPr>
          <a:xfrm>
            <a:off x="987552" y="2066544"/>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Definition</a:t>
            </a:r>
            <a:endParaRPr lang="en-US" sz="1300" dirty="0"/>
          </a:p>
        </p:txBody>
      </p:sp>
      <p:sp>
        <p:nvSpPr>
          <p:cNvPr id="11" name="Text 9"/>
          <p:cNvSpPr txBox="1"/>
          <p:nvPr/>
        </p:nvSpPr>
        <p:spPr>
          <a:xfrm>
            <a:off x="694944" y="2432304"/>
            <a:ext cx="5029200" cy="10698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All baseband functions — PHY, MAC, RLC, PDCP and RRC — run as one monolithic process co-located with, or directly wired to, the radio. Nothing is split across a network interface.</a:t>
            </a:r>
            <a:endParaRPr lang="en-US" sz="1060" dirty="0"/>
          </a:p>
        </p:txBody>
      </p:sp>
      <p:sp>
        <p:nvSpPr>
          <p:cNvPr id="12" name="Shape 10"/>
          <p:cNvSpPr/>
          <p:nvPr/>
        </p:nvSpPr>
        <p:spPr>
          <a:xfrm>
            <a:off x="457200" y="3730752"/>
            <a:ext cx="5486400" cy="1481328"/>
          </a:xfrm>
          <a:prstGeom prst="roundRect">
            <a:avLst>
              <a:gd name="adj" fmla="val 5556"/>
            </a:avLst>
          </a:prstGeom>
          <a:solidFill>
            <a:srgbClr val="12233D"/>
          </a:solidFill>
          <a:ln w="9525">
            <a:solidFill>
              <a:srgbClr val="1F3557"/>
            </a:solidFill>
            <a:prstDash val="solid"/>
          </a:ln>
        </p:spPr>
      </p:sp>
      <p:sp>
        <p:nvSpPr>
          <p:cNvPr id="13" name="Shape 11"/>
          <p:cNvSpPr/>
          <p:nvPr/>
        </p:nvSpPr>
        <p:spPr>
          <a:xfrm>
            <a:off x="658368" y="3913632"/>
            <a:ext cx="237744" cy="237744"/>
          </a:xfrm>
          <a:prstGeom prst="ellipse">
            <a:avLst/>
          </a:prstGeom>
          <a:solidFill>
            <a:srgbClr val="1C7293">
              <a:alpha val="20000"/>
            </a:srgbClr>
          </a:solidFill>
          <a:ln w="12700">
            <a:solidFill>
              <a:srgbClr val="1C7293"/>
            </a:solidFill>
            <a:prstDash val="solid"/>
          </a:ln>
        </p:spPr>
      </p:sp>
      <p:sp>
        <p:nvSpPr>
          <p:cNvPr id="14" name="Text 12"/>
          <p:cNvSpPr txBox="1"/>
          <p:nvPr/>
        </p:nvSpPr>
        <p:spPr>
          <a:xfrm>
            <a:off x="658368" y="390814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e</a:t>
            </a:r>
            <a:endParaRPr lang="en-US" sz="1100" dirty="0"/>
          </a:p>
        </p:txBody>
      </p:sp>
      <p:sp>
        <p:nvSpPr>
          <p:cNvPr id="15" name="Text 13"/>
          <p:cNvSpPr txBox="1"/>
          <p:nvPr/>
        </p:nvSpPr>
        <p:spPr>
          <a:xfrm>
            <a:off x="987552" y="3877056"/>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Example in this platform</a:t>
            </a:r>
            <a:endParaRPr lang="en-US" sz="1300" dirty="0"/>
          </a:p>
        </p:txBody>
      </p:sp>
      <p:sp>
        <p:nvSpPr>
          <p:cNvPr id="16" name="Text 14"/>
          <p:cNvSpPr txBox="1"/>
          <p:nvPr/>
        </p:nvSpPr>
        <p:spPr>
          <a:xfrm>
            <a:off x="694944" y="4242816"/>
            <a:ext cx="5029200" cy="859536"/>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A single srsRAN or OAI gNB binary handling the complete air interface for one cell, driving a radio directly.</a:t>
            </a:r>
            <a:endParaRPr lang="en-US" sz="1040" dirty="0"/>
          </a:p>
        </p:txBody>
      </p:sp>
      <p:sp>
        <p:nvSpPr>
          <p:cNvPr id="17" name="Shape 15"/>
          <p:cNvSpPr/>
          <p:nvPr/>
        </p:nvSpPr>
        <p:spPr>
          <a:xfrm>
            <a:off x="6172200" y="1920240"/>
            <a:ext cx="5559552" cy="3291840"/>
          </a:xfrm>
          <a:prstGeom prst="roundRect">
            <a:avLst>
              <a:gd name="adj" fmla="val 2500"/>
            </a:avLst>
          </a:prstGeom>
          <a:solidFill>
            <a:srgbClr val="12233D"/>
          </a:solidFill>
          <a:ln w="9525">
            <a:solidFill>
              <a:srgbClr val="1F3557"/>
            </a:solidFill>
            <a:prstDash val="solid"/>
          </a:ln>
        </p:spPr>
      </p:sp>
      <p:sp>
        <p:nvSpPr>
          <p:cNvPr id="18" name="Shape 16"/>
          <p:cNvSpPr/>
          <p:nvPr/>
        </p:nvSpPr>
        <p:spPr>
          <a:xfrm>
            <a:off x="6373368" y="2103120"/>
            <a:ext cx="237744" cy="237744"/>
          </a:xfrm>
          <a:prstGeom prst="ellipse">
            <a:avLst/>
          </a:prstGeom>
          <a:solidFill>
            <a:srgbClr val="1C7293">
              <a:alpha val="20000"/>
            </a:srgbClr>
          </a:solidFill>
          <a:ln w="12700">
            <a:solidFill>
              <a:srgbClr val="1C7293"/>
            </a:solidFill>
            <a:prstDash val="solid"/>
          </a:ln>
        </p:spPr>
      </p:sp>
      <p:sp>
        <p:nvSpPr>
          <p:cNvPr id="19" name="Text 17"/>
          <p:cNvSpPr txBox="1"/>
          <p:nvPr/>
        </p:nvSpPr>
        <p:spPr>
          <a:xfrm>
            <a:off x="6373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c</a:t>
            </a:r>
            <a:endParaRPr lang="en-US" sz="1100" dirty="0"/>
          </a:p>
        </p:txBody>
      </p:sp>
      <p:sp>
        <p:nvSpPr>
          <p:cNvPr id="20" name="Text 18"/>
          <p:cNvSpPr txBox="1"/>
          <p:nvPr/>
        </p:nvSpPr>
        <p:spPr>
          <a:xfrm>
            <a:off x="6702552" y="2066544"/>
            <a:ext cx="4828032"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Characteristics</a:t>
            </a:r>
            <a:endParaRPr lang="en-US" sz="1300" dirty="0"/>
          </a:p>
        </p:txBody>
      </p:sp>
      <p:sp>
        <p:nvSpPr>
          <p:cNvPr id="21" name="Text 19"/>
          <p:cNvSpPr txBox="1"/>
          <p:nvPr/>
        </p:nvSpPr>
        <p:spPr>
          <a:xfrm>
            <a:off x="6409944" y="2432304"/>
            <a:ext cx="5102352" cy="26700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Single process owns the entire air interface</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Tight, sub-millisecond internal timing — no fronthaul network</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Simple to configure: one binary, one config file</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Typically single-vendor by construction</a:t>
            </a:r>
            <a:endParaRPr lang="en-US" sz="1060" dirty="0"/>
          </a:p>
        </p:txBody>
      </p:sp>
      <p:sp>
        <p:nvSpPr>
          <p:cNvPr id="22" name="Text 20"/>
          <p:cNvSpPr txBox="1"/>
          <p:nvPr/>
        </p:nvSpPr>
        <p:spPr>
          <a:xfrm>
            <a:off x="457200" y="5358384"/>
            <a:ext cx="5486400" cy="237744"/>
          </a:xfrm>
          <a:prstGeom prst="rect">
            <a:avLst/>
          </a:prstGeom>
          <a:noFill/>
          <a:ln/>
        </p:spPr>
        <p:txBody>
          <a:bodyPr wrap="square" lIns="0" tIns="0" rIns="0" bIns="0" rtlCol="0" anchor="ctr"/>
          <a:lstStyle/>
          <a:p>
            <a:pPr indent="0" marL="0">
              <a:buNone/>
            </a:pPr>
            <a:r>
              <a:rPr lang="en-US" sz="950" b="1" spc="120" kern="0" dirty="0">
                <a:solidFill>
                  <a:srgbClr val="7690AC"/>
                </a:solidFill>
                <a:latin typeface="Calibri" pitchFamily="34" charset="0"/>
                <a:ea typeface="Calibri" pitchFamily="34" charset="-122"/>
                <a:cs typeface="Calibri" pitchFamily="34" charset="-120"/>
              </a:rPr>
              <a:t>NETWORK ARCHITECTURE</a:t>
            </a:r>
            <a:endParaRPr lang="en-US" sz="950" dirty="0"/>
          </a:p>
        </p:txBody>
      </p:sp>
      <p:sp>
        <p:nvSpPr>
          <p:cNvPr id="23" name="Shape 21"/>
          <p:cNvSpPr/>
          <p:nvPr/>
        </p:nvSpPr>
        <p:spPr>
          <a:xfrm>
            <a:off x="457200" y="5632704"/>
            <a:ext cx="2475738" cy="841248"/>
          </a:xfrm>
          <a:prstGeom prst="roundRect">
            <a:avLst>
              <a:gd name="adj" fmla="val 8696"/>
            </a:avLst>
          </a:prstGeom>
          <a:solidFill>
            <a:srgbClr val="0E1C31"/>
          </a:solidFill>
          <a:ln w="15875">
            <a:solidFill>
              <a:srgbClr val="1C7293"/>
            </a:solidFill>
            <a:prstDash val="solid"/>
          </a:ln>
        </p:spPr>
      </p:sp>
      <p:sp>
        <p:nvSpPr>
          <p:cNvPr id="24" name="Text 22"/>
          <p:cNvSpPr txBox="1"/>
          <p:nvPr/>
        </p:nvSpPr>
        <p:spPr>
          <a:xfrm>
            <a:off x="530352"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UE</a:t>
            </a:r>
            <a:endParaRPr lang="en-US" sz="1100" dirty="0"/>
          </a:p>
        </p:txBody>
      </p:sp>
      <p:sp>
        <p:nvSpPr>
          <p:cNvPr id="25" name="Text 23"/>
          <p:cNvSpPr txBox="1"/>
          <p:nvPr/>
        </p:nvSpPr>
        <p:spPr>
          <a:xfrm>
            <a:off x="530352"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Handset / SIM</a:t>
            </a:r>
            <a:endParaRPr lang="en-US" sz="850" dirty="0"/>
          </a:p>
        </p:txBody>
      </p:sp>
      <p:sp>
        <p:nvSpPr>
          <p:cNvPr id="26" name="Shape 24"/>
          <p:cNvSpPr/>
          <p:nvPr/>
        </p:nvSpPr>
        <p:spPr>
          <a:xfrm>
            <a:off x="3390138" y="5632704"/>
            <a:ext cx="2475738" cy="841248"/>
          </a:xfrm>
          <a:prstGeom prst="roundRect">
            <a:avLst>
              <a:gd name="adj" fmla="val 8696"/>
            </a:avLst>
          </a:prstGeom>
          <a:solidFill>
            <a:srgbClr val="0E1C31"/>
          </a:solidFill>
          <a:ln w="15875">
            <a:solidFill>
              <a:srgbClr val="1C7293"/>
            </a:solidFill>
            <a:prstDash val="solid"/>
          </a:ln>
        </p:spPr>
      </p:sp>
      <p:sp>
        <p:nvSpPr>
          <p:cNvPr id="27" name="Text 25"/>
          <p:cNvSpPr txBox="1"/>
          <p:nvPr/>
        </p:nvSpPr>
        <p:spPr>
          <a:xfrm>
            <a:off x="3463290"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Radio Unit</a:t>
            </a:r>
            <a:endParaRPr lang="en-US" sz="1100" dirty="0"/>
          </a:p>
        </p:txBody>
      </p:sp>
      <p:sp>
        <p:nvSpPr>
          <p:cNvPr id="28" name="Text 26"/>
          <p:cNvSpPr txBox="1"/>
          <p:nvPr/>
        </p:nvSpPr>
        <p:spPr>
          <a:xfrm>
            <a:off x="3463290"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USRP B210 (RF)</a:t>
            </a:r>
            <a:endParaRPr lang="en-US" sz="850" dirty="0"/>
          </a:p>
        </p:txBody>
      </p:sp>
      <p:sp>
        <p:nvSpPr>
          <p:cNvPr id="29" name="Shape 27"/>
          <p:cNvSpPr/>
          <p:nvPr/>
        </p:nvSpPr>
        <p:spPr>
          <a:xfrm>
            <a:off x="6323076" y="5632704"/>
            <a:ext cx="2475738" cy="841248"/>
          </a:xfrm>
          <a:prstGeom prst="roundRect">
            <a:avLst>
              <a:gd name="adj" fmla="val 8696"/>
            </a:avLst>
          </a:prstGeom>
          <a:solidFill>
            <a:srgbClr val="0E1C31"/>
          </a:solidFill>
          <a:ln w="15875">
            <a:solidFill>
              <a:srgbClr val="1C7293"/>
            </a:solidFill>
            <a:prstDash val="solid"/>
          </a:ln>
        </p:spPr>
      </p:sp>
      <p:sp>
        <p:nvSpPr>
          <p:cNvPr id="30" name="Text 28"/>
          <p:cNvSpPr txBox="1"/>
          <p:nvPr/>
        </p:nvSpPr>
        <p:spPr>
          <a:xfrm>
            <a:off x="6396228"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Monolithic gNB</a:t>
            </a:r>
            <a:endParaRPr lang="en-US" sz="1100" dirty="0"/>
          </a:p>
        </p:txBody>
      </p:sp>
      <p:sp>
        <p:nvSpPr>
          <p:cNvPr id="31" name="Text 29"/>
          <p:cNvSpPr txBox="1"/>
          <p:nvPr/>
        </p:nvSpPr>
        <p:spPr>
          <a:xfrm>
            <a:off x="6396228"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CU + DU + PHY, one process</a:t>
            </a:r>
            <a:endParaRPr lang="en-US" sz="850" dirty="0"/>
          </a:p>
        </p:txBody>
      </p:sp>
      <p:sp>
        <p:nvSpPr>
          <p:cNvPr id="32" name="Shape 30"/>
          <p:cNvSpPr/>
          <p:nvPr/>
        </p:nvSpPr>
        <p:spPr>
          <a:xfrm>
            <a:off x="9256014" y="5632704"/>
            <a:ext cx="2475738" cy="841248"/>
          </a:xfrm>
          <a:prstGeom prst="roundRect">
            <a:avLst>
              <a:gd name="adj" fmla="val 8696"/>
            </a:avLst>
          </a:prstGeom>
          <a:solidFill>
            <a:srgbClr val="0E1C31"/>
          </a:solidFill>
          <a:ln w="15875">
            <a:solidFill>
              <a:srgbClr val="1C7293"/>
            </a:solidFill>
            <a:prstDash val="solid"/>
          </a:ln>
        </p:spPr>
      </p:sp>
      <p:sp>
        <p:nvSpPr>
          <p:cNvPr id="33" name="Text 31"/>
          <p:cNvSpPr txBox="1"/>
          <p:nvPr/>
        </p:nvSpPr>
        <p:spPr>
          <a:xfrm>
            <a:off x="9329166"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5G Core</a:t>
            </a:r>
            <a:endParaRPr lang="en-US" sz="1100" dirty="0"/>
          </a:p>
        </p:txBody>
      </p:sp>
      <p:sp>
        <p:nvSpPr>
          <p:cNvPr id="34" name="Text 32"/>
          <p:cNvSpPr txBox="1"/>
          <p:nvPr/>
        </p:nvSpPr>
        <p:spPr>
          <a:xfrm>
            <a:off x="9329166"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Open5GS on Kubernetes</a:t>
            </a:r>
            <a:endParaRPr lang="en-US" sz="850" dirty="0"/>
          </a:p>
        </p:txBody>
      </p:sp>
      <p:sp>
        <p:nvSpPr>
          <p:cNvPr id="35" name="Shape 33"/>
          <p:cNvSpPr/>
          <p:nvPr/>
        </p:nvSpPr>
        <p:spPr>
          <a:xfrm>
            <a:off x="2932938" y="6053328"/>
            <a:ext cx="457200" cy="0"/>
          </a:xfrm>
          <a:prstGeom prst="line">
            <a:avLst/>
          </a:prstGeom>
          <a:noFill/>
          <a:ln w="19050">
            <a:solidFill>
              <a:srgbClr val="1C7293"/>
            </a:solidFill>
            <a:prstDash val="solid"/>
            <a:tailEnd type="triangle"/>
          </a:ln>
        </p:spPr>
      </p:sp>
      <p:sp>
        <p:nvSpPr>
          <p:cNvPr id="36" name="Text 34"/>
          <p:cNvSpPr txBox="1"/>
          <p:nvPr/>
        </p:nvSpPr>
        <p:spPr>
          <a:xfrm>
            <a:off x="2932938" y="5705856"/>
            <a:ext cx="457200" cy="256032"/>
          </a:xfrm>
          <a:prstGeom prst="rect">
            <a:avLst/>
          </a:prstGeom>
          <a:noFill/>
          <a:ln/>
        </p:spPr>
        <p:txBody>
          <a:bodyPr wrap="none" lIns="0" tIns="0" rIns="0" bIns="0" rtlCol="0" anchor="b"/>
          <a:lstStyle/>
          <a:p>
            <a:pPr algn="ctr" indent="0" marL="0">
              <a:buNone/>
            </a:pPr>
            <a:r>
              <a:rPr lang="en-US" sz="750" b="1" dirty="0">
                <a:solidFill>
                  <a:srgbClr val="1C7293"/>
                </a:solidFill>
                <a:latin typeface="Calibri" pitchFamily="34" charset="0"/>
                <a:ea typeface="Calibri" pitchFamily="34" charset="-122"/>
                <a:cs typeface="Calibri" pitchFamily="34" charset="-120"/>
              </a:rPr>
              <a:t>RF</a:t>
            </a:r>
            <a:endParaRPr lang="en-US" sz="750" dirty="0"/>
          </a:p>
        </p:txBody>
      </p:sp>
      <p:sp>
        <p:nvSpPr>
          <p:cNvPr id="37" name="Shape 35"/>
          <p:cNvSpPr/>
          <p:nvPr/>
        </p:nvSpPr>
        <p:spPr>
          <a:xfrm>
            <a:off x="5865876" y="6053328"/>
            <a:ext cx="457200" cy="0"/>
          </a:xfrm>
          <a:prstGeom prst="line">
            <a:avLst/>
          </a:prstGeom>
          <a:noFill/>
          <a:ln w="19050">
            <a:solidFill>
              <a:srgbClr val="1C7293"/>
            </a:solidFill>
            <a:prstDash val="solid"/>
            <a:tailEnd type="triangle"/>
          </a:ln>
        </p:spPr>
      </p:sp>
      <p:sp>
        <p:nvSpPr>
          <p:cNvPr id="38" name="Text 36"/>
          <p:cNvSpPr txBox="1"/>
          <p:nvPr/>
        </p:nvSpPr>
        <p:spPr>
          <a:xfrm>
            <a:off x="5865876" y="5705856"/>
            <a:ext cx="457200" cy="256032"/>
          </a:xfrm>
          <a:prstGeom prst="rect">
            <a:avLst/>
          </a:prstGeom>
          <a:noFill/>
          <a:ln/>
        </p:spPr>
        <p:txBody>
          <a:bodyPr wrap="none" lIns="0" tIns="0" rIns="0" bIns="0" rtlCol="0" anchor="b"/>
          <a:lstStyle/>
          <a:p>
            <a:pPr algn="ctr" indent="0" marL="0">
              <a:buNone/>
            </a:pPr>
            <a:r>
              <a:rPr lang="en-US" sz="750" b="1" dirty="0">
                <a:solidFill>
                  <a:srgbClr val="1C7293"/>
                </a:solidFill>
                <a:latin typeface="Calibri" pitchFamily="34" charset="0"/>
                <a:ea typeface="Calibri" pitchFamily="34" charset="-122"/>
                <a:cs typeface="Calibri" pitchFamily="34" charset="-120"/>
              </a:rPr>
              <a:t>USB / IQ</a:t>
            </a:r>
            <a:endParaRPr lang="en-US" sz="750" dirty="0"/>
          </a:p>
        </p:txBody>
      </p:sp>
      <p:sp>
        <p:nvSpPr>
          <p:cNvPr id="39" name="Shape 37"/>
          <p:cNvSpPr/>
          <p:nvPr/>
        </p:nvSpPr>
        <p:spPr>
          <a:xfrm>
            <a:off x="8798814" y="6053328"/>
            <a:ext cx="457200" cy="0"/>
          </a:xfrm>
          <a:prstGeom prst="line">
            <a:avLst/>
          </a:prstGeom>
          <a:noFill/>
          <a:ln w="19050">
            <a:solidFill>
              <a:srgbClr val="1C7293"/>
            </a:solidFill>
            <a:prstDash val="solid"/>
            <a:tailEnd type="triangle"/>
          </a:ln>
        </p:spPr>
      </p:sp>
      <p:sp>
        <p:nvSpPr>
          <p:cNvPr id="40" name="Text 38"/>
          <p:cNvSpPr txBox="1"/>
          <p:nvPr/>
        </p:nvSpPr>
        <p:spPr>
          <a:xfrm>
            <a:off x="8798814" y="5705856"/>
            <a:ext cx="457200" cy="256032"/>
          </a:xfrm>
          <a:prstGeom prst="rect">
            <a:avLst/>
          </a:prstGeom>
          <a:noFill/>
          <a:ln/>
        </p:spPr>
        <p:txBody>
          <a:bodyPr wrap="none" lIns="0" tIns="0" rIns="0" bIns="0" rtlCol="0" anchor="b"/>
          <a:lstStyle/>
          <a:p>
            <a:pPr algn="ctr" indent="0" marL="0">
              <a:buNone/>
            </a:pPr>
            <a:r>
              <a:rPr lang="en-US" sz="750" b="1" dirty="0">
                <a:solidFill>
                  <a:srgbClr val="1C7293"/>
                </a:solidFill>
                <a:latin typeface="Calibri" pitchFamily="34" charset="0"/>
                <a:ea typeface="Calibri" pitchFamily="34" charset="-122"/>
                <a:cs typeface="Calibri" pitchFamily="34" charset="-120"/>
              </a:rPr>
              <a:t>N2 / N3</a:t>
            </a:r>
            <a:endParaRPr lang="en-US" sz="750" dirty="0"/>
          </a:p>
        </p:txBody>
      </p:sp>
      <p:sp>
        <p:nvSpPr>
          <p:cNvPr id="41" name="Text 39"/>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42" name="Text 40"/>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03 / 24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960120" cy="292608"/>
          </a:xfrm>
          <a:prstGeom prst="roundRect">
            <a:avLst>
              <a:gd name="adj" fmla="val 18750"/>
            </a:avLst>
          </a:prstGeom>
          <a:solidFill>
            <a:srgbClr val="1C7293">
              <a:alpha val="14000"/>
            </a:srgbClr>
          </a:solidFill>
          <a:ln w="9525">
            <a:solidFill>
              <a:srgbClr val="1C7293"/>
            </a:solidFill>
            <a:prstDash val="solid"/>
          </a:ln>
        </p:spPr>
      </p:sp>
      <p:sp>
        <p:nvSpPr>
          <p:cNvPr id="3" name="Text 1"/>
          <p:cNvSpPr txBox="1"/>
          <p:nvPr/>
        </p:nvSpPr>
        <p:spPr>
          <a:xfrm>
            <a:off x="457200" y="384048"/>
            <a:ext cx="960120" cy="292608"/>
          </a:xfrm>
          <a:prstGeom prst="rect">
            <a:avLst/>
          </a:prstGeom>
          <a:noFill/>
          <a:ln/>
        </p:spPr>
        <p:txBody>
          <a:bodyPr wrap="none" lIns="0" tIns="0" rIns="0" bIns="0" rtlCol="0" anchor="ctr"/>
          <a:lstStyle/>
          <a:p>
            <a:pPr algn="ctr" indent="0" marL="0">
              <a:buNone/>
            </a:pPr>
            <a:r>
              <a:rPr lang="en-US" sz="1050" b="1" spc="110" kern="0" dirty="0">
                <a:solidFill>
                  <a:srgbClr val="1C7293"/>
                </a:solidFill>
                <a:latin typeface="Calibri" pitchFamily="34" charset="0"/>
                <a:ea typeface="Calibri" pitchFamily="34" charset="-122"/>
                <a:cs typeface="Calibri" pitchFamily="34" charset="-120"/>
              </a:rPr>
              <a:t>C-RAN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Centralized 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1C7293"/>
                </a:solidFill>
                <a:latin typeface="Calibri" pitchFamily="34" charset="0"/>
                <a:ea typeface="Calibri" pitchFamily="34" charset="-122"/>
                <a:cs typeface="Calibri" pitchFamily="34" charset="-120"/>
              </a:rPr>
              <a:t>Advantages, trade-offs, and where it is used in industry</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1C7293">
                    <a:alpha val="20000"/>
                  </a:srgbClr>
                </a:solidFill>
                <a:latin typeface="Cambria" pitchFamily="34" charset="0"/>
                <a:ea typeface="Cambria" pitchFamily="34" charset="-122"/>
                <a:cs typeface="Cambria" pitchFamily="34" charset="-120"/>
              </a:rPr>
              <a:t>01</a:t>
            </a:r>
            <a:endParaRPr lang="en-US" sz="5200" dirty="0"/>
          </a:p>
        </p:txBody>
      </p:sp>
      <p:sp>
        <p:nvSpPr>
          <p:cNvPr id="7" name="Shape 5"/>
          <p:cNvSpPr/>
          <p:nvPr/>
        </p:nvSpPr>
        <p:spPr>
          <a:xfrm>
            <a:off x="457200" y="1828800"/>
            <a:ext cx="5532120" cy="2788920"/>
          </a:xfrm>
          <a:prstGeom prst="roundRect">
            <a:avLst>
              <a:gd name="adj" fmla="val 2951"/>
            </a:avLst>
          </a:prstGeom>
          <a:solidFill>
            <a:srgbClr val="12233D"/>
          </a:solidFill>
          <a:ln w="9525">
            <a:solidFill>
              <a:srgbClr val="1F3557"/>
            </a:solidFill>
            <a:prstDash val="solid"/>
          </a:ln>
        </p:spPr>
      </p:sp>
      <p:sp>
        <p:nvSpPr>
          <p:cNvPr id="8" name="Shape 6"/>
          <p:cNvSpPr/>
          <p:nvPr/>
        </p:nvSpPr>
        <p:spPr>
          <a:xfrm>
            <a:off x="658368" y="2011680"/>
            <a:ext cx="237744" cy="237744"/>
          </a:xfrm>
          <a:prstGeom prst="ellipse">
            <a:avLst/>
          </a:prstGeom>
          <a:solidFill>
            <a:srgbClr val="34D399">
              <a:alpha val="20000"/>
            </a:srgbClr>
          </a:solidFill>
          <a:ln w="12700">
            <a:solidFill>
              <a:srgbClr val="34D399"/>
            </a:solidFill>
            <a:prstDash val="solid"/>
          </a:ln>
        </p:spPr>
      </p:sp>
      <p:sp>
        <p:nvSpPr>
          <p:cNvPr id="9" name="Text 7"/>
          <p:cNvSpPr txBox="1"/>
          <p:nvPr/>
        </p:nvSpPr>
        <p:spPr>
          <a:xfrm>
            <a:off x="658368" y="2006194"/>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87552"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Advantages</a:t>
            </a:r>
            <a:endParaRPr lang="en-US" sz="1300" dirty="0"/>
          </a:p>
        </p:txBody>
      </p:sp>
      <p:sp>
        <p:nvSpPr>
          <p:cNvPr id="11" name="Text 9"/>
          <p:cNvSpPr txBox="1"/>
          <p:nvPr/>
        </p:nvSpPr>
        <p:spPr>
          <a:xfrm>
            <a:off x="694944" y="2340864"/>
            <a:ext cx="5074920" cy="2167128"/>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Fewest moving parts — easiest to deploy and debug</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Lowest possible latency: no inter-function network hop</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Straightforward capacity planning for a single cell</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Ideal for labs, pilots and private-network trials</a:t>
            </a:r>
            <a:endParaRPr lang="en-US" sz="1060" dirty="0"/>
          </a:p>
        </p:txBody>
      </p:sp>
      <p:sp>
        <p:nvSpPr>
          <p:cNvPr id="12" name="Shape 10"/>
          <p:cNvSpPr/>
          <p:nvPr/>
        </p:nvSpPr>
        <p:spPr>
          <a:xfrm>
            <a:off x="6199632" y="1828800"/>
            <a:ext cx="5532120" cy="2788920"/>
          </a:xfrm>
          <a:prstGeom prst="roundRect">
            <a:avLst>
              <a:gd name="adj" fmla="val 2951"/>
            </a:avLst>
          </a:prstGeom>
          <a:solidFill>
            <a:srgbClr val="12233D"/>
          </a:solidFill>
          <a:ln w="9525">
            <a:solidFill>
              <a:srgbClr val="1F3557"/>
            </a:solidFill>
            <a:prstDash val="solid"/>
          </a:ln>
        </p:spPr>
      </p:sp>
      <p:sp>
        <p:nvSpPr>
          <p:cNvPr id="13" name="Shape 11"/>
          <p:cNvSpPr/>
          <p:nvPr/>
        </p:nvSpPr>
        <p:spPr>
          <a:xfrm>
            <a:off x="6400800" y="2011680"/>
            <a:ext cx="237744" cy="237744"/>
          </a:xfrm>
          <a:prstGeom prst="ellipse">
            <a:avLst/>
          </a:prstGeom>
          <a:solidFill>
            <a:srgbClr val="F2A65A">
              <a:alpha val="20000"/>
            </a:srgbClr>
          </a:solidFill>
          <a:ln w="12700">
            <a:solidFill>
              <a:srgbClr val="F2A65A"/>
            </a:solidFill>
            <a:prstDash val="solid"/>
          </a:ln>
        </p:spPr>
      </p:sp>
      <p:sp>
        <p:nvSpPr>
          <p:cNvPr id="14" name="Text 12"/>
          <p:cNvSpPr txBox="1"/>
          <p:nvPr/>
        </p:nvSpPr>
        <p:spPr>
          <a:xfrm>
            <a:off x="6400800" y="2006194"/>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6729984"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Trade-offs</a:t>
            </a:r>
            <a:endParaRPr lang="en-US" sz="1300" dirty="0"/>
          </a:p>
        </p:txBody>
      </p:sp>
      <p:sp>
        <p:nvSpPr>
          <p:cNvPr id="16" name="Text 14"/>
          <p:cNvSpPr txBox="1"/>
          <p:nvPr/>
        </p:nvSpPr>
        <p:spPr>
          <a:xfrm>
            <a:off x="6437376" y="2322576"/>
            <a:ext cx="5074920" cy="1371600"/>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No resource pooling — each cell reserves its own compute, even when idle</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Scaling means adding whole gNBs, not just the busy layer</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Effectively single-vendor per site</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Wastes capacity at low load, a hard ceiling at high load</a:t>
            </a:r>
            <a:endParaRPr lang="en-US" sz="1060" dirty="0"/>
          </a:p>
        </p:txBody>
      </p:sp>
      <p:sp>
        <p:nvSpPr>
          <p:cNvPr id="17" name="Shape 15"/>
          <p:cNvSpPr/>
          <p:nvPr/>
        </p:nvSpPr>
        <p:spPr>
          <a:xfrm>
            <a:off x="6437376" y="3712464"/>
            <a:ext cx="5074920" cy="0"/>
          </a:xfrm>
          <a:prstGeom prst="line">
            <a:avLst/>
          </a:prstGeom>
          <a:noFill/>
          <a:ln w="9525">
            <a:solidFill>
              <a:srgbClr val="1F3557"/>
            </a:solidFill>
            <a:prstDash val="solid"/>
          </a:ln>
        </p:spPr>
      </p:sp>
      <p:sp>
        <p:nvSpPr>
          <p:cNvPr id="18" name="Text 16"/>
          <p:cNvSpPr txBox="1"/>
          <p:nvPr/>
        </p:nvSpPr>
        <p:spPr>
          <a:xfrm>
            <a:off x="6437376" y="3794760"/>
            <a:ext cx="5074920" cy="182880"/>
          </a:xfrm>
          <a:prstGeom prst="rect">
            <a:avLst/>
          </a:prstGeom>
          <a:noFill/>
          <a:ln/>
        </p:spPr>
        <p:txBody>
          <a:bodyPr wrap="square" lIns="0" tIns="0" rIns="0" bIns="0" rtlCol="0" anchor="ctr"/>
          <a:lstStyle/>
          <a:p>
            <a:pPr indent="0" marL="0">
              <a:buNone/>
            </a:pPr>
            <a:r>
              <a:rPr lang="en-US" sz="850" b="1" spc="100" kern="0" dirty="0">
                <a:solidFill>
                  <a:srgbClr val="F2A65A"/>
                </a:solidFill>
                <a:latin typeface="Calibri" pitchFamily="34" charset="0"/>
                <a:ea typeface="Calibri" pitchFamily="34" charset="-122"/>
                <a:cs typeface="Calibri" pitchFamily="34" charset="-120"/>
              </a:rPr>
              <a:t>HOW IT'S ADDRESSED</a:t>
            </a:r>
            <a:endParaRPr lang="en-US" sz="850" dirty="0"/>
          </a:p>
        </p:txBody>
      </p:sp>
      <p:sp>
        <p:nvSpPr>
          <p:cNvPr id="19" name="Text 17"/>
          <p:cNvSpPr txBox="1"/>
          <p:nvPr/>
        </p:nvSpPr>
        <p:spPr>
          <a:xfrm>
            <a:off x="6437376" y="3986784"/>
            <a:ext cx="5074920" cy="539496"/>
          </a:xfrm>
          <a:prstGeom prst="rect">
            <a:avLst/>
          </a:prstGeom>
          <a:noFill/>
          <a:ln/>
        </p:spPr>
        <p:txBody>
          <a:bodyPr wrap="square" lIns="0" tIns="0" rIns="0" bIns="0" rtlCol="0" anchor="t"/>
          <a:lstStyle/>
          <a:p>
            <a:pPr indent="0" marL="0">
              <a:lnSpc>
                <a:spcPct val="110000"/>
              </a:lnSpc>
              <a:buNone/>
            </a:pPr>
            <a:r>
              <a:rPr lang="en-US" sz="980" dirty="0">
                <a:solidFill>
                  <a:srgbClr val="AFC5DE"/>
                </a:solidFill>
                <a:latin typeface="Calibri" pitchFamily="34" charset="0"/>
                <a:ea typeface="Calibri" pitchFamily="34" charset="-122"/>
                <a:cs typeface="Calibri" pitchFamily="34" charset="-120"/>
              </a:rPr>
              <a:t>Virtualizing the BBU into a shared pool (Cloud-RAN) or splitting the CU from the DU (O-RAN) are the two paths out of this ceiling — both covered next.</a:t>
            </a:r>
            <a:endParaRPr lang="en-US" sz="980" dirty="0"/>
          </a:p>
        </p:txBody>
      </p:sp>
      <p:sp>
        <p:nvSpPr>
          <p:cNvPr id="20" name="Shape 18"/>
          <p:cNvSpPr/>
          <p:nvPr/>
        </p:nvSpPr>
        <p:spPr>
          <a:xfrm>
            <a:off x="457200" y="4800600"/>
            <a:ext cx="11274552" cy="1600200"/>
          </a:xfrm>
          <a:prstGeom prst="roundRect">
            <a:avLst>
              <a:gd name="adj" fmla="val 5143"/>
            </a:avLst>
          </a:prstGeom>
          <a:solidFill>
            <a:srgbClr val="12233D"/>
          </a:solidFill>
          <a:ln w="9525">
            <a:solidFill>
              <a:srgbClr val="1F3557"/>
            </a:solidFill>
            <a:prstDash val="solid"/>
          </a:ln>
        </p:spPr>
      </p:sp>
      <p:sp>
        <p:nvSpPr>
          <p:cNvPr id="21" name="Shape 19"/>
          <p:cNvSpPr/>
          <p:nvPr/>
        </p:nvSpPr>
        <p:spPr>
          <a:xfrm>
            <a:off x="658368" y="4965192"/>
            <a:ext cx="237744" cy="237744"/>
          </a:xfrm>
          <a:prstGeom prst="ellipse">
            <a:avLst/>
          </a:prstGeom>
          <a:solidFill>
            <a:srgbClr val="1C7293">
              <a:alpha val="20000"/>
            </a:srgbClr>
          </a:solidFill>
          <a:ln w="12700">
            <a:solidFill>
              <a:srgbClr val="1C7293"/>
            </a:solidFill>
            <a:prstDash val="solid"/>
          </a:ln>
        </p:spPr>
      </p:sp>
      <p:sp>
        <p:nvSpPr>
          <p:cNvPr id="22" name="Text 20"/>
          <p:cNvSpPr txBox="1"/>
          <p:nvPr/>
        </p:nvSpPr>
        <p:spPr>
          <a:xfrm>
            <a:off x="658368" y="495970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n</a:t>
            </a:r>
            <a:endParaRPr lang="en-US" sz="1100" dirty="0"/>
          </a:p>
        </p:txBody>
      </p:sp>
      <p:sp>
        <p:nvSpPr>
          <p:cNvPr id="23" name="Text 21"/>
          <p:cNvSpPr txBox="1"/>
          <p:nvPr/>
        </p:nvSpPr>
        <p:spPr>
          <a:xfrm>
            <a:off x="987552" y="4928616"/>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Where it's used in industry</a:t>
            </a:r>
            <a:endParaRPr lang="en-US" sz="1250" dirty="0"/>
          </a:p>
        </p:txBody>
      </p:sp>
      <p:sp>
        <p:nvSpPr>
          <p:cNvPr id="24" name="Text 22"/>
          <p:cNvSpPr txBox="1"/>
          <p:nvPr/>
        </p:nvSpPr>
        <p:spPr>
          <a:xfrm>
            <a:off x="694944" y="5257800"/>
            <a:ext cx="10789920" cy="1033272"/>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The default model for early 4G/5G NSA rollouts</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Still the right choice for private 5G / campus networks</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Common in labs and RF-development testbeds</a:t>
            </a:r>
            <a:endParaRPr lang="en-US" sz="1040" dirty="0"/>
          </a:p>
        </p:txBody>
      </p:sp>
      <p:sp>
        <p:nvSpPr>
          <p:cNvPr id="25" name="Text 23"/>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6" name="Text 24"/>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04 / 24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960120" cy="292608"/>
          </a:xfrm>
          <a:prstGeom prst="roundRect">
            <a:avLst>
              <a:gd name="adj" fmla="val 18750"/>
            </a:avLst>
          </a:prstGeom>
          <a:solidFill>
            <a:srgbClr val="1C7293">
              <a:alpha val="14000"/>
            </a:srgbClr>
          </a:solidFill>
          <a:ln w="9525">
            <a:solidFill>
              <a:srgbClr val="1C7293"/>
            </a:solidFill>
            <a:prstDash val="solid"/>
          </a:ln>
        </p:spPr>
      </p:sp>
      <p:sp>
        <p:nvSpPr>
          <p:cNvPr id="3" name="Text 1"/>
          <p:cNvSpPr txBox="1"/>
          <p:nvPr/>
        </p:nvSpPr>
        <p:spPr>
          <a:xfrm>
            <a:off x="457200" y="384048"/>
            <a:ext cx="960120" cy="292608"/>
          </a:xfrm>
          <a:prstGeom prst="rect">
            <a:avLst/>
          </a:prstGeom>
          <a:noFill/>
          <a:ln/>
        </p:spPr>
        <p:txBody>
          <a:bodyPr wrap="none" lIns="0" tIns="0" rIns="0" bIns="0" rtlCol="0" anchor="ctr"/>
          <a:lstStyle/>
          <a:p>
            <a:pPr algn="ctr" indent="0" marL="0">
              <a:buNone/>
            </a:pPr>
            <a:r>
              <a:rPr lang="en-US" sz="1050" b="1" spc="110" kern="0" dirty="0">
                <a:solidFill>
                  <a:srgbClr val="1C7293"/>
                </a:solidFill>
                <a:latin typeface="Calibri" pitchFamily="34" charset="0"/>
                <a:ea typeface="Calibri" pitchFamily="34" charset="-122"/>
                <a:cs typeface="Calibri" pitchFamily="34" charset="-120"/>
              </a:rPr>
              <a:t>O-RAN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Disaggregated 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1C7293"/>
                </a:solidFill>
                <a:latin typeface="Calibri" pitchFamily="34" charset="0"/>
                <a:ea typeface="Calibri" pitchFamily="34" charset="-122"/>
                <a:cs typeface="Calibri" pitchFamily="34" charset="-120"/>
              </a:rPr>
              <a:t>Splitting the gNB into interoperable CU and DU functions.</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1C7293">
                    <a:alpha val="20000"/>
                  </a:srgbClr>
                </a:solidFill>
                <a:latin typeface="Cambria" pitchFamily="34" charset="0"/>
                <a:ea typeface="Cambria" pitchFamily="34" charset="-122"/>
                <a:cs typeface="Cambria" pitchFamily="34" charset="-120"/>
              </a:rPr>
              <a:t>02</a:t>
            </a:r>
            <a:endParaRPr lang="en-US" sz="5200" dirty="0"/>
          </a:p>
        </p:txBody>
      </p:sp>
      <p:sp>
        <p:nvSpPr>
          <p:cNvPr id="7" name="Shape 5"/>
          <p:cNvSpPr/>
          <p:nvPr/>
        </p:nvSpPr>
        <p:spPr>
          <a:xfrm>
            <a:off x="457200" y="1920240"/>
            <a:ext cx="5486400" cy="1691640"/>
          </a:xfrm>
          <a:prstGeom prst="roundRect">
            <a:avLst>
              <a:gd name="adj" fmla="val 4865"/>
            </a:avLst>
          </a:prstGeom>
          <a:solidFill>
            <a:srgbClr val="12233D"/>
          </a:solidFill>
          <a:ln w="9525">
            <a:solidFill>
              <a:srgbClr val="1F3557"/>
            </a:solidFill>
            <a:prstDash val="solid"/>
          </a:ln>
        </p:spPr>
      </p:sp>
      <p:sp>
        <p:nvSpPr>
          <p:cNvPr id="8" name="Shape 6"/>
          <p:cNvSpPr/>
          <p:nvPr/>
        </p:nvSpPr>
        <p:spPr>
          <a:xfrm>
            <a:off x="658368" y="2103120"/>
            <a:ext cx="237744" cy="237744"/>
          </a:xfrm>
          <a:prstGeom prst="ellipse">
            <a:avLst/>
          </a:prstGeom>
          <a:solidFill>
            <a:srgbClr val="1C7293">
              <a:alpha val="20000"/>
            </a:srgbClr>
          </a:solidFill>
          <a:ln w="12700">
            <a:solidFill>
              <a:srgbClr val="1C7293"/>
            </a:solidFill>
            <a:prstDash val="solid"/>
          </a:ln>
        </p:spPr>
      </p:sp>
      <p:sp>
        <p:nvSpPr>
          <p:cNvPr id="9" name="Text 7"/>
          <p:cNvSpPr txBox="1"/>
          <p:nvPr/>
        </p:nvSpPr>
        <p:spPr>
          <a:xfrm>
            <a:off x="658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i</a:t>
            </a:r>
            <a:endParaRPr lang="en-US" sz="1100" dirty="0"/>
          </a:p>
        </p:txBody>
      </p:sp>
      <p:sp>
        <p:nvSpPr>
          <p:cNvPr id="10" name="Text 8"/>
          <p:cNvSpPr txBox="1"/>
          <p:nvPr/>
        </p:nvSpPr>
        <p:spPr>
          <a:xfrm>
            <a:off x="987552" y="2066544"/>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Definition</a:t>
            </a:r>
            <a:endParaRPr lang="en-US" sz="1300" dirty="0"/>
          </a:p>
        </p:txBody>
      </p:sp>
      <p:sp>
        <p:nvSpPr>
          <p:cNvPr id="11" name="Text 9"/>
          <p:cNvSpPr txBox="1"/>
          <p:nvPr/>
        </p:nvSpPr>
        <p:spPr>
          <a:xfrm>
            <a:off x="694944" y="2432304"/>
            <a:ext cx="5029200" cy="10698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The gNB is split at a standardized point: the DU keeps the real-time PHY/MAC/RLC layers near the radio, the CU centralizes RRC/PDCP, and the two talk over the O-RAN Alliance's F1 interface.</a:t>
            </a:r>
            <a:endParaRPr lang="en-US" sz="1060" dirty="0"/>
          </a:p>
        </p:txBody>
      </p:sp>
      <p:sp>
        <p:nvSpPr>
          <p:cNvPr id="12" name="Shape 10"/>
          <p:cNvSpPr/>
          <p:nvPr/>
        </p:nvSpPr>
        <p:spPr>
          <a:xfrm>
            <a:off x="457200" y="3730752"/>
            <a:ext cx="5486400" cy="1481328"/>
          </a:xfrm>
          <a:prstGeom prst="roundRect">
            <a:avLst>
              <a:gd name="adj" fmla="val 5556"/>
            </a:avLst>
          </a:prstGeom>
          <a:solidFill>
            <a:srgbClr val="12233D"/>
          </a:solidFill>
          <a:ln w="9525">
            <a:solidFill>
              <a:srgbClr val="1F3557"/>
            </a:solidFill>
            <a:prstDash val="solid"/>
          </a:ln>
        </p:spPr>
      </p:sp>
      <p:sp>
        <p:nvSpPr>
          <p:cNvPr id="13" name="Shape 11"/>
          <p:cNvSpPr/>
          <p:nvPr/>
        </p:nvSpPr>
        <p:spPr>
          <a:xfrm>
            <a:off x="658368" y="3913632"/>
            <a:ext cx="237744" cy="237744"/>
          </a:xfrm>
          <a:prstGeom prst="ellipse">
            <a:avLst/>
          </a:prstGeom>
          <a:solidFill>
            <a:srgbClr val="1C7293">
              <a:alpha val="20000"/>
            </a:srgbClr>
          </a:solidFill>
          <a:ln w="12700">
            <a:solidFill>
              <a:srgbClr val="1C7293"/>
            </a:solidFill>
            <a:prstDash val="solid"/>
          </a:ln>
        </p:spPr>
      </p:sp>
      <p:sp>
        <p:nvSpPr>
          <p:cNvPr id="14" name="Text 12"/>
          <p:cNvSpPr txBox="1"/>
          <p:nvPr/>
        </p:nvSpPr>
        <p:spPr>
          <a:xfrm>
            <a:off x="658368" y="390814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e</a:t>
            </a:r>
            <a:endParaRPr lang="en-US" sz="1100" dirty="0"/>
          </a:p>
        </p:txBody>
      </p:sp>
      <p:sp>
        <p:nvSpPr>
          <p:cNvPr id="15" name="Text 13"/>
          <p:cNvSpPr txBox="1"/>
          <p:nvPr/>
        </p:nvSpPr>
        <p:spPr>
          <a:xfrm>
            <a:off x="987552" y="3877056"/>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Example in this platform</a:t>
            </a:r>
            <a:endParaRPr lang="en-US" sz="1300" dirty="0"/>
          </a:p>
        </p:txBody>
      </p:sp>
      <p:sp>
        <p:nvSpPr>
          <p:cNvPr id="16" name="Text 14"/>
          <p:cNvSpPr txBox="1"/>
          <p:nvPr/>
        </p:nvSpPr>
        <p:spPr>
          <a:xfrm>
            <a:off x="694944" y="4242816"/>
            <a:ext cx="5029200" cy="859536"/>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srsRAN's and OAI's own CU and DU images run as separate Kubernetes Deployments, connected over F1-C/F1-U through a Service.</a:t>
            </a:r>
            <a:endParaRPr lang="en-US" sz="1040" dirty="0"/>
          </a:p>
        </p:txBody>
      </p:sp>
      <p:sp>
        <p:nvSpPr>
          <p:cNvPr id="17" name="Shape 15"/>
          <p:cNvSpPr/>
          <p:nvPr/>
        </p:nvSpPr>
        <p:spPr>
          <a:xfrm>
            <a:off x="6172200" y="1920240"/>
            <a:ext cx="5559552" cy="3291840"/>
          </a:xfrm>
          <a:prstGeom prst="roundRect">
            <a:avLst>
              <a:gd name="adj" fmla="val 2500"/>
            </a:avLst>
          </a:prstGeom>
          <a:solidFill>
            <a:srgbClr val="12233D"/>
          </a:solidFill>
          <a:ln w="9525">
            <a:solidFill>
              <a:srgbClr val="1F3557"/>
            </a:solidFill>
            <a:prstDash val="solid"/>
          </a:ln>
        </p:spPr>
      </p:sp>
      <p:sp>
        <p:nvSpPr>
          <p:cNvPr id="18" name="Shape 16"/>
          <p:cNvSpPr/>
          <p:nvPr/>
        </p:nvSpPr>
        <p:spPr>
          <a:xfrm>
            <a:off x="6373368" y="2103120"/>
            <a:ext cx="237744" cy="237744"/>
          </a:xfrm>
          <a:prstGeom prst="ellipse">
            <a:avLst/>
          </a:prstGeom>
          <a:solidFill>
            <a:srgbClr val="1C7293">
              <a:alpha val="20000"/>
            </a:srgbClr>
          </a:solidFill>
          <a:ln w="12700">
            <a:solidFill>
              <a:srgbClr val="1C7293"/>
            </a:solidFill>
            <a:prstDash val="solid"/>
          </a:ln>
        </p:spPr>
      </p:sp>
      <p:sp>
        <p:nvSpPr>
          <p:cNvPr id="19" name="Text 17"/>
          <p:cNvSpPr txBox="1"/>
          <p:nvPr/>
        </p:nvSpPr>
        <p:spPr>
          <a:xfrm>
            <a:off x="6373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c</a:t>
            </a:r>
            <a:endParaRPr lang="en-US" sz="1100" dirty="0"/>
          </a:p>
        </p:txBody>
      </p:sp>
      <p:sp>
        <p:nvSpPr>
          <p:cNvPr id="20" name="Text 18"/>
          <p:cNvSpPr txBox="1"/>
          <p:nvPr/>
        </p:nvSpPr>
        <p:spPr>
          <a:xfrm>
            <a:off x="6702552" y="2066544"/>
            <a:ext cx="4828032"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Characteristics</a:t>
            </a:r>
            <a:endParaRPr lang="en-US" sz="1300" dirty="0"/>
          </a:p>
        </p:txBody>
      </p:sp>
      <p:sp>
        <p:nvSpPr>
          <p:cNvPr id="21" name="Text 19"/>
          <p:cNvSpPr txBox="1"/>
          <p:nvPr/>
        </p:nvSpPr>
        <p:spPr>
          <a:xfrm>
            <a:off x="6409944" y="2432304"/>
            <a:ext cx="5102352" cy="26700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Standardized F1 (CU-DU), E1 (CU-CP/CU-UP) and O1 interfaces</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DU stays real-time and cell-bound; CU can be centralized</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Opens the door to a RAN Intelligent Controller (RIC)</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Interfaces are open — components need not share a vendor</a:t>
            </a:r>
            <a:endParaRPr lang="en-US" sz="1060" dirty="0"/>
          </a:p>
        </p:txBody>
      </p:sp>
      <p:sp>
        <p:nvSpPr>
          <p:cNvPr id="22" name="Text 20"/>
          <p:cNvSpPr txBox="1"/>
          <p:nvPr/>
        </p:nvSpPr>
        <p:spPr>
          <a:xfrm>
            <a:off x="457200" y="5358384"/>
            <a:ext cx="5486400" cy="237744"/>
          </a:xfrm>
          <a:prstGeom prst="rect">
            <a:avLst/>
          </a:prstGeom>
          <a:noFill/>
          <a:ln/>
        </p:spPr>
        <p:txBody>
          <a:bodyPr wrap="square" lIns="0" tIns="0" rIns="0" bIns="0" rtlCol="0" anchor="ctr"/>
          <a:lstStyle/>
          <a:p>
            <a:pPr indent="0" marL="0">
              <a:buNone/>
            </a:pPr>
            <a:r>
              <a:rPr lang="en-US" sz="950" b="1" spc="120" kern="0" dirty="0">
                <a:solidFill>
                  <a:srgbClr val="7690AC"/>
                </a:solidFill>
                <a:latin typeface="Calibri" pitchFamily="34" charset="0"/>
                <a:ea typeface="Calibri" pitchFamily="34" charset="-122"/>
                <a:cs typeface="Calibri" pitchFamily="34" charset="-120"/>
              </a:rPr>
              <a:t>NETWORK ARCHITECTURE</a:t>
            </a:r>
            <a:endParaRPr lang="en-US" sz="950" dirty="0"/>
          </a:p>
        </p:txBody>
      </p:sp>
      <p:sp>
        <p:nvSpPr>
          <p:cNvPr id="23" name="Shape 21"/>
          <p:cNvSpPr/>
          <p:nvPr/>
        </p:nvSpPr>
        <p:spPr>
          <a:xfrm>
            <a:off x="457200" y="5632704"/>
            <a:ext cx="2475738" cy="841248"/>
          </a:xfrm>
          <a:prstGeom prst="roundRect">
            <a:avLst>
              <a:gd name="adj" fmla="val 8696"/>
            </a:avLst>
          </a:prstGeom>
          <a:solidFill>
            <a:srgbClr val="0E1C31"/>
          </a:solidFill>
          <a:ln w="15875">
            <a:solidFill>
              <a:srgbClr val="1C7293"/>
            </a:solidFill>
            <a:prstDash val="solid"/>
          </a:ln>
        </p:spPr>
      </p:sp>
      <p:sp>
        <p:nvSpPr>
          <p:cNvPr id="24" name="Text 22"/>
          <p:cNvSpPr txBox="1"/>
          <p:nvPr/>
        </p:nvSpPr>
        <p:spPr>
          <a:xfrm>
            <a:off x="530352"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RU</a:t>
            </a:r>
            <a:endParaRPr lang="en-US" sz="1100" dirty="0"/>
          </a:p>
        </p:txBody>
      </p:sp>
      <p:sp>
        <p:nvSpPr>
          <p:cNvPr id="25" name="Text 23"/>
          <p:cNvSpPr txBox="1"/>
          <p:nvPr/>
        </p:nvSpPr>
        <p:spPr>
          <a:xfrm>
            <a:off x="530352"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Radio (simulated)</a:t>
            </a:r>
            <a:endParaRPr lang="en-US" sz="850" dirty="0"/>
          </a:p>
        </p:txBody>
      </p:sp>
      <p:sp>
        <p:nvSpPr>
          <p:cNvPr id="26" name="Shape 24"/>
          <p:cNvSpPr/>
          <p:nvPr/>
        </p:nvSpPr>
        <p:spPr>
          <a:xfrm>
            <a:off x="3390138" y="5632704"/>
            <a:ext cx="2475738" cy="841248"/>
          </a:xfrm>
          <a:prstGeom prst="roundRect">
            <a:avLst>
              <a:gd name="adj" fmla="val 8696"/>
            </a:avLst>
          </a:prstGeom>
          <a:solidFill>
            <a:srgbClr val="0E1C31"/>
          </a:solidFill>
          <a:ln w="15875">
            <a:solidFill>
              <a:srgbClr val="1C7293"/>
            </a:solidFill>
            <a:prstDash val="solid"/>
          </a:ln>
        </p:spPr>
      </p:sp>
      <p:sp>
        <p:nvSpPr>
          <p:cNvPr id="27" name="Text 25"/>
          <p:cNvSpPr txBox="1"/>
          <p:nvPr/>
        </p:nvSpPr>
        <p:spPr>
          <a:xfrm>
            <a:off x="3463290"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DU</a:t>
            </a:r>
            <a:endParaRPr lang="en-US" sz="1100" dirty="0"/>
          </a:p>
        </p:txBody>
      </p:sp>
      <p:sp>
        <p:nvSpPr>
          <p:cNvPr id="28" name="Text 26"/>
          <p:cNvSpPr txBox="1"/>
          <p:nvPr/>
        </p:nvSpPr>
        <p:spPr>
          <a:xfrm>
            <a:off x="3463290"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PHY / MAC / RLC</a:t>
            </a:r>
            <a:endParaRPr lang="en-US" sz="850" dirty="0"/>
          </a:p>
        </p:txBody>
      </p:sp>
      <p:sp>
        <p:nvSpPr>
          <p:cNvPr id="29" name="Shape 27"/>
          <p:cNvSpPr/>
          <p:nvPr/>
        </p:nvSpPr>
        <p:spPr>
          <a:xfrm>
            <a:off x="6323076" y="5632704"/>
            <a:ext cx="2475738" cy="841248"/>
          </a:xfrm>
          <a:prstGeom prst="roundRect">
            <a:avLst>
              <a:gd name="adj" fmla="val 8696"/>
            </a:avLst>
          </a:prstGeom>
          <a:solidFill>
            <a:srgbClr val="0E1C31"/>
          </a:solidFill>
          <a:ln w="15875">
            <a:solidFill>
              <a:srgbClr val="1C7293"/>
            </a:solidFill>
            <a:prstDash val="solid"/>
          </a:ln>
        </p:spPr>
      </p:sp>
      <p:sp>
        <p:nvSpPr>
          <p:cNvPr id="30" name="Text 28"/>
          <p:cNvSpPr txBox="1"/>
          <p:nvPr/>
        </p:nvSpPr>
        <p:spPr>
          <a:xfrm>
            <a:off x="6396228"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CU</a:t>
            </a:r>
            <a:endParaRPr lang="en-US" sz="1100" dirty="0"/>
          </a:p>
        </p:txBody>
      </p:sp>
      <p:sp>
        <p:nvSpPr>
          <p:cNvPr id="31" name="Text 29"/>
          <p:cNvSpPr txBox="1"/>
          <p:nvPr/>
        </p:nvSpPr>
        <p:spPr>
          <a:xfrm>
            <a:off x="6396228"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RRC / PDCP</a:t>
            </a:r>
            <a:endParaRPr lang="en-US" sz="850" dirty="0"/>
          </a:p>
        </p:txBody>
      </p:sp>
      <p:sp>
        <p:nvSpPr>
          <p:cNvPr id="32" name="Shape 30"/>
          <p:cNvSpPr/>
          <p:nvPr/>
        </p:nvSpPr>
        <p:spPr>
          <a:xfrm>
            <a:off x="9256014" y="5632704"/>
            <a:ext cx="2475738" cy="841248"/>
          </a:xfrm>
          <a:prstGeom prst="roundRect">
            <a:avLst>
              <a:gd name="adj" fmla="val 8696"/>
            </a:avLst>
          </a:prstGeom>
          <a:solidFill>
            <a:srgbClr val="0E1C31"/>
          </a:solidFill>
          <a:ln w="15875">
            <a:solidFill>
              <a:srgbClr val="1C7293"/>
            </a:solidFill>
            <a:prstDash val="solid"/>
          </a:ln>
        </p:spPr>
      </p:sp>
      <p:sp>
        <p:nvSpPr>
          <p:cNvPr id="33" name="Text 31"/>
          <p:cNvSpPr txBox="1"/>
          <p:nvPr/>
        </p:nvSpPr>
        <p:spPr>
          <a:xfrm>
            <a:off x="9329166" y="5705856"/>
            <a:ext cx="2329434" cy="6949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5G Core</a:t>
            </a:r>
            <a:endParaRPr lang="en-US" sz="1100" dirty="0"/>
          </a:p>
        </p:txBody>
      </p:sp>
      <p:sp>
        <p:nvSpPr>
          <p:cNvPr id="34" name="Shape 32"/>
          <p:cNvSpPr/>
          <p:nvPr/>
        </p:nvSpPr>
        <p:spPr>
          <a:xfrm>
            <a:off x="2932938" y="6053328"/>
            <a:ext cx="457200" cy="0"/>
          </a:xfrm>
          <a:prstGeom prst="line">
            <a:avLst/>
          </a:prstGeom>
          <a:noFill/>
          <a:ln w="19050">
            <a:solidFill>
              <a:srgbClr val="1C7293"/>
            </a:solidFill>
            <a:prstDash val="solid"/>
            <a:tailEnd type="triangle"/>
          </a:ln>
        </p:spPr>
      </p:sp>
      <p:sp>
        <p:nvSpPr>
          <p:cNvPr id="35" name="Text 33"/>
          <p:cNvSpPr txBox="1"/>
          <p:nvPr/>
        </p:nvSpPr>
        <p:spPr>
          <a:xfrm>
            <a:off x="2932938" y="5705856"/>
            <a:ext cx="457200" cy="256032"/>
          </a:xfrm>
          <a:prstGeom prst="rect">
            <a:avLst/>
          </a:prstGeom>
          <a:noFill/>
          <a:ln/>
        </p:spPr>
        <p:txBody>
          <a:bodyPr wrap="none" lIns="0" tIns="0" rIns="0" bIns="0" rtlCol="0" anchor="b"/>
          <a:lstStyle/>
          <a:p>
            <a:pPr algn="ctr" indent="0" marL="0">
              <a:buNone/>
            </a:pPr>
            <a:r>
              <a:rPr lang="en-US" sz="750" b="1" dirty="0">
                <a:solidFill>
                  <a:srgbClr val="1C7293"/>
                </a:solidFill>
                <a:latin typeface="Calibri" pitchFamily="34" charset="0"/>
                <a:ea typeface="Calibri" pitchFamily="34" charset="-122"/>
                <a:cs typeface="Calibri" pitchFamily="34" charset="-120"/>
              </a:rPr>
              <a:t>RF</a:t>
            </a:r>
            <a:endParaRPr lang="en-US" sz="750" dirty="0"/>
          </a:p>
        </p:txBody>
      </p:sp>
      <p:sp>
        <p:nvSpPr>
          <p:cNvPr id="36" name="Shape 34"/>
          <p:cNvSpPr/>
          <p:nvPr/>
        </p:nvSpPr>
        <p:spPr>
          <a:xfrm>
            <a:off x="5865876" y="6053328"/>
            <a:ext cx="457200" cy="0"/>
          </a:xfrm>
          <a:prstGeom prst="line">
            <a:avLst/>
          </a:prstGeom>
          <a:noFill/>
          <a:ln w="19050">
            <a:solidFill>
              <a:srgbClr val="1C7293"/>
            </a:solidFill>
            <a:prstDash val="solid"/>
            <a:tailEnd type="triangle"/>
          </a:ln>
        </p:spPr>
      </p:sp>
      <p:sp>
        <p:nvSpPr>
          <p:cNvPr id="37" name="Text 35"/>
          <p:cNvSpPr txBox="1"/>
          <p:nvPr/>
        </p:nvSpPr>
        <p:spPr>
          <a:xfrm>
            <a:off x="5865876" y="5705856"/>
            <a:ext cx="457200" cy="256032"/>
          </a:xfrm>
          <a:prstGeom prst="rect">
            <a:avLst/>
          </a:prstGeom>
          <a:noFill/>
          <a:ln/>
        </p:spPr>
        <p:txBody>
          <a:bodyPr wrap="none" lIns="0" tIns="0" rIns="0" bIns="0" rtlCol="0" anchor="b"/>
          <a:lstStyle/>
          <a:p>
            <a:pPr algn="ctr" indent="0" marL="0">
              <a:buNone/>
            </a:pPr>
            <a:r>
              <a:rPr lang="en-US" sz="750" b="1" dirty="0">
                <a:solidFill>
                  <a:srgbClr val="1C7293"/>
                </a:solidFill>
                <a:latin typeface="Calibri" pitchFamily="34" charset="0"/>
                <a:ea typeface="Calibri" pitchFamily="34" charset="-122"/>
                <a:cs typeface="Calibri" pitchFamily="34" charset="-120"/>
              </a:rPr>
              <a:t>F1</a:t>
            </a:r>
            <a:endParaRPr lang="en-US" sz="750" dirty="0"/>
          </a:p>
        </p:txBody>
      </p:sp>
      <p:sp>
        <p:nvSpPr>
          <p:cNvPr id="38" name="Shape 36"/>
          <p:cNvSpPr/>
          <p:nvPr/>
        </p:nvSpPr>
        <p:spPr>
          <a:xfrm>
            <a:off x="8798814" y="6053328"/>
            <a:ext cx="457200" cy="0"/>
          </a:xfrm>
          <a:prstGeom prst="line">
            <a:avLst/>
          </a:prstGeom>
          <a:noFill/>
          <a:ln w="19050">
            <a:solidFill>
              <a:srgbClr val="1C7293"/>
            </a:solidFill>
            <a:prstDash val="solid"/>
            <a:tailEnd type="triangle"/>
          </a:ln>
        </p:spPr>
      </p:sp>
      <p:sp>
        <p:nvSpPr>
          <p:cNvPr id="39" name="Text 37"/>
          <p:cNvSpPr txBox="1"/>
          <p:nvPr/>
        </p:nvSpPr>
        <p:spPr>
          <a:xfrm>
            <a:off x="8798814" y="5705856"/>
            <a:ext cx="457200" cy="256032"/>
          </a:xfrm>
          <a:prstGeom prst="rect">
            <a:avLst/>
          </a:prstGeom>
          <a:noFill/>
          <a:ln/>
        </p:spPr>
        <p:txBody>
          <a:bodyPr wrap="none" lIns="0" tIns="0" rIns="0" bIns="0" rtlCol="0" anchor="b"/>
          <a:lstStyle/>
          <a:p>
            <a:pPr algn="ctr" indent="0" marL="0">
              <a:buNone/>
            </a:pPr>
            <a:r>
              <a:rPr lang="en-US" sz="750" b="1" dirty="0">
                <a:solidFill>
                  <a:srgbClr val="1C7293"/>
                </a:solidFill>
                <a:latin typeface="Calibri" pitchFamily="34" charset="0"/>
                <a:ea typeface="Calibri" pitchFamily="34" charset="-122"/>
                <a:cs typeface="Calibri" pitchFamily="34" charset="-120"/>
              </a:rPr>
              <a:t>N2 / N3</a:t>
            </a:r>
            <a:endParaRPr lang="en-US" sz="750" dirty="0"/>
          </a:p>
        </p:txBody>
      </p:sp>
      <p:sp>
        <p:nvSpPr>
          <p:cNvPr id="40" name="Text 3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41" name="Text 3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05 / 24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960120" cy="292608"/>
          </a:xfrm>
          <a:prstGeom prst="roundRect">
            <a:avLst>
              <a:gd name="adj" fmla="val 18750"/>
            </a:avLst>
          </a:prstGeom>
          <a:solidFill>
            <a:srgbClr val="1C7293">
              <a:alpha val="14000"/>
            </a:srgbClr>
          </a:solidFill>
          <a:ln w="9525">
            <a:solidFill>
              <a:srgbClr val="1C7293"/>
            </a:solidFill>
            <a:prstDash val="solid"/>
          </a:ln>
        </p:spPr>
      </p:sp>
      <p:sp>
        <p:nvSpPr>
          <p:cNvPr id="3" name="Text 1"/>
          <p:cNvSpPr txBox="1"/>
          <p:nvPr/>
        </p:nvSpPr>
        <p:spPr>
          <a:xfrm>
            <a:off x="457200" y="384048"/>
            <a:ext cx="960120" cy="292608"/>
          </a:xfrm>
          <a:prstGeom prst="rect">
            <a:avLst/>
          </a:prstGeom>
          <a:noFill/>
          <a:ln/>
        </p:spPr>
        <p:txBody>
          <a:bodyPr wrap="none" lIns="0" tIns="0" rIns="0" bIns="0" rtlCol="0" anchor="ctr"/>
          <a:lstStyle/>
          <a:p>
            <a:pPr algn="ctr" indent="0" marL="0">
              <a:buNone/>
            </a:pPr>
            <a:r>
              <a:rPr lang="en-US" sz="1050" b="1" spc="110" kern="0" dirty="0">
                <a:solidFill>
                  <a:srgbClr val="1C7293"/>
                </a:solidFill>
                <a:latin typeface="Calibri" pitchFamily="34" charset="0"/>
                <a:ea typeface="Calibri" pitchFamily="34" charset="-122"/>
                <a:cs typeface="Calibri" pitchFamily="34" charset="-120"/>
              </a:rPr>
              <a:t>O-RAN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Disaggregated 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1C7293"/>
                </a:solidFill>
                <a:latin typeface="Calibri" pitchFamily="34" charset="0"/>
                <a:ea typeface="Calibri" pitchFamily="34" charset="-122"/>
                <a:cs typeface="Calibri" pitchFamily="34" charset="-120"/>
              </a:rPr>
              <a:t>Advantages, trade-offs, and where it is used in industry</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1C7293">
                    <a:alpha val="20000"/>
                  </a:srgbClr>
                </a:solidFill>
                <a:latin typeface="Cambria" pitchFamily="34" charset="0"/>
                <a:ea typeface="Cambria" pitchFamily="34" charset="-122"/>
                <a:cs typeface="Cambria" pitchFamily="34" charset="-120"/>
              </a:rPr>
              <a:t>02</a:t>
            </a:r>
            <a:endParaRPr lang="en-US" sz="5200" dirty="0"/>
          </a:p>
        </p:txBody>
      </p:sp>
      <p:sp>
        <p:nvSpPr>
          <p:cNvPr id="7" name="Shape 5"/>
          <p:cNvSpPr/>
          <p:nvPr/>
        </p:nvSpPr>
        <p:spPr>
          <a:xfrm>
            <a:off x="457200" y="1828800"/>
            <a:ext cx="5532120" cy="2788920"/>
          </a:xfrm>
          <a:prstGeom prst="roundRect">
            <a:avLst>
              <a:gd name="adj" fmla="val 2951"/>
            </a:avLst>
          </a:prstGeom>
          <a:solidFill>
            <a:srgbClr val="12233D"/>
          </a:solidFill>
          <a:ln w="9525">
            <a:solidFill>
              <a:srgbClr val="1F3557"/>
            </a:solidFill>
            <a:prstDash val="solid"/>
          </a:ln>
        </p:spPr>
      </p:sp>
      <p:sp>
        <p:nvSpPr>
          <p:cNvPr id="8" name="Shape 6"/>
          <p:cNvSpPr/>
          <p:nvPr/>
        </p:nvSpPr>
        <p:spPr>
          <a:xfrm>
            <a:off x="658368" y="2011680"/>
            <a:ext cx="237744" cy="237744"/>
          </a:xfrm>
          <a:prstGeom prst="ellipse">
            <a:avLst/>
          </a:prstGeom>
          <a:solidFill>
            <a:srgbClr val="34D399">
              <a:alpha val="20000"/>
            </a:srgbClr>
          </a:solidFill>
          <a:ln w="12700">
            <a:solidFill>
              <a:srgbClr val="34D399"/>
            </a:solidFill>
            <a:prstDash val="solid"/>
          </a:ln>
        </p:spPr>
      </p:sp>
      <p:sp>
        <p:nvSpPr>
          <p:cNvPr id="9" name="Text 7"/>
          <p:cNvSpPr txBox="1"/>
          <p:nvPr/>
        </p:nvSpPr>
        <p:spPr>
          <a:xfrm>
            <a:off x="658368" y="2006194"/>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87552"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Advantages</a:t>
            </a:r>
            <a:endParaRPr lang="en-US" sz="1300" dirty="0"/>
          </a:p>
        </p:txBody>
      </p:sp>
      <p:sp>
        <p:nvSpPr>
          <p:cNvPr id="11" name="Text 9"/>
          <p:cNvSpPr txBox="1"/>
          <p:nvPr/>
        </p:nvSpPr>
        <p:spPr>
          <a:xfrm>
            <a:off x="694944" y="2340864"/>
            <a:ext cx="5074920" cy="2167128"/>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No single-vendor lock-in — CU and DU can come from different suppliers</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CU and DU scale independently of each other</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Centralizing the CU enables coordination across many DUs</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Drives cost down through vendor competition</a:t>
            </a:r>
            <a:endParaRPr lang="en-US" sz="1060" dirty="0"/>
          </a:p>
        </p:txBody>
      </p:sp>
      <p:sp>
        <p:nvSpPr>
          <p:cNvPr id="12" name="Shape 10"/>
          <p:cNvSpPr/>
          <p:nvPr/>
        </p:nvSpPr>
        <p:spPr>
          <a:xfrm>
            <a:off x="6199632" y="1828800"/>
            <a:ext cx="5532120" cy="2788920"/>
          </a:xfrm>
          <a:prstGeom prst="roundRect">
            <a:avLst>
              <a:gd name="adj" fmla="val 2951"/>
            </a:avLst>
          </a:prstGeom>
          <a:solidFill>
            <a:srgbClr val="12233D"/>
          </a:solidFill>
          <a:ln w="9525">
            <a:solidFill>
              <a:srgbClr val="1F3557"/>
            </a:solidFill>
            <a:prstDash val="solid"/>
          </a:ln>
        </p:spPr>
      </p:sp>
      <p:sp>
        <p:nvSpPr>
          <p:cNvPr id="13" name="Shape 11"/>
          <p:cNvSpPr/>
          <p:nvPr/>
        </p:nvSpPr>
        <p:spPr>
          <a:xfrm>
            <a:off x="6400800" y="2011680"/>
            <a:ext cx="237744" cy="237744"/>
          </a:xfrm>
          <a:prstGeom prst="ellipse">
            <a:avLst/>
          </a:prstGeom>
          <a:solidFill>
            <a:srgbClr val="F2A65A">
              <a:alpha val="20000"/>
            </a:srgbClr>
          </a:solidFill>
          <a:ln w="12700">
            <a:solidFill>
              <a:srgbClr val="F2A65A"/>
            </a:solidFill>
            <a:prstDash val="solid"/>
          </a:ln>
        </p:spPr>
      </p:sp>
      <p:sp>
        <p:nvSpPr>
          <p:cNvPr id="14" name="Text 12"/>
          <p:cNvSpPr txBox="1"/>
          <p:nvPr/>
        </p:nvSpPr>
        <p:spPr>
          <a:xfrm>
            <a:off x="6400800" y="2006194"/>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6729984"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Trade-offs</a:t>
            </a:r>
            <a:endParaRPr lang="en-US" sz="1300" dirty="0"/>
          </a:p>
        </p:txBody>
      </p:sp>
      <p:sp>
        <p:nvSpPr>
          <p:cNvPr id="16" name="Text 14"/>
          <p:cNvSpPr txBox="1"/>
          <p:nvPr/>
        </p:nvSpPr>
        <p:spPr>
          <a:xfrm>
            <a:off x="6437376" y="2322576"/>
            <a:ext cx="5074920" cy="1371600"/>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Multi-vendor interoperability testing is a real, ongoing burden</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F1 adds a network hop the monolithic design didn't have</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The wider multi-vendor ecosystem is still maturing in practice</a:t>
            </a:r>
            <a:endParaRPr lang="en-US" sz="1060" dirty="0"/>
          </a:p>
        </p:txBody>
      </p:sp>
      <p:sp>
        <p:nvSpPr>
          <p:cNvPr id="17" name="Shape 15"/>
          <p:cNvSpPr/>
          <p:nvPr/>
        </p:nvSpPr>
        <p:spPr>
          <a:xfrm>
            <a:off x="6437376" y="3712464"/>
            <a:ext cx="5074920" cy="0"/>
          </a:xfrm>
          <a:prstGeom prst="line">
            <a:avLst/>
          </a:prstGeom>
          <a:noFill/>
          <a:ln w="9525">
            <a:solidFill>
              <a:srgbClr val="1F3557"/>
            </a:solidFill>
            <a:prstDash val="solid"/>
          </a:ln>
        </p:spPr>
      </p:sp>
      <p:sp>
        <p:nvSpPr>
          <p:cNvPr id="18" name="Text 16"/>
          <p:cNvSpPr txBox="1"/>
          <p:nvPr/>
        </p:nvSpPr>
        <p:spPr>
          <a:xfrm>
            <a:off x="6437376" y="3794760"/>
            <a:ext cx="5074920" cy="182880"/>
          </a:xfrm>
          <a:prstGeom prst="rect">
            <a:avLst/>
          </a:prstGeom>
          <a:noFill/>
          <a:ln/>
        </p:spPr>
        <p:txBody>
          <a:bodyPr wrap="square" lIns="0" tIns="0" rIns="0" bIns="0" rtlCol="0" anchor="ctr"/>
          <a:lstStyle/>
          <a:p>
            <a:pPr indent="0" marL="0">
              <a:buNone/>
            </a:pPr>
            <a:r>
              <a:rPr lang="en-US" sz="850" b="1" spc="100" kern="0" dirty="0">
                <a:solidFill>
                  <a:srgbClr val="F2A65A"/>
                </a:solidFill>
                <a:latin typeface="Calibri" pitchFamily="34" charset="0"/>
                <a:ea typeface="Calibri" pitchFamily="34" charset="-122"/>
                <a:cs typeface="Calibri" pitchFamily="34" charset="-120"/>
              </a:rPr>
              <a:t>HOW IT'S ADDRESSED</a:t>
            </a:r>
            <a:endParaRPr lang="en-US" sz="850" dirty="0"/>
          </a:p>
        </p:txBody>
      </p:sp>
      <p:sp>
        <p:nvSpPr>
          <p:cNvPr id="19" name="Text 17"/>
          <p:cNvSpPr txBox="1"/>
          <p:nvPr/>
        </p:nvSpPr>
        <p:spPr>
          <a:xfrm>
            <a:off x="6437376" y="3986784"/>
            <a:ext cx="5074920" cy="539496"/>
          </a:xfrm>
          <a:prstGeom prst="rect">
            <a:avLst/>
          </a:prstGeom>
          <a:noFill/>
          <a:ln/>
        </p:spPr>
        <p:txBody>
          <a:bodyPr wrap="square" lIns="0" tIns="0" rIns="0" bIns="0" rtlCol="0" anchor="t"/>
          <a:lstStyle/>
          <a:p>
            <a:pPr indent="0" marL="0">
              <a:lnSpc>
                <a:spcPct val="110000"/>
              </a:lnSpc>
              <a:buNone/>
            </a:pPr>
            <a:r>
              <a:rPr lang="en-US" sz="980" dirty="0">
                <a:solidFill>
                  <a:srgbClr val="AFC5DE"/>
                </a:solidFill>
                <a:latin typeface="Calibri" pitchFamily="34" charset="0"/>
                <a:ea typeface="Calibri" pitchFamily="34" charset="-122"/>
                <a:cs typeface="Calibri" pitchFamily="34" charset="-120"/>
              </a:rPr>
              <a:t>O-RAN Alliance conformance and interoperability test specs exist to close this gap; most operators start single-vendor and diversify once conformance is proven.</a:t>
            </a:r>
            <a:endParaRPr lang="en-US" sz="980" dirty="0"/>
          </a:p>
        </p:txBody>
      </p:sp>
      <p:sp>
        <p:nvSpPr>
          <p:cNvPr id="20" name="Shape 18"/>
          <p:cNvSpPr/>
          <p:nvPr/>
        </p:nvSpPr>
        <p:spPr>
          <a:xfrm>
            <a:off x="457200" y="4800600"/>
            <a:ext cx="11274552" cy="1600200"/>
          </a:xfrm>
          <a:prstGeom prst="roundRect">
            <a:avLst>
              <a:gd name="adj" fmla="val 5143"/>
            </a:avLst>
          </a:prstGeom>
          <a:solidFill>
            <a:srgbClr val="12233D"/>
          </a:solidFill>
          <a:ln w="9525">
            <a:solidFill>
              <a:srgbClr val="1F3557"/>
            </a:solidFill>
            <a:prstDash val="solid"/>
          </a:ln>
        </p:spPr>
      </p:sp>
      <p:sp>
        <p:nvSpPr>
          <p:cNvPr id="21" name="Shape 19"/>
          <p:cNvSpPr/>
          <p:nvPr/>
        </p:nvSpPr>
        <p:spPr>
          <a:xfrm>
            <a:off x="658368" y="4965192"/>
            <a:ext cx="237744" cy="237744"/>
          </a:xfrm>
          <a:prstGeom prst="ellipse">
            <a:avLst/>
          </a:prstGeom>
          <a:solidFill>
            <a:srgbClr val="1C7293">
              <a:alpha val="20000"/>
            </a:srgbClr>
          </a:solidFill>
          <a:ln w="12700">
            <a:solidFill>
              <a:srgbClr val="1C7293"/>
            </a:solidFill>
            <a:prstDash val="solid"/>
          </a:ln>
        </p:spPr>
      </p:sp>
      <p:sp>
        <p:nvSpPr>
          <p:cNvPr id="22" name="Text 20"/>
          <p:cNvSpPr txBox="1"/>
          <p:nvPr/>
        </p:nvSpPr>
        <p:spPr>
          <a:xfrm>
            <a:off x="658368" y="495970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n</a:t>
            </a:r>
            <a:endParaRPr lang="en-US" sz="1100" dirty="0"/>
          </a:p>
        </p:txBody>
      </p:sp>
      <p:sp>
        <p:nvSpPr>
          <p:cNvPr id="23" name="Text 21"/>
          <p:cNvSpPr txBox="1"/>
          <p:nvPr/>
        </p:nvSpPr>
        <p:spPr>
          <a:xfrm>
            <a:off x="987552" y="4928616"/>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Where it's used in industry</a:t>
            </a:r>
            <a:endParaRPr lang="en-US" sz="1250" dirty="0"/>
          </a:p>
        </p:txBody>
      </p:sp>
      <p:sp>
        <p:nvSpPr>
          <p:cNvPr id="24" name="Text 22"/>
          <p:cNvSpPr txBox="1"/>
          <p:nvPr/>
        </p:nvSpPr>
        <p:spPr>
          <a:xfrm>
            <a:off x="694944" y="5257800"/>
            <a:ext cx="10789920" cy="1033272"/>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Rakuten Mobile — first large-scale commercial Open RAN network</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Dish Network's greenfield 5G build</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Vodafone, AT&amp;T and Verizon OpenRAN trials and deployments</a:t>
            </a:r>
            <a:endParaRPr lang="en-US" sz="1040" dirty="0"/>
          </a:p>
        </p:txBody>
      </p:sp>
      <p:sp>
        <p:nvSpPr>
          <p:cNvPr id="25" name="Text 23"/>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6" name="Text 24"/>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06 / 24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435608"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435608"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CLOUD-RAN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Cloud-RAN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2DD4BF"/>
                </a:solidFill>
                <a:latin typeface="Calibri" pitchFamily="34" charset="0"/>
                <a:ea typeface="Calibri" pitchFamily="34" charset="-122"/>
                <a:cs typeface="Calibri" pitchFamily="34" charset="-120"/>
              </a:rPr>
              <a:t>Virtualizing baseband into a shared, centralized compute pool.</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2DD4BF">
                    <a:alpha val="20000"/>
                  </a:srgbClr>
                </a:solidFill>
                <a:latin typeface="Cambria" pitchFamily="34" charset="0"/>
                <a:ea typeface="Cambria" pitchFamily="34" charset="-122"/>
                <a:cs typeface="Cambria" pitchFamily="34" charset="-120"/>
              </a:rPr>
              <a:t>03</a:t>
            </a:r>
            <a:endParaRPr lang="en-US" sz="5200" dirty="0"/>
          </a:p>
        </p:txBody>
      </p:sp>
      <p:sp>
        <p:nvSpPr>
          <p:cNvPr id="7" name="Shape 5"/>
          <p:cNvSpPr/>
          <p:nvPr/>
        </p:nvSpPr>
        <p:spPr>
          <a:xfrm>
            <a:off x="457200" y="1920240"/>
            <a:ext cx="5486400" cy="1691640"/>
          </a:xfrm>
          <a:prstGeom prst="roundRect">
            <a:avLst>
              <a:gd name="adj" fmla="val 4865"/>
            </a:avLst>
          </a:prstGeom>
          <a:solidFill>
            <a:srgbClr val="12233D"/>
          </a:solidFill>
          <a:ln w="9525">
            <a:solidFill>
              <a:srgbClr val="1F3557"/>
            </a:solidFill>
            <a:prstDash val="solid"/>
          </a:ln>
        </p:spPr>
      </p:sp>
      <p:sp>
        <p:nvSpPr>
          <p:cNvPr id="8" name="Shape 6"/>
          <p:cNvSpPr/>
          <p:nvPr/>
        </p:nvSpPr>
        <p:spPr>
          <a:xfrm>
            <a:off x="658368" y="2103120"/>
            <a:ext cx="237744" cy="237744"/>
          </a:xfrm>
          <a:prstGeom prst="ellipse">
            <a:avLst/>
          </a:prstGeom>
          <a:solidFill>
            <a:srgbClr val="1C7293">
              <a:alpha val="20000"/>
            </a:srgbClr>
          </a:solidFill>
          <a:ln w="12700">
            <a:solidFill>
              <a:srgbClr val="1C7293"/>
            </a:solidFill>
            <a:prstDash val="solid"/>
          </a:ln>
        </p:spPr>
      </p:sp>
      <p:sp>
        <p:nvSpPr>
          <p:cNvPr id="9" name="Text 7"/>
          <p:cNvSpPr txBox="1"/>
          <p:nvPr/>
        </p:nvSpPr>
        <p:spPr>
          <a:xfrm>
            <a:off x="658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i</a:t>
            </a:r>
            <a:endParaRPr lang="en-US" sz="1100" dirty="0"/>
          </a:p>
        </p:txBody>
      </p:sp>
      <p:sp>
        <p:nvSpPr>
          <p:cNvPr id="10" name="Text 8"/>
          <p:cNvSpPr txBox="1"/>
          <p:nvPr/>
        </p:nvSpPr>
        <p:spPr>
          <a:xfrm>
            <a:off x="987552" y="2066544"/>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Definition</a:t>
            </a:r>
            <a:endParaRPr lang="en-US" sz="1300" dirty="0"/>
          </a:p>
        </p:txBody>
      </p:sp>
      <p:sp>
        <p:nvSpPr>
          <p:cNvPr id="11" name="Text 9"/>
          <p:cNvSpPr txBox="1"/>
          <p:nvPr/>
        </p:nvSpPr>
        <p:spPr>
          <a:xfrm>
            <a:off x="694944" y="2432304"/>
            <a:ext cx="5029200" cy="10698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Baseband processing runs as software in a centralized pool on general-purpose (COTS) hardware, serving many remote radio sites at once, instead of dedicated appliances at every site.</a:t>
            </a:r>
            <a:endParaRPr lang="en-US" sz="1060" dirty="0"/>
          </a:p>
        </p:txBody>
      </p:sp>
      <p:sp>
        <p:nvSpPr>
          <p:cNvPr id="12" name="Shape 10"/>
          <p:cNvSpPr/>
          <p:nvPr/>
        </p:nvSpPr>
        <p:spPr>
          <a:xfrm>
            <a:off x="457200" y="3730752"/>
            <a:ext cx="5486400" cy="1481328"/>
          </a:xfrm>
          <a:prstGeom prst="roundRect">
            <a:avLst>
              <a:gd name="adj" fmla="val 5556"/>
            </a:avLst>
          </a:prstGeom>
          <a:solidFill>
            <a:srgbClr val="12233D"/>
          </a:solidFill>
          <a:ln w="9525">
            <a:solidFill>
              <a:srgbClr val="1F3557"/>
            </a:solidFill>
            <a:prstDash val="solid"/>
          </a:ln>
        </p:spPr>
      </p:sp>
      <p:sp>
        <p:nvSpPr>
          <p:cNvPr id="13" name="Shape 11"/>
          <p:cNvSpPr/>
          <p:nvPr/>
        </p:nvSpPr>
        <p:spPr>
          <a:xfrm>
            <a:off x="658368" y="3913632"/>
            <a:ext cx="237744" cy="237744"/>
          </a:xfrm>
          <a:prstGeom prst="ellipse">
            <a:avLst/>
          </a:prstGeom>
          <a:solidFill>
            <a:srgbClr val="2DD4BF">
              <a:alpha val="20000"/>
            </a:srgbClr>
          </a:solidFill>
          <a:ln w="12700">
            <a:solidFill>
              <a:srgbClr val="2DD4BF"/>
            </a:solidFill>
            <a:prstDash val="solid"/>
          </a:ln>
        </p:spPr>
      </p:sp>
      <p:sp>
        <p:nvSpPr>
          <p:cNvPr id="14" name="Text 12"/>
          <p:cNvSpPr txBox="1"/>
          <p:nvPr/>
        </p:nvSpPr>
        <p:spPr>
          <a:xfrm>
            <a:off x="658368" y="3908146"/>
            <a:ext cx="237744" cy="237744"/>
          </a:xfrm>
          <a:prstGeom prst="rect">
            <a:avLst/>
          </a:prstGeom>
          <a:noFill/>
          <a:ln/>
        </p:spPr>
        <p:txBody>
          <a:bodyPr wrap="square" lIns="0" tIns="0" rIns="0" bIns="0" rtlCol="0" anchor="ctr"/>
          <a:lstStyle/>
          <a:p>
            <a:pPr algn="ctr" indent="0" marL="0">
              <a:buNone/>
            </a:pPr>
            <a:r>
              <a:rPr lang="en-US" sz="1100" b="1" dirty="0">
                <a:solidFill>
                  <a:srgbClr val="2DD4BF"/>
                </a:solidFill>
                <a:latin typeface="Calibri" pitchFamily="34" charset="0"/>
                <a:ea typeface="Calibri" pitchFamily="34" charset="-122"/>
                <a:cs typeface="Calibri" pitchFamily="34" charset="-120"/>
              </a:rPr>
              <a:t>e</a:t>
            </a:r>
            <a:endParaRPr lang="en-US" sz="1100" dirty="0"/>
          </a:p>
        </p:txBody>
      </p:sp>
      <p:sp>
        <p:nvSpPr>
          <p:cNvPr id="15" name="Text 13"/>
          <p:cNvSpPr txBox="1"/>
          <p:nvPr/>
        </p:nvSpPr>
        <p:spPr>
          <a:xfrm>
            <a:off x="987552" y="3877056"/>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Example in this platform</a:t>
            </a:r>
            <a:endParaRPr lang="en-US" sz="1300" dirty="0"/>
          </a:p>
        </p:txBody>
      </p:sp>
      <p:sp>
        <p:nvSpPr>
          <p:cNvPr id="16" name="Text 14"/>
          <p:cNvSpPr txBox="1"/>
          <p:nvPr/>
        </p:nvSpPr>
        <p:spPr>
          <a:xfrm>
            <a:off x="694944" y="4242816"/>
            <a:ext cx="5029200" cy="859536"/>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helm/cloud-ran-srsran and cloud-ran-oai deploy the gNB as an ordinary Kubernetes workload — CPU/memory requests, ConfigMap-driven, no bespoke hardware.</a:t>
            </a:r>
            <a:endParaRPr lang="en-US" sz="1040" dirty="0"/>
          </a:p>
        </p:txBody>
      </p:sp>
      <p:sp>
        <p:nvSpPr>
          <p:cNvPr id="17" name="Shape 15"/>
          <p:cNvSpPr/>
          <p:nvPr/>
        </p:nvSpPr>
        <p:spPr>
          <a:xfrm>
            <a:off x="6172200" y="1920240"/>
            <a:ext cx="5559552" cy="3291840"/>
          </a:xfrm>
          <a:prstGeom prst="roundRect">
            <a:avLst>
              <a:gd name="adj" fmla="val 2500"/>
            </a:avLst>
          </a:prstGeom>
          <a:solidFill>
            <a:srgbClr val="12233D"/>
          </a:solidFill>
          <a:ln w="9525">
            <a:solidFill>
              <a:srgbClr val="1F3557"/>
            </a:solidFill>
            <a:prstDash val="solid"/>
          </a:ln>
        </p:spPr>
      </p:sp>
      <p:sp>
        <p:nvSpPr>
          <p:cNvPr id="18" name="Shape 16"/>
          <p:cNvSpPr/>
          <p:nvPr/>
        </p:nvSpPr>
        <p:spPr>
          <a:xfrm>
            <a:off x="6373368" y="2103120"/>
            <a:ext cx="237744" cy="237744"/>
          </a:xfrm>
          <a:prstGeom prst="ellipse">
            <a:avLst/>
          </a:prstGeom>
          <a:solidFill>
            <a:srgbClr val="1C7293">
              <a:alpha val="20000"/>
            </a:srgbClr>
          </a:solidFill>
          <a:ln w="12700">
            <a:solidFill>
              <a:srgbClr val="1C7293"/>
            </a:solidFill>
            <a:prstDash val="solid"/>
          </a:ln>
        </p:spPr>
      </p:sp>
      <p:sp>
        <p:nvSpPr>
          <p:cNvPr id="19" name="Text 17"/>
          <p:cNvSpPr txBox="1"/>
          <p:nvPr/>
        </p:nvSpPr>
        <p:spPr>
          <a:xfrm>
            <a:off x="6373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c</a:t>
            </a:r>
            <a:endParaRPr lang="en-US" sz="1100" dirty="0"/>
          </a:p>
        </p:txBody>
      </p:sp>
      <p:sp>
        <p:nvSpPr>
          <p:cNvPr id="20" name="Text 18"/>
          <p:cNvSpPr txBox="1"/>
          <p:nvPr/>
        </p:nvSpPr>
        <p:spPr>
          <a:xfrm>
            <a:off x="6702552" y="2066544"/>
            <a:ext cx="4828032"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Characteristics</a:t>
            </a:r>
            <a:endParaRPr lang="en-US" sz="1300" dirty="0"/>
          </a:p>
        </p:txBody>
      </p:sp>
      <p:sp>
        <p:nvSpPr>
          <p:cNvPr id="21" name="Text 19"/>
          <p:cNvSpPr txBox="1"/>
          <p:nvPr/>
        </p:nvSpPr>
        <p:spPr>
          <a:xfrm>
            <a:off x="6409944" y="2432304"/>
            <a:ext cx="5102352" cy="26700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Statistical multiplexing: one pool absorbs many sites' variable load</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Runs on commodity servers, not proprietary baseband hardware</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Centralized software lifecycle — one place to patch and upgrade</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Per-cell QoS (5QI) profiles configured centrally</a:t>
            </a:r>
            <a:endParaRPr lang="en-US" sz="1060" dirty="0"/>
          </a:p>
        </p:txBody>
      </p:sp>
      <p:sp>
        <p:nvSpPr>
          <p:cNvPr id="22" name="Text 20"/>
          <p:cNvSpPr txBox="1"/>
          <p:nvPr/>
        </p:nvSpPr>
        <p:spPr>
          <a:xfrm>
            <a:off x="457200" y="5358384"/>
            <a:ext cx="5486400" cy="237744"/>
          </a:xfrm>
          <a:prstGeom prst="rect">
            <a:avLst/>
          </a:prstGeom>
          <a:noFill/>
          <a:ln/>
        </p:spPr>
        <p:txBody>
          <a:bodyPr wrap="square" lIns="0" tIns="0" rIns="0" bIns="0" rtlCol="0" anchor="ctr"/>
          <a:lstStyle/>
          <a:p>
            <a:pPr indent="0" marL="0">
              <a:buNone/>
            </a:pPr>
            <a:r>
              <a:rPr lang="en-US" sz="950" b="1" spc="120" kern="0" dirty="0">
                <a:solidFill>
                  <a:srgbClr val="7690AC"/>
                </a:solidFill>
                <a:latin typeface="Calibri" pitchFamily="34" charset="0"/>
                <a:ea typeface="Calibri" pitchFamily="34" charset="-122"/>
                <a:cs typeface="Calibri" pitchFamily="34" charset="-120"/>
              </a:rPr>
              <a:t>NETWORK ARCHITECTURE</a:t>
            </a:r>
            <a:endParaRPr lang="en-US" sz="950" dirty="0"/>
          </a:p>
        </p:txBody>
      </p:sp>
      <p:sp>
        <p:nvSpPr>
          <p:cNvPr id="23" name="Shape 21"/>
          <p:cNvSpPr/>
          <p:nvPr/>
        </p:nvSpPr>
        <p:spPr>
          <a:xfrm>
            <a:off x="457200" y="5632704"/>
            <a:ext cx="2475738" cy="841248"/>
          </a:xfrm>
          <a:prstGeom prst="roundRect">
            <a:avLst>
              <a:gd name="adj" fmla="val 8696"/>
            </a:avLst>
          </a:prstGeom>
          <a:solidFill>
            <a:srgbClr val="0E1C31"/>
          </a:solidFill>
          <a:ln w="15875">
            <a:solidFill>
              <a:srgbClr val="2DD4BF"/>
            </a:solidFill>
            <a:prstDash val="solid"/>
          </a:ln>
        </p:spPr>
      </p:sp>
      <p:sp>
        <p:nvSpPr>
          <p:cNvPr id="24" name="Text 22"/>
          <p:cNvSpPr txBox="1"/>
          <p:nvPr/>
        </p:nvSpPr>
        <p:spPr>
          <a:xfrm>
            <a:off x="530352"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Remote Radio</a:t>
            </a:r>
            <a:endParaRPr lang="en-US" sz="1100" dirty="0"/>
          </a:p>
        </p:txBody>
      </p:sp>
      <p:sp>
        <p:nvSpPr>
          <p:cNvPr id="25" name="Text 23"/>
          <p:cNvSpPr txBox="1"/>
          <p:nvPr/>
        </p:nvSpPr>
        <p:spPr>
          <a:xfrm>
            <a:off x="530352"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RRU at the tower</a:t>
            </a:r>
            <a:endParaRPr lang="en-US" sz="850" dirty="0"/>
          </a:p>
        </p:txBody>
      </p:sp>
      <p:sp>
        <p:nvSpPr>
          <p:cNvPr id="26" name="Shape 24"/>
          <p:cNvSpPr/>
          <p:nvPr/>
        </p:nvSpPr>
        <p:spPr>
          <a:xfrm>
            <a:off x="3390138" y="5632704"/>
            <a:ext cx="2475738" cy="841248"/>
          </a:xfrm>
          <a:prstGeom prst="roundRect">
            <a:avLst>
              <a:gd name="adj" fmla="val 8696"/>
            </a:avLst>
          </a:prstGeom>
          <a:solidFill>
            <a:srgbClr val="0E1C31"/>
          </a:solidFill>
          <a:ln w="15875">
            <a:solidFill>
              <a:srgbClr val="2DD4BF"/>
            </a:solidFill>
            <a:prstDash val="solid"/>
          </a:ln>
        </p:spPr>
      </p:sp>
      <p:sp>
        <p:nvSpPr>
          <p:cNvPr id="27" name="Text 25"/>
          <p:cNvSpPr txBox="1"/>
          <p:nvPr/>
        </p:nvSpPr>
        <p:spPr>
          <a:xfrm>
            <a:off x="3463290"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Fronthaul</a:t>
            </a:r>
            <a:endParaRPr lang="en-US" sz="1100" dirty="0"/>
          </a:p>
        </p:txBody>
      </p:sp>
      <p:sp>
        <p:nvSpPr>
          <p:cNvPr id="28" name="Text 26"/>
          <p:cNvSpPr txBox="1"/>
          <p:nvPr/>
        </p:nvSpPr>
        <p:spPr>
          <a:xfrm>
            <a:off x="3463290"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Transport network</a:t>
            </a:r>
            <a:endParaRPr lang="en-US" sz="850" dirty="0"/>
          </a:p>
        </p:txBody>
      </p:sp>
      <p:sp>
        <p:nvSpPr>
          <p:cNvPr id="29" name="Shape 27"/>
          <p:cNvSpPr/>
          <p:nvPr/>
        </p:nvSpPr>
        <p:spPr>
          <a:xfrm>
            <a:off x="6323076" y="5632704"/>
            <a:ext cx="2475738" cy="841248"/>
          </a:xfrm>
          <a:prstGeom prst="roundRect">
            <a:avLst>
              <a:gd name="adj" fmla="val 8696"/>
            </a:avLst>
          </a:prstGeom>
          <a:solidFill>
            <a:srgbClr val="0E1C31"/>
          </a:solidFill>
          <a:ln w="15875">
            <a:solidFill>
              <a:srgbClr val="2DD4BF"/>
            </a:solidFill>
            <a:prstDash val="solid"/>
          </a:ln>
        </p:spPr>
      </p:sp>
      <p:sp>
        <p:nvSpPr>
          <p:cNvPr id="30" name="Text 28"/>
          <p:cNvSpPr txBox="1"/>
          <p:nvPr/>
        </p:nvSpPr>
        <p:spPr>
          <a:xfrm>
            <a:off x="6396228" y="5705856"/>
            <a:ext cx="2329434" cy="49377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Virtualized BBU Pool</a:t>
            </a:r>
            <a:endParaRPr lang="en-US" sz="1100" dirty="0"/>
          </a:p>
        </p:txBody>
      </p:sp>
      <p:sp>
        <p:nvSpPr>
          <p:cNvPr id="31" name="Text 29"/>
          <p:cNvSpPr txBox="1"/>
          <p:nvPr/>
        </p:nvSpPr>
        <p:spPr>
          <a:xfrm>
            <a:off x="6396228" y="6181344"/>
            <a:ext cx="2329434" cy="237744"/>
          </a:xfrm>
          <a:prstGeom prst="rect">
            <a:avLst/>
          </a:prstGeom>
          <a:noFill/>
          <a:ln/>
        </p:spPr>
        <p:txBody>
          <a:bodyPr wrap="square" lIns="0" tIns="0" rIns="0" bIns="0" rtlCol="0" anchor="ctr"/>
          <a:lstStyle/>
          <a:p>
            <a:pPr algn="ctr" indent="0" marL="0">
              <a:buNone/>
            </a:pPr>
            <a:r>
              <a:rPr lang="en-US" sz="850" dirty="0">
                <a:solidFill>
                  <a:srgbClr val="7690AC"/>
                </a:solidFill>
                <a:latin typeface="Calibri" pitchFamily="34" charset="0"/>
                <a:ea typeface="Calibri" pitchFamily="34" charset="-122"/>
                <a:cs typeface="Calibri" pitchFamily="34" charset="-120"/>
              </a:rPr>
              <a:t>Kubernetes, COTS compute</a:t>
            </a:r>
            <a:endParaRPr lang="en-US" sz="850" dirty="0"/>
          </a:p>
        </p:txBody>
      </p:sp>
      <p:sp>
        <p:nvSpPr>
          <p:cNvPr id="32" name="Shape 30"/>
          <p:cNvSpPr/>
          <p:nvPr/>
        </p:nvSpPr>
        <p:spPr>
          <a:xfrm>
            <a:off x="9256014" y="5632704"/>
            <a:ext cx="2475738" cy="841248"/>
          </a:xfrm>
          <a:prstGeom prst="roundRect">
            <a:avLst>
              <a:gd name="adj" fmla="val 8696"/>
            </a:avLst>
          </a:prstGeom>
          <a:solidFill>
            <a:srgbClr val="0E1C31"/>
          </a:solidFill>
          <a:ln w="15875">
            <a:solidFill>
              <a:srgbClr val="2DD4BF"/>
            </a:solidFill>
            <a:prstDash val="solid"/>
          </a:ln>
        </p:spPr>
      </p:sp>
      <p:sp>
        <p:nvSpPr>
          <p:cNvPr id="33" name="Text 31"/>
          <p:cNvSpPr txBox="1"/>
          <p:nvPr/>
        </p:nvSpPr>
        <p:spPr>
          <a:xfrm>
            <a:off x="9329166" y="5705856"/>
            <a:ext cx="2329434" cy="6949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5G Core</a:t>
            </a:r>
            <a:endParaRPr lang="en-US" sz="1100" dirty="0"/>
          </a:p>
        </p:txBody>
      </p:sp>
      <p:sp>
        <p:nvSpPr>
          <p:cNvPr id="34" name="Shape 32"/>
          <p:cNvSpPr/>
          <p:nvPr/>
        </p:nvSpPr>
        <p:spPr>
          <a:xfrm>
            <a:off x="2932938" y="6053328"/>
            <a:ext cx="457200" cy="0"/>
          </a:xfrm>
          <a:prstGeom prst="line">
            <a:avLst/>
          </a:prstGeom>
          <a:noFill/>
          <a:ln w="19050">
            <a:solidFill>
              <a:srgbClr val="2DD4BF"/>
            </a:solidFill>
            <a:prstDash val="solid"/>
            <a:tailEnd type="triangle"/>
          </a:ln>
        </p:spPr>
      </p:sp>
      <p:sp>
        <p:nvSpPr>
          <p:cNvPr id="35" name="Text 33"/>
          <p:cNvSpPr txBox="1"/>
          <p:nvPr/>
        </p:nvSpPr>
        <p:spPr>
          <a:xfrm>
            <a:off x="2932938" y="5705856"/>
            <a:ext cx="457200" cy="256032"/>
          </a:xfrm>
          <a:prstGeom prst="rect">
            <a:avLst/>
          </a:prstGeom>
          <a:noFill/>
          <a:ln/>
        </p:spPr>
        <p:txBody>
          <a:bodyPr wrap="none" lIns="0" tIns="0" rIns="0" bIns="0" rtlCol="0" anchor="b"/>
          <a:lstStyle/>
          <a:p>
            <a:pPr algn="ctr" indent="0" marL="0">
              <a:buNone/>
            </a:pPr>
            <a:r>
              <a:rPr lang="en-US" sz="750" b="1" dirty="0">
                <a:solidFill>
                  <a:srgbClr val="2DD4BF"/>
                </a:solidFill>
                <a:latin typeface="Calibri" pitchFamily="34" charset="0"/>
                <a:ea typeface="Calibri" pitchFamily="34" charset="-122"/>
                <a:cs typeface="Calibri" pitchFamily="34" charset="-120"/>
              </a:rPr>
              <a:t>fiber</a:t>
            </a:r>
            <a:endParaRPr lang="en-US" sz="750" dirty="0"/>
          </a:p>
        </p:txBody>
      </p:sp>
      <p:sp>
        <p:nvSpPr>
          <p:cNvPr id="36" name="Shape 34"/>
          <p:cNvSpPr/>
          <p:nvPr/>
        </p:nvSpPr>
        <p:spPr>
          <a:xfrm>
            <a:off x="5865876" y="6053328"/>
            <a:ext cx="457200" cy="0"/>
          </a:xfrm>
          <a:prstGeom prst="line">
            <a:avLst/>
          </a:prstGeom>
          <a:noFill/>
          <a:ln w="19050">
            <a:solidFill>
              <a:srgbClr val="2DD4BF"/>
            </a:solidFill>
            <a:prstDash val="solid"/>
            <a:tailEnd type="triangle"/>
          </a:ln>
        </p:spPr>
      </p:sp>
      <p:sp>
        <p:nvSpPr>
          <p:cNvPr id="37" name="Text 35"/>
          <p:cNvSpPr txBox="1"/>
          <p:nvPr/>
        </p:nvSpPr>
        <p:spPr>
          <a:xfrm>
            <a:off x="5865876" y="5705856"/>
            <a:ext cx="457200" cy="256032"/>
          </a:xfrm>
          <a:prstGeom prst="rect">
            <a:avLst/>
          </a:prstGeom>
          <a:noFill/>
          <a:ln/>
        </p:spPr>
        <p:txBody>
          <a:bodyPr wrap="none" lIns="0" tIns="0" rIns="0" bIns="0" rtlCol="0" anchor="b"/>
          <a:lstStyle/>
          <a:p>
            <a:pPr algn="ctr" indent="0" marL="0">
              <a:buNone/>
            </a:pPr>
            <a:r>
              <a:rPr lang="en-US" sz="750" b="1" dirty="0">
                <a:solidFill>
                  <a:srgbClr val="2DD4BF"/>
                </a:solidFill>
                <a:latin typeface="Calibri" pitchFamily="34" charset="0"/>
                <a:ea typeface="Calibri" pitchFamily="34" charset="-122"/>
                <a:cs typeface="Calibri" pitchFamily="34" charset="-120"/>
              </a:rPr>
              <a:t>fronthaul</a:t>
            </a:r>
            <a:endParaRPr lang="en-US" sz="750" dirty="0"/>
          </a:p>
        </p:txBody>
      </p:sp>
      <p:sp>
        <p:nvSpPr>
          <p:cNvPr id="38" name="Shape 36"/>
          <p:cNvSpPr/>
          <p:nvPr/>
        </p:nvSpPr>
        <p:spPr>
          <a:xfrm>
            <a:off x="8798814" y="6053328"/>
            <a:ext cx="457200" cy="0"/>
          </a:xfrm>
          <a:prstGeom prst="line">
            <a:avLst/>
          </a:prstGeom>
          <a:noFill/>
          <a:ln w="19050">
            <a:solidFill>
              <a:srgbClr val="2DD4BF"/>
            </a:solidFill>
            <a:prstDash val="solid"/>
            <a:tailEnd type="triangle"/>
          </a:ln>
        </p:spPr>
      </p:sp>
      <p:sp>
        <p:nvSpPr>
          <p:cNvPr id="39" name="Text 37"/>
          <p:cNvSpPr txBox="1"/>
          <p:nvPr/>
        </p:nvSpPr>
        <p:spPr>
          <a:xfrm>
            <a:off x="8798814" y="5705856"/>
            <a:ext cx="457200" cy="256032"/>
          </a:xfrm>
          <a:prstGeom prst="rect">
            <a:avLst/>
          </a:prstGeom>
          <a:noFill/>
          <a:ln/>
        </p:spPr>
        <p:txBody>
          <a:bodyPr wrap="none" lIns="0" tIns="0" rIns="0" bIns="0" rtlCol="0" anchor="b"/>
          <a:lstStyle/>
          <a:p>
            <a:pPr algn="ctr" indent="0" marL="0">
              <a:buNone/>
            </a:pPr>
            <a:r>
              <a:rPr lang="en-US" sz="750" b="1" dirty="0">
                <a:solidFill>
                  <a:srgbClr val="2DD4BF"/>
                </a:solidFill>
                <a:latin typeface="Calibri" pitchFamily="34" charset="0"/>
                <a:ea typeface="Calibri" pitchFamily="34" charset="-122"/>
                <a:cs typeface="Calibri" pitchFamily="34" charset="-120"/>
              </a:rPr>
              <a:t>N2 / N3</a:t>
            </a:r>
            <a:endParaRPr lang="en-US" sz="750" dirty="0"/>
          </a:p>
        </p:txBody>
      </p:sp>
      <p:sp>
        <p:nvSpPr>
          <p:cNvPr id="40" name="Text 3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41" name="Text 3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07 / 24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435608"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435608"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CLOUD-RAN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Cloud-RAN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2DD4BF"/>
                </a:solidFill>
                <a:latin typeface="Calibri" pitchFamily="34" charset="0"/>
                <a:ea typeface="Calibri" pitchFamily="34" charset="-122"/>
                <a:cs typeface="Calibri" pitchFamily="34" charset="-120"/>
              </a:rPr>
              <a:t>Advantages, trade-offs, and where it is used in industry</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2DD4BF">
                    <a:alpha val="20000"/>
                  </a:srgbClr>
                </a:solidFill>
                <a:latin typeface="Cambria" pitchFamily="34" charset="0"/>
                <a:ea typeface="Cambria" pitchFamily="34" charset="-122"/>
                <a:cs typeface="Cambria" pitchFamily="34" charset="-120"/>
              </a:rPr>
              <a:t>03</a:t>
            </a:r>
            <a:endParaRPr lang="en-US" sz="5200" dirty="0"/>
          </a:p>
        </p:txBody>
      </p:sp>
      <p:sp>
        <p:nvSpPr>
          <p:cNvPr id="7" name="Shape 5"/>
          <p:cNvSpPr/>
          <p:nvPr/>
        </p:nvSpPr>
        <p:spPr>
          <a:xfrm>
            <a:off x="457200" y="1828800"/>
            <a:ext cx="5532120" cy="2788920"/>
          </a:xfrm>
          <a:prstGeom prst="roundRect">
            <a:avLst>
              <a:gd name="adj" fmla="val 2951"/>
            </a:avLst>
          </a:prstGeom>
          <a:solidFill>
            <a:srgbClr val="12233D"/>
          </a:solidFill>
          <a:ln w="9525">
            <a:solidFill>
              <a:srgbClr val="1F3557"/>
            </a:solidFill>
            <a:prstDash val="solid"/>
          </a:ln>
        </p:spPr>
      </p:sp>
      <p:sp>
        <p:nvSpPr>
          <p:cNvPr id="8" name="Shape 6"/>
          <p:cNvSpPr/>
          <p:nvPr/>
        </p:nvSpPr>
        <p:spPr>
          <a:xfrm>
            <a:off x="658368" y="2011680"/>
            <a:ext cx="237744" cy="237744"/>
          </a:xfrm>
          <a:prstGeom prst="ellipse">
            <a:avLst/>
          </a:prstGeom>
          <a:solidFill>
            <a:srgbClr val="34D399">
              <a:alpha val="20000"/>
            </a:srgbClr>
          </a:solidFill>
          <a:ln w="12700">
            <a:solidFill>
              <a:srgbClr val="34D399"/>
            </a:solidFill>
            <a:prstDash val="solid"/>
          </a:ln>
        </p:spPr>
      </p:sp>
      <p:sp>
        <p:nvSpPr>
          <p:cNvPr id="9" name="Text 7"/>
          <p:cNvSpPr txBox="1"/>
          <p:nvPr/>
        </p:nvSpPr>
        <p:spPr>
          <a:xfrm>
            <a:off x="658368" y="2006194"/>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87552"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Advantages</a:t>
            </a:r>
            <a:endParaRPr lang="en-US" sz="1300" dirty="0"/>
          </a:p>
        </p:txBody>
      </p:sp>
      <p:sp>
        <p:nvSpPr>
          <p:cNvPr id="11" name="Text 9"/>
          <p:cNvSpPr txBox="1"/>
          <p:nvPr/>
        </p:nvSpPr>
        <p:spPr>
          <a:xfrm>
            <a:off x="694944" y="2340864"/>
            <a:ext cx="5074920" cy="2167128"/>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Pooling cuts total compute versus one appliance per site</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Multi-cell coordination becomes possible from one location</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Centralized monitoring, upgrades and fault management</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Materially lower total cost of ownership at scale</a:t>
            </a:r>
            <a:endParaRPr lang="en-US" sz="1060" dirty="0"/>
          </a:p>
        </p:txBody>
      </p:sp>
      <p:sp>
        <p:nvSpPr>
          <p:cNvPr id="12" name="Shape 10"/>
          <p:cNvSpPr/>
          <p:nvPr/>
        </p:nvSpPr>
        <p:spPr>
          <a:xfrm>
            <a:off x="6199632" y="1828800"/>
            <a:ext cx="5532120" cy="2788920"/>
          </a:xfrm>
          <a:prstGeom prst="roundRect">
            <a:avLst>
              <a:gd name="adj" fmla="val 2951"/>
            </a:avLst>
          </a:prstGeom>
          <a:solidFill>
            <a:srgbClr val="12233D"/>
          </a:solidFill>
          <a:ln w="9525">
            <a:solidFill>
              <a:srgbClr val="1F3557"/>
            </a:solidFill>
            <a:prstDash val="solid"/>
          </a:ln>
        </p:spPr>
      </p:sp>
      <p:sp>
        <p:nvSpPr>
          <p:cNvPr id="13" name="Shape 11"/>
          <p:cNvSpPr/>
          <p:nvPr/>
        </p:nvSpPr>
        <p:spPr>
          <a:xfrm>
            <a:off x="6400800" y="2011680"/>
            <a:ext cx="237744" cy="237744"/>
          </a:xfrm>
          <a:prstGeom prst="ellipse">
            <a:avLst/>
          </a:prstGeom>
          <a:solidFill>
            <a:srgbClr val="F2A65A">
              <a:alpha val="20000"/>
            </a:srgbClr>
          </a:solidFill>
          <a:ln w="12700">
            <a:solidFill>
              <a:srgbClr val="F2A65A"/>
            </a:solidFill>
            <a:prstDash val="solid"/>
          </a:ln>
        </p:spPr>
      </p:sp>
      <p:sp>
        <p:nvSpPr>
          <p:cNvPr id="14" name="Text 12"/>
          <p:cNvSpPr txBox="1"/>
          <p:nvPr/>
        </p:nvSpPr>
        <p:spPr>
          <a:xfrm>
            <a:off x="6400800" y="2006194"/>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6729984"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Trade-offs</a:t>
            </a:r>
            <a:endParaRPr lang="en-US" sz="1300" dirty="0"/>
          </a:p>
        </p:txBody>
      </p:sp>
      <p:sp>
        <p:nvSpPr>
          <p:cNvPr id="16" name="Text 14"/>
          <p:cNvSpPr txBox="1"/>
          <p:nvPr/>
        </p:nvSpPr>
        <p:spPr>
          <a:xfrm>
            <a:off x="6437376" y="2322576"/>
            <a:ext cx="5074920" cy="1371600"/>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Fronthaul must meet strict latency and bandwidth budgets</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The centralized pool is a concentration-of-risk point</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Every remote site depends on reliable, high-bandwidth transport back to the pool</a:t>
            </a:r>
            <a:endParaRPr lang="en-US" sz="1060" dirty="0"/>
          </a:p>
        </p:txBody>
      </p:sp>
      <p:sp>
        <p:nvSpPr>
          <p:cNvPr id="17" name="Shape 15"/>
          <p:cNvSpPr/>
          <p:nvPr/>
        </p:nvSpPr>
        <p:spPr>
          <a:xfrm>
            <a:off x="6437376" y="3712464"/>
            <a:ext cx="5074920" cy="0"/>
          </a:xfrm>
          <a:prstGeom prst="line">
            <a:avLst/>
          </a:prstGeom>
          <a:noFill/>
          <a:ln w="9525">
            <a:solidFill>
              <a:srgbClr val="1F3557"/>
            </a:solidFill>
            <a:prstDash val="solid"/>
          </a:ln>
        </p:spPr>
      </p:sp>
      <p:sp>
        <p:nvSpPr>
          <p:cNvPr id="18" name="Text 16"/>
          <p:cNvSpPr txBox="1"/>
          <p:nvPr/>
        </p:nvSpPr>
        <p:spPr>
          <a:xfrm>
            <a:off x="6437376" y="3794760"/>
            <a:ext cx="5074920" cy="182880"/>
          </a:xfrm>
          <a:prstGeom prst="rect">
            <a:avLst/>
          </a:prstGeom>
          <a:noFill/>
          <a:ln/>
        </p:spPr>
        <p:txBody>
          <a:bodyPr wrap="square" lIns="0" tIns="0" rIns="0" bIns="0" rtlCol="0" anchor="ctr"/>
          <a:lstStyle/>
          <a:p>
            <a:pPr indent="0" marL="0">
              <a:buNone/>
            </a:pPr>
            <a:r>
              <a:rPr lang="en-US" sz="850" b="1" spc="100" kern="0" dirty="0">
                <a:solidFill>
                  <a:srgbClr val="F2A65A"/>
                </a:solidFill>
                <a:latin typeface="Calibri" pitchFamily="34" charset="0"/>
                <a:ea typeface="Calibri" pitchFamily="34" charset="-122"/>
                <a:cs typeface="Calibri" pitchFamily="34" charset="-120"/>
              </a:rPr>
              <a:t>HOW IT'S ADDRESSED</a:t>
            </a:r>
            <a:endParaRPr lang="en-US" sz="850" dirty="0"/>
          </a:p>
        </p:txBody>
      </p:sp>
      <p:sp>
        <p:nvSpPr>
          <p:cNvPr id="19" name="Text 17"/>
          <p:cNvSpPr txBox="1"/>
          <p:nvPr/>
        </p:nvSpPr>
        <p:spPr>
          <a:xfrm>
            <a:off x="6437376" y="3986784"/>
            <a:ext cx="5074920" cy="539496"/>
          </a:xfrm>
          <a:prstGeom prst="rect">
            <a:avLst/>
          </a:prstGeom>
          <a:noFill/>
          <a:ln/>
        </p:spPr>
        <p:txBody>
          <a:bodyPr wrap="square" lIns="0" tIns="0" rIns="0" bIns="0" rtlCol="0" anchor="t"/>
          <a:lstStyle/>
          <a:p>
            <a:pPr indent="0" marL="0">
              <a:lnSpc>
                <a:spcPct val="110000"/>
              </a:lnSpc>
              <a:buNone/>
            </a:pPr>
            <a:r>
              <a:rPr lang="en-US" sz="980" dirty="0">
                <a:solidFill>
                  <a:srgbClr val="AFC5DE"/>
                </a:solidFill>
                <a:latin typeface="Calibri" pitchFamily="34" charset="0"/>
                <a:ea typeface="Calibri" pitchFamily="34" charset="-122"/>
                <a:cs typeface="Calibri" pitchFamily="34" charset="-120"/>
              </a:rPr>
              <a:t>Redundant fronthaul paths, and lower-bandwidth functional splits (e.g. split 7.2) that relax the transport requirement while keeping the pooling benefit.</a:t>
            </a:r>
            <a:endParaRPr lang="en-US" sz="980" dirty="0"/>
          </a:p>
        </p:txBody>
      </p:sp>
      <p:sp>
        <p:nvSpPr>
          <p:cNvPr id="20" name="Shape 18"/>
          <p:cNvSpPr/>
          <p:nvPr/>
        </p:nvSpPr>
        <p:spPr>
          <a:xfrm>
            <a:off x="457200" y="4800600"/>
            <a:ext cx="11274552" cy="1600200"/>
          </a:xfrm>
          <a:prstGeom prst="roundRect">
            <a:avLst>
              <a:gd name="adj" fmla="val 5143"/>
            </a:avLst>
          </a:prstGeom>
          <a:solidFill>
            <a:srgbClr val="12233D"/>
          </a:solidFill>
          <a:ln w="9525">
            <a:solidFill>
              <a:srgbClr val="1F3557"/>
            </a:solidFill>
            <a:prstDash val="solid"/>
          </a:ln>
        </p:spPr>
      </p:sp>
      <p:sp>
        <p:nvSpPr>
          <p:cNvPr id="21" name="Shape 19"/>
          <p:cNvSpPr/>
          <p:nvPr/>
        </p:nvSpPr>
        <p:spPr>
          <a:xfrm>
            <a:off x="658368" y="4965192"/>
            <a:ext cx="237744" cy="237744"/>
          </a:xfrm>
          <a:prstGeom prst="ellipse">
            <a:avLst/>
          </a:prstGeom>
          <a:solidFill>
            <a:srgbClr val="1C7293">
              <a:alpha val="20000"/>
            </a:srgbClr>
          </a:solidFill>
          <a:ln w="12700">
            <a:solidFill>
              <a:srgbClr val="1C7293"/>
            </a:solidFill>
            <a:prstDash val="solid"/>
          </a:ln>
        </p:spPr>
      </p:sp>
      <p:sp>
        <p:nvSpPr>
          <p:cNvPr id="22" name="Text 20"/>
          <p:cNvSpPr txBox="1"/>
          <p:nvPr/>
        </p:nvSpPr>
        <p:spPr>
          <a:xfrm>
            <a:off x="658368" y="495970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n</a:t>
            </a:r>
            <a:endParaRPr lang="en-US" sz="1100" dirty="0"/>
          </a:p>
        </p:txBody>
      </p:sp>
      <p:sp>
        <p:nvSpPr>
          <p:cNvPr id="23" name="Text 21"/>
          <p:cNvSpPr txBox="1"/>
          <p:nvPr/>
        </p:nvSpPr>
        <p:spPr>
          <a:xfrm>
            <a:off x="987552" y="4928616"/>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Where it's used in industry</a:t>
            </a:r>
            <a:endParaRPr lang="en-US" sz="1250" dirty="0"/>
          </a:p>
        </p:txBody>
      </p:sp>
      <p:sp>
        <p:nvSpPr>
          <p:cNvPr id="24" name="Text 22"/>
          <p:cNvSpPr txBox="1"/>
          <p:nvPr/>
        </p:nvSpPr>
        <p:spPr>
          <a:xfrm>
            <a:off x="694944" y="5257800"/>
            <a:ext cx="10789920" cy="1033272"/>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China Mobile — originated the C-RAN concept at scale</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Standard pattern for dense urban 5G capacity buildouts worldwide</a:t>
            </a:r>
            <a:endParaRPr lang="en-US" sz="1040" dirty="0"/>
          </a:p>
        </p:txBody>
      </p:sp>
      <p:sp>
        <p:nvSpPr>
          <p:cNvPr id="25" name="Text 23"/>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6" name="Text 24"/>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08 / 24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078992" cy="292608"/>
          </a:xfrm>
          <a:prstGeom prst="roundRect">
            <a:avLst>
              <a:gd name="adj" fmla="val 18750"/>
            </a:avLst>
          </a:prstGeom>
          <a:solidFill>
            <a:srgbClr val="34D399">
              <a:alpha val="14000"/>
            </a:srgbClr>
          </a:solidFill>
          <a:ln w="9525">
            <a:solidFill>
              <a:srgbClr val="34D399"/>
            </a:solidFill>
            <a:prstDash val="solid"/>
          </a:ln>
        </p:spPr>
      </p:sp>
      <p:sp>
        <p:nvSpPr>
          <p:cNvPr id="3" name="Text 1"/>
          <p:cNvSpPr txBox="1"/>
          <p:nvPr/>
        </p:nvSpPr>
        <p:spPr>
          <a:xfrm>
            <a:off x="457200" y="384048"/>
            <a:ext cx="1078992" cy="292608"/>
          </a:xfrm>
          <a:prstGeom prst="rect">
            <a:avLst/>
          </a:prstGeom>
          <a:noFill/>
          <a:ln/>
        </p:spPr>
        <p:txBody>
          <a:bodyPr wrap="none" lIns="0" tIns="0" rIns="0" bIns="0" rtlCol="0" anchor="ctr"/>
          <a:lstStyle/>
          <a:p>
            <a:pPr algn="ctr" indent="0" marL="0">
              <a:buNone/>
            </a:pPr>
            <a:r>
              <a:rPr lang="en-US" sz="1050" b="1" spc="110" kern="0" dirty="0">
                <a:solidFill>
                  <a:srgbClr val="34D399"/>
                </a:solidFill>
                <a:latin typeface="Calibri" pitchFamily="34" charset="0"/>
                <a:ea typeface="Calibri" pitchFamily="34" charset="-122"/>
                <a:cs typeface="Calibri" pitchFamily="34" charset="-120"/>
              </a:rPr>
              <a:t>V-CRAN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Virtualized Cloud-RAN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34D399"/>
                </a:solidFill>
                <a:latin typeface="Calibri" pitchFamily="34" charset="0"/>
                <a:ea typeface="Calibri" pitchFamily="34" charset="-122"/>
                <a:cs typeface="Calibri" pitchFamily="34" charset="-120"/>
              </a:rPr>
              <a:t>The CU as an elastic, autoscaled Kubernetes workload.</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34D399">
                    <a:alpha val="20000"/>
                  </a:srgbClr>
                </a:solidFill>
                <a:latin typeface="Cambria" pitchFamily="34" charset="0"/>
                <a:ea typeface="Cambria" pitchFamily="34" charset="-122"/>
                <a:cs typeface="Cambria" pitchFamily="34" charset="-120"/>
              </a:rPr>
              <a:t>04</a:t>
            </a:r>
            <a:endParaRPr lang="en-US" sz="5200" dirty="0"/>
          </a:p>
        </p:txBody>
      </p:sp>
      <p:sp>
        <p:nvSpPr>
          <p:cNvPr id="7" name="Shape 5"/>
          <p:cNvSpPr/>
          <p:nvPr/>
        </p:nvSpPr>
        <p:spPr>
          <a:xfrm>
            <a:off x="457200" y="1920240"/>
            <a:ext cx="5486400" cy="1691640"/>
          </a:xfrm>
          <a:prstGeom prst="roundRect">
            <a:avLst>
              <a:gd name="adj" fmla="val 4865"/>
            </a:avLst>
          </a:prstGeom>
          <a:solidFill>
            <a:srgbClr val="12233D"/>
          </a:solidFill>
          <a:ln w="9525">
            <a:solidFill>
              <a:srgbClr val="1F3557"/>
            </a:solidFill>
            <a:prstDash val="solid"/>
          </a:ln>
        </p:spPr>
      </p:sp>
      <p:sp>
        <p:nvSpPr>
          <p:cNvPr id="8" name="Shape 6"/>
          <p:cNvSpPr/>
          <p:nvPr/>
        </p:nvSpPr>
        <p:spPr>
          <a:xfrm>
            <a:off x="658368" y="2103120"/>
            <a:ext cx="237744" cy="237744"/>
          </a:xfrm>
          <a:prstGeom prst="ellipse">
            <a:avLst/>
          </a:prstGeom>
          <a:solidFill>
            <a:srgbClr val="1C7293">
              <a:alpha val="20000"/>
            </a:srgbClr>
          </a:solidFill>
          <a:ln w="12700">
            <a:solidFill>
              <a:srgbClr val="1C7293"/>
            </a:solidFill>
            <a:prstDash val="solid"/>
          </a:ln>
        </p:spPr>
      </p:sp>
      <p:sp>
        <p:nvSpPr>
          <p:cNvPr id="9" name="Text 7"/>
          <p:cNvSpPr txBox="1"/>
          <p:nvPr/>
        </p:nvSpPr>
        <p:spPr>
          <a:xfrm>
            <a:off x="658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i</a:t>
            </a:r>
            <a:endParaRPr lang="en-US" sz="1100" dirty="0"/>
          </a:p>
        </p:txBody>
      </p:sp>
      <p:sp>
        <p:nvSpPr>
          <p:cNvPr id="10" name="Text 8"/>
          <p:cNvSpPr txBox="1"/>
          <p:nvPr/>
        </p:nvSpPr>
        <p:spPr>
          <a:xfrm>
            <a:off x="987552" y="2066544"/>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Definition</a:t>
            </a:r>
            <a:endParaRPr lang="en-US" sz="1300" dirty="0"/>
          </a:p>
        </p:txBody>
      </p:sp>
      <p:sp>
        <p:nvSpPr>
          <p:cNvPr id="11" name="Text 9"/>
          <p:cNvSpPr txBox="1"/>
          <p:nvPr/>
        </p:nvSpPr>
        <p:spPr>
          <a:xfrm>
            <a:off x="694944" y="2432304"/>
            <a:ext cx="5029200" cy="10698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Takes Cloud-RAN further: the CU is not just virtualized but actively managed — replica count, resource limits and placement are all governed by the orchestrator and respond to real load.</a:t>
            </a:r>
            <a:endParaRPr lang="en-US" sz="1060" dirty="0"/>
          </a:p>
        </p:txBody>
      </p:sp>
      <p:sp>
        <p:nvSpPr>
          <p:cNvPr id="12" name="Shape 10"/>
          <p:cNvSpPr/>
          <p:nvPr/>
        </p:nvSpPr>
        <p:spPr>
          <a:xfrm>
            <a:off x="457200" y="3730752"/>
            <a:ext cx="5486400" cy="1481328"/>
          </a:xfrm>
          <a:prstGeom prst="roundRect">
            <a:avLst>
              <a:gd name="adj" fmla="val 5556"/>
            </a:avLst>
          </a:prstGeom>
          <a:solidFill>
            <a:srgbClr val="12233D"/>
          </a:solidFill>
          <a:ln w="9525">
            <a:solidFill>
              <a:srgbClr val="1F3557"/>
            </a:solidFill>
            <a:prstDash val="solid"/>
          </a:ln>
        </p:spPr>
      </p:sp>
      <p:sp>
        <p:nvSpPr>
          <p:cNvPr id="13" name="Shape 11"/>
          <p:cNvSpPr/>
          <p:nvPr/>
        </p:nvSpPr>
        <p:spPr>
          <a:xfrm>
            <a:off x="658368" y="3913632"/>
            <a:ext cx="237744" cy="237744"/>
          </a:xfrm>
          <a:prstGeom prst="ellipse">
            <a:avLst/>
          </a:prstGeom>
          <a:solidFill>
            <a:srgbClr val="34D399">
              <a:alpha val="20000"/>
            </a:srgbClr>
          </a:solidFill>
          <a:ln w="12700">
            <a:solidFill>
              <a:srgbClr val="34D399"/>
            </a:solidFill>
            <a:prstDash val="solid"/>
          </a:ln>
        </p:spPr>
      </p:sp>
      <p:sp>
        <p:nvSpPr>
          <p:cNvPr id="14" name="Text 12"/>
          <p:cNvSpPr txBox="1"/>
          <p:nvPr/>
        </p:nvSpPr>
        <p:spPr>
          <a:xfrm>
            <a:off x="658368" y="3908146"/>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e</a:t>
            </a:r>
            <a:endParaRPr lang="en-US" sz="1100" dirty="0"/>
          </a:p>
        </p:txBody>
      </p:sp>
      <p:sp>
        <p:nvSpPr>
          <p:cNvPr id="15" name="Text 13"/>
          <p:cNvSpPr txBox="1"/>
          <p:nvPr/>
        </p:nvSpPr>
        <p:spPr>
          <a:xfrm>
            <a:off x="987552" y="3877056"/>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Example in this platform</a:t>
            </a:r>
            <a:endParaRPr lang="en-US" sz="1300" dirty="0"/>
          </a:p>
        </p:txBody>
      </p:sp>
      <p:sp>
        <p:nvSpPr>
          <p:cNvPr id="16" name="Text 14"/>
          <p:cNvSpPr txBox="1"/>
          <p:nvPr/>
        </p:nvSpPr>
        <p:spPr>
          <a:xfrm>
            <a:off x="694944" y="4242816"/>
            <a:ext cx="5029200" cy="859536"/>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The CU carries a HorizontalPodAutoscaler (1-3 replicas, 70% CPU target) plus soft pod anti-affinity; the DU stays fixed, bound to its cell and real-time deadlines.</a:t>
            </a:r>
            <a:endParaRPr lang="en-US" sz="1040" dirty="0"/>
          </a:p>
        </p:txBody>
      </p:sp>
      <p:sp>
        <p:nvSpPr>
          <p:cNvPr id="17" name="Shape 15"/>
          <p:cNvSpPr/>
          <p:nvPr/>
        </p:nvSpPr>
        <p:spPr>
          <a:xfrm>
            <a:off x="6172200" y="1920240"/>
            <a:ext cx="5559552" cy="3291840"/>
          </a:xfrm>
          <a:prstGeom prst="roundRect">
            <a:avLst>
              <a:gd name="adj" fmla="val 2500"/>
            </a:avLst>
          </a:prstGeom>
          <a:solidFill>
            <a:srgbClr val="12233D"/>
          </a:solidFill>
          <a:ln w="9525">
            <a:solidFill>
              <a:srgbClr val="1F3557"/>
            </a:solidFill>
            <a:prstDash val="solid"/>
          </a:ln>
        </p:spPr>
      </p:sp>
      <p:sp>
        <p:nvSpPr>
          <p:cNvPr id="18" name="Shape 16"/>
          <p:cNvSpPr/>
          <p:nvPr/>
        </p:nvSpPr>
        <p:spPr>
          <a:xfrm>
            <a:off x="6373368" y="2103120"/>
            <a:ext cx="237744" cy="237744"/>
          </a:xfrm>
          <a:prstGeom prst="ellipse">
            <a:avLst/>
          </a:prstGeom>
          <a:solidFill>
            <a:srgbClr val="1C7293">
              <a:alpha val="20000"/>
            </a:srgbClr>
          </a:solidFill>
          <a:ln w="12700">
            <a:solidFill>
              <a:srgbClr val="1C7293"/>
            </a:solidFill>
            <a:prstDash val="solid"/>
          </a:ln>
        </p:spPr>
      </p:sp>
      <p:sp>
        <p:nvSpPr>
          <p:cNvPr id="19" name="Text 17"/>
          <p:cNvSpPr txBox="1"/>
          <p:nvPr/>
        </p:nvSpPr>
        <p:spPr>
          <a:xfrm>
            <a:off x="6373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c</a:t>
            </a:r>
            <a:endParaRPr lang="en-US" sz="1100" dirty="0"/>
          </a:p>
        </p:txBody>
      </p:sp>
      <p:sp>
        <p:nvSpPr>
          <p:cNvPr id="20" name="Text 18"/>
          <p:cNvSpPr txBox="1"/>
          <p:nvPr/>
        </p:nvSpPr>
        <p:spPr>
          <a:xfrm>
            <a:off x="6702552" y="2066544"/>
            <a:ext cx="4828032"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Characteristics</a:t>
            </a:r>
            <a:endParaRPr lang="en-US" sz="1300" dirty="0"/>
          </a:p>
        </p:txBody>
      </p:sp>
      <p:sp>
        <p:nvSpPr>
          <p:cNvPr id="21" name="Text 19"/>
          <p:cNvSpPr txBox="1"/>
          <p:nvPr/>
        </p:nvSpPr>
        <p:spPr>
          <a:xfrm>
            <a:off x="6409944" y="2432304"/>
            <a:ext cx="5102352" cy="26700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Elasticity: replica count follows measured CPU load automatically</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Explicit resource governance — requests and limits per replica</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Placement policy spreads replicas across nodes where possible</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Entire lifecycle expressed declaratively in one Helm chart</a:t>
            </a:r>
            <a:endParaRPr lang="en-US" sz="1060" dirty="0"/>
          </a:p>
        </p:txBody>
      </p:sp>
      <p:sp>
        <p:nvSpPr>
          <p:cNvPr id="22" name="Text 20"/>
          <p:cNvSpPr txBox="1"/>
          <p:nvPr/>
        </p:nvSpPr>
        <p:spPr>
          <a:xfrm>
            <a:off x="457200" y="5358384"/>
            <a:ext cx="5486400" cy="237744"/>
          </a:xfrm>
          <a:prstGeom prst="rect">
            <a:avLst/>
          </a:prstGeom>
          <a:noFill/>
          <a:ln/>
        </p:spPr>
        <p:txBody>
          <a:bodyPr wrap="square" lIns="0" tIns="0" rIns="0" bIns="0" rtlCol="0" anchor="ctr"/>
          <a:lstStyle/>
          <a:p>
            <a:pPr indent="0" marL="0">
              <a:buNone/>
            </a:pPr>
            <a:r>
              <a:rPr lang="en-US" sz="950" b="1" spc="120" kern="0" dirty="0">
                <a:solidFill>
                  <a:srgbClr val="7690AC"/>
                </a:solidFill>
                <a:latin typeface="Calibri" pitchFamily="34" charset="0"/>
                <a:ea typeface="Calibri" pitchFamily="34" charset="-122"/>
                <a:cs typeface="Calibri" pitchFamily="34" charset="-120"/>
              </a:rPr>
              <a:t>NETWORK ARCHITECTURE</a:t>
            </a:r>
            <a:endParaRPr lang="en-US" sz="950" dirty="0"/>
          </a:p>
        </p:txBody>
      </p:sp>
      <p:sp>
        <p:nvSpPr>
          <p:cNvPr id="23" name="Shape 21"/>
          <p:cNvSpPr/>
          <p:nvPr/>
        </p:nvSpPr>
        <p:spPr>
          <a:xfrm>
            <a:off x="457200" y="5632704"/>
            <a:ext cx="1554480" cy="841248"/>
          </a:xfrm>
          <a:prstGeom prst="roundRect">
            <a:avLst>
              <a:gd name="adj" fmla="val 8696"/>
            </a:avLst>
          </a:prstGeom>
          <a:solidFill>
            <a:srgbClr val="0E1C31"/>
          </a:solidFill>
          <a:ln w="15875">
            <a:solidFill>
              <a:srgbClr val="34D399"/>
            </a:solidFill>
            <a:prstDash val="solid"/>
          </a:ln>
        </p:spPr>
      </p:sp>
      <p:sp>
        <p:nvSpPr>
          <p:cNvPr id="24" name="Text 22"/>
          <p:cNvSpPr txBox="1"/>
          <p:nvPr/>
        </p:nvSpPr>
        <p:spPr>
          <a:xfrm>
            <a:off x="457200" y="5705856"/>
            <a:ext cx="1554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DU</a:t>
            </a:r>
            <a:endParaRPr lang="en-US" sz="1100" dirty="0"/>
          </a:p>
        </p:txBody>
      </p:sp>
      <p:sp>
        <p:nvSpPr>
          <p:cNvPr id="25" name="Text 23"/>
          <p:cNvSpPr txBox="1"/>
          <p:nvPr/>
        </p:nvSpPr>
        <p:spPr>
          <a:xfrm>
            <a:off x="457200" y="6199632"/>
            <a:ext cx="1554480" cy="219456"/>
          </a:xfrm>
          <a:prstGeom prst="rect">
            <a:avLst/>
          </a:prstGeom>
          <a:noFill/>
          <a:ln/>
        </p:spPr>
        <p:txBody>
          <a:bodyPr wrap="square" lIns="0" tIns="0" rIns="0" bIns="0" rtlCol="0" anchor="ctr"/>
          <a:lstStyle/>
          <a:p>
            <a:pPr algn="ctr" indent="0" marL="0">
              <a:buNone/>
            </a:pPr>
            <a:r>
              <a:rPr lang="en-US" sz="800" dirty="0">
                <a:solidFill>
                  <a:srgbClr val="7690AC"/>
                </a:solidFill>
                <a:latin typeface="Calibri" pitchFamily="34" charset="0"/>
                <a:ea typeface="Calibri" pitchFamily="34" charset="-122"/>
                <a:cs typeface="Calibri" pitchFamily="34" charset="-120"/>
              </a:rPr>
              <a:t>fixed · 1 replica</a:t>
            </a:r>
            <a:endParaRPr lang="en-US" sz="800" dirty="0"/>
          </a:p>
        </p:txBody>
      </p:sp>
      <p:sp>
        <p:nvSpPr>
          <p:cNvPr id="26" name="Shape 24"/>
          <p:cNvSpPr/>
          <p:nvPr/>
        </p:nvSpPr>
        <p:spPr>
          <a:xfrm>
            <a:off x="2011680" y="6053328"/>
            <a:ext cx="365760" cy="0"/>
          </a:xfrm>
          <a:prstGeom prst="line">
            <a:avLst/>
          </a:prstGeom>
          <a:noFill/>
          <a:ln w="19050">
            <a:solidFill>
              <a:srgbClr val="34D399"/>
            </a:solidFill>
            <a:prstDash val="solid"/>
            <a:tailEnd type="triangle"/>
          </a:ln>
        </p:spPr>
      </p:sp>
      <p:sp>
        <p:nvSpPr>
          <p:cNvPr id="27" name="Text 25"/>
          <p:cNvSpPr txBox="1"/>
          <p:nvPr/>
        </p:nvSpPr>
        <p:spPr>
          <a:xfrm>
            <a:off x="2011680" y="5742432"/>
            <a:ext cx="365760" cy="182880"/>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F1</a:t>
            </a:r>
            <a:endParaRPr lang="en-US" sz="800" dirty="0"/>
          </a:p>
        </p:txBody>
      </p:sp>
      <p:sp>
        <p:nvSpPr>
          <p:cNvPr id="28" name="Shape 26"/>
          <p:cNvSpPr/>
          <p:nvPr/>
        </p:nvSpPr>
        <p:spPr>
          <a:xfrm>
            <a:off x="2377440" y="5632704"/>
            <a:ext cx="7434072" cy="841248"/>
          </a:xfrm>
          <a:prstGeom prst="roundRect">
            <a:avLst>
              <a:gd name="adj" fmla="val 8696"/>
            </a:avLst>
          </a:prstGeom>
          <a:solidFill>
            <a:srgbClr val="34D399">
              <a:alpha val="10000"/>
            </a:srgbClr>
          </a:solidFill>
          <a:ln w="12700">
            <a:solidFill>
              <a:srgbClr val="34D399"/>
            </a:solidFill>
            <a:prstDash val="dash"/>
          </a:ln>
        </p:spPr>
      </p:sp>
      <p:sp>
        <p:nvSpPr>
          <p:cNvPr id="29" name="Shape 27"/>
          <p:cNvSpPr/>
          <p:nvPr/>
        </p:nvSpPr>
        <p:spPr>
          <a:xfrm>
            <a:off x="3515868" y="6016752"/>
            <a:ext cx="960120" cy="384048"/>
          </a:xfrm>
          <a:prstGeom prst="roundRect">
            <a:avLst>
              <a:gd name="adj" fmla="val 14286"/>
            </a:avLst>
          </a:prstGeom>
          <a:solidFill>
            <a:srgbClr val="0E1C31"/>
          </a:solidFill>
          <a:ln w="19050">
            <a:solidFill>
              <a:srgbClr val="34D399"/>
            </a:solidFill>
            <a:prstDash val="solid"/>
          </a:ln>
        </p:spPr>
      </p:sp>
      <p:sp>
        <p:nvSpPr>
          <p:cNvPr id="30" name="Text 28"/>
          <p:cNvSpPr txBox="1"/>
          <p:nvPr/>
        </p:nvSpPr>
        <p:spPr>
          <a:xfrm>
            <a:off x="3515868" y="6016752"/>
            <a:ext cx="960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a:t>
            </a:r>
            <a:endParaRPr lang="en-US" sz="1000" dirty="0"/>
          </a:p>
        </p:txBody>
      </p:sp>
      <p:sp>
        <p:nvSpPr>
          <p:cNvPr id="31" name="Shape 29"/>
          <p:cNvSpPr/>
          <p:nvPr/>
        </p:nvSpPr>
        <p:spPr>
          <a:xfrm>
            <a:off x="5614416" y="6016752"/>
            <a:ext cx="960120" cy="384048"/>
          </a:xfrm>
          <a:prstGeom prst="roundRect">
            <a:avLst>
              <a:gd name="adj" fmla="val 14286"/>
            </a:avLst>
          </a:prstGeom>
          <a:solidFill>
            <a:srgbClr val="0E1C31"/>
          </a:solidFill>
          <a:ln w="12700">
            <a:solidFill>
              <a:srgbClr val="34D399"/>
            </a:solidFill>
            <a:prstDash val="dash"/>
          </a:ln>
        </p:spPr>
      </p:sp>
      <p:sp>
        <p:nvSpPr>
          <p:cNvPr id="32" name="Text 30"/>
          <p:cNvSpPr txBox="1"/>
          <p:nvPr/>
        </p:nvSpPr>
        <p:spPr>
          <a:xfrm>
            <a:off x="5614416" y="6016752"/>
            <a:ext cx="960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a:t>
            </a:r>
            <a:endParaRPr lang="en-US" sz="1000" dirty="0"/>
          </a:p>
        </p:txBody>
      </p:sp>
      <p:sp>
        <p:nvSpPr>
          <p:cNvPr id="33" name="Shape 31"/>
          <p:cNvSpPr/>
          <p:nvPr/>
        </p:nvSpPr>
        <p:spPr>
          <a:xfrm>
            <a:off x="7712964" y="6016752"/>
            <a:ext cx="960120" cy="384048"/>
          </a:xfrm>
          <a:prstGeom prst="roundRect">
            <a:avLst>
              <a:gd name="adj" fmla="val 14286"/>
            </a:avLst>
          </a:prstGeom>
          <a:solidFill>
            <a:srgbClr val="0E1C31"/>
          </a:solidFill>
          <a:ln w="12700">
            <a:solidFill>
              <a:srgbClr val="34D399"/>
            </a:solidFill>
            <a:prstDash val="dash"/>
          </a:ln>
        </p:spPr>
      </p:sp>
      <p:sp>
        <p:nvSpPr>
          <p:cNvPr id="34" name="Text 32"/>
          <p:cNvSpPr txBox="1"/>
          <p:nvPr/>
        </p:nvSpPr>
        <p:spPr>
          <a:xfrm>
            <a:off x="7712964" y="6016752"/>
            <a:ext cx="960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a:t>
            </a:r>
            <a:endParaRPr lang="en-US" sz="1000" dirty="0"/>
          </a:p>
        </p:txBody>
      </p:sp>
      <p:sp>
        <p:nvSpPr>
          <p:cNvPr id="35" name="Text 33"/>
          <p:cNvSpPr txBox="1"/>
          <p:nvPr/>
        </p:nvSpPr>
        <p:spPr>
          <a:xfrm>
            <a:off x="2377440" y="5687568"/>
            <a:ext cx="7434072" cy="256032"/>
          </a:xfrm>
          <a:prstGeom prst="rect">
            <a:avLst/>
          </a:prstGeom>
          <a:noFill/>
          <a:ln/>
        </p:spPr>
        <p:txBody>
          <a:bodyPr wrap="square" lIns="0" tIns="0" rIns="0" bIns="0" rtlCol="0" anchor="ctr"/>
          <a:lstStyle/>
          <a:p>
            <a:pPr algn="ctr" indent="0" marL="0">
              <a:buNone/>
            </a:pPr>
            <a:r>
              <a:rPr lang="en-US" sz="900" b="1" dirty="0">
                <a:solidFill>
                  <a:srgbClr val="34D399"/>
                </a:solidFill>
                <a:latin typeface="Calibri" pitchFamily="34" charset="0"/>
                <a:ea typeface="Calibri" pitchFamily="34" charset="-122"/>
                <a:cs typeface="Calibri" pitchFamily="34" charset="-120"/>
              </a:rPr>
              <a:t>CU POOL — HPA: 1-3 replicas @ 70% CPU</a:t>
            </a:r>
            <a:endParaRPr lang="en-US" sz="900" dirty="0"/>
          </a:p>
        </p:txBody>
      </p:sp>
      <p:sp>
        <p:nvSpPr>
          <p:cNvPr id="36" name="Shape 34"/>
          <p:cNvSpPr/>
          <p:nvPr/>
        </p:nvSpPr>
        <p:spPr>
          <a:xfrm>
            <a:off x="9811512" y="6053328"/>
            <a:ext cx="365760" cy="0"/>
          </a:xfrm>
          <a:prstGeom prst="line">
            <a:avLst/>
          </a:prstGeom>
          <a:noFill/>
          <a:ln w="19050">
            <a:solidFill>
              <a:srgbClr val="34D399"/>
            </a:solidFill>
            <a:prstDash val="solid"/>
            <a:tailEnd type="triangle"/>
          </a:ln>
        </p:spPr>
      </p:sp>
      <p:sp>
        <p:nvSpPr>
          <p:cNvPr id="37" name="Text 35"/>
          <p:cNvSpPr txBox="1"/>
          <p:nvPr/>
        </p:nvSpPr>
        <p:spPr>
          <a:xfrm>
            <a:off x="9811512" y="5742432"/>
            <a:ext cx="365760" cy="182880"/>
          </a:xfrm>
          <a:prstGeom prst="rect">
            <a:avLst/>
          </a:prstGeom>
          <a:noFill/>
          <a:ln/>
        </p:spPr>
        <p:txBody>
          <a:bodyPr wrap="square" lIns="0" tIns="0" rIns="0" bIns="0" rtlCol="0" anchor="ctr"/>
          <a:lstStyle/>
          <a:p>
            <a:pPr algn="ctr" indent="0" marL="0">
              <a:buNone/>
            </a:pPr>
            <a:r>
              <a:rPr lang="en-US" sz="800" b="1" dirty="0">
                <a:solidFill>
                  <a:srgbClr val="34D399"/>
                </a:solidFill>
                <a:latin typeface="Calibri" pitchFamily="34" charset="0"/>
                <a:ea typeface="Calibri" pitchFamily="34" charset="-122"/>
                <a:cs typeface="Calibri" pitchFamily="34" charset="-120"/>
              </a:rPr>
              <a:t>N2/N3</a:t>
            </a:r>
            <a:endParaRPr lang="en-US" sz="800" dirty="0"/>
          </a:p>
        </p:txBody>
      </p:sp>
      <p:sp>
        <p:nvSpPr>
          <p:cNvPr id="38" name="Shape 36"/>
          <p:cNvSpPr/>
          <p:nvPr/>
        </p:nvSpPr>
        <p:spPr>
          <a:xfrm>
            <a:off x="10177272" y="5632704"/>
            <a:ext cx="1554480" cy="841248"/>
          </a:xfrm>
          <a:prstGeom prst="roundRect">
            <a:avLst>
              <a:gd name="adj" fmla="val 8696"/>
            </a:avLst>
          </a:prstGeom>
          <a:solidFill>
            <a:srgbClr val="0E1C31"/>
          </a:solidFill>
          <a:ln w="15875">
            <a:solidFill>
              <a:srgbClr val="34D399"/>
            </a:solidFill>
            <a:prstDash val="solid"/>
          </a:ln>
        </p:spPr>
      </p:sp>
      <p:sp>
        <p:nvSpPr>
          <p:cNvPr id="39" name="Text 37"/>
          <p:cNvSpPr txBox="1"/>
          <p:nvPr/>
        </p:nvSpPr>
        <p:spPr>
          <a:xfrm>
            <a:off x="10177272" y="5916168"/>
            <a:ext cx="1554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5G Core</a:t>
            </a:r>
            <a:endParaRPr lang="en-US" sz="1100" dirty="0"/>
          </a:p>
        </p:txBody>
      </p:sp>
      <p:sp>
        <p:nvSpPr>
          <p:cNvPr id="40" name="Text 3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41" name="Text 3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09 / 24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078992" cy="292608"/>
          </a:xfrm>
          <a:prstGeom prst="roundRect">
            <a:avLst>
              <a:gd name="adj" fmla="val 18750"/>
            </a:avLst>
          </a:prstGeom>
          <a:solidFill>
            <a:srgbClr val="34D399">
              <a:alpha val="14000"/>
            </a:srgbClr>
          </a:solidFill>
          <a:ln w="9525">
            <a:solidFill>
              <a:srgbClr val="34D399"/>
            </a:solidFill>
            <a:prstDash val="solid"/>
          </a:ln>
        </p:spPr>
      </p:sp>
      <p:sp>
        <p:nvSpPr>
          <p:cNvPr id="3" name="Text 1"/>
          <p:cNvSpPr txBox="1"/>
          <p:nvPr/>
        </p:nvSpPr>
        <p:spPr>
          <a:xfrm>
            <a:off x="457200" y="384048"/>
            <a:ext cx="1078992" cy="292608"/>
          </a:xfrm>
          <a:prstGeom prst="rect">
            <a:avLst/>
          </a:prstGeom>
          <a:noFill/>
          <a:ln/>
        </p:spPr>
        <p:txBody>
          <a:bodyPr wrap="none" lIns="0" tIns="0" rIns="0" bIns="0" rtlCol="0" anchor="ctr"/>
          <a:lstStyle/>
          <a:p>
            <a:pPr algn="ctr" indent="0" marL="0">
              <a:buNone/>
            </a:pPr>
            <a:r>
              <a:rPr lang="en-US" sz="1050" b="1" spc="110" kern="0" dirty="0">
                <a:solidFill>
                  <a:srgbClr val="34D399"/>
                </a:solidFill>
                <a:latin typeface="Calibri" pitchFamily="34" charset="0"/>
                <a:ea typeface="Calibri" pitchFamily="34" charset="-122"/>
                <a:cs typeface="Calibri" pitchFamily="34" charset="-120"/>
              </a:rPr>
              <a:t>V-CRAN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Virtualized Cloud-RAN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34D399"/>
                </a:solidFill>
                <a:latin typeface="Calibri" pitchFamily="34" charset="0"/>
                <a:ea typeface="Calibri" pitchFamily="34" charset="-122"/>
                <a:cs typeface="Calibri" pitchFamily="34" charset="-120"/>
              </a:rPr>
              <a:t>Advantages, trade-offs, and where it is used in industry</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34D399">
                    <a:alpha val="20000"/>
                  </a:srgbClr>
                </a:solidFill>
                <a:latin typeface="Cambria" pitchFamily="34" charset="0"/>
                <a:ea typeface="Cambria" pitchFamily="34" charset="-122"/>
                <a:cs typeface="Cambria" pitchFamily="34" charset="-120"/>
              </a:rPr>
              <a:t>04</a:t>
            </a:r>
            <a:endParaRPr lang="en-US" sz="5200" dirty="0"/>
          </a:p>
        </p:txBody>
      </p:sp>
      <p:sp>
        <p:nvSpPr>
          <p:cNvPr id="7" name="Shape 5"/>
          <p:cNvSpPr/>
          <p:nvPr/>
        </p:nvSpPr>
        <p:spPr>
          <a:xfrm>
            <a:off x="457200" y="1828800"/>
            <a:ext cx="5532120" cy="2788920"/>
          </a:xfrm>
          <a:prstGeom prst="roundRect">
            <a:avLst>
              <a:gd name="adj" fmla="val 2951"/>
            </a:avLst>
          </a:prstGeom>
          <a:solidFill>
            <a:srgbClr val="12233D"/>
          </a:solidFill>
          <a:ln w="9525">
            <a:solidFill>
              <a:srgbClr val="1F3557"/>
            </a:solidFill>
            <a:prstDash val="solid"/>
          </a:ln>
        </p:spPr>
      </p:sp>
      <p:sp>
        <p:nvSpPr>
          <p:cNvPr id="8" name="Shape 6"/>
          <p:cNvSpPr/>
          <p:nvPr/>
        </p:nvSpPr>
        <p:spPr>
          <a:xfrm>
            <a:off x="658368" y="2011680"/>
            <a:ext cx="237744" cy="237744"/>
          </a:xfrm>
          <a:prstGeom prst="ellipse">
            <a:avLst/>
          </a:prstGeom>
          <a:solidFill>
            <a:srgbClr val="34D399">
              <a:alpha val="20000"/>
            </a:srgbClr>
          </a:solidFill>
          <a:ln w="12700">
            <a:solidFill>
              <a:srgbClr val="34D399"/>
            </a:solidFill>
            <a:prstDash val="solid"/>
          </a:ln>
        </p:spPr>
      </p:sp>
      <p:sp>
        <p:nvSpPr>
          <p:cNvPr id="9" name="Text 7"/>
          <p:cNvSpPr txBox="1"/>
          <p:nvPr/>
        </p:nvSpPr>
        <p:spPr>
          <a:xfrm>
            <a:off x="658368" y="2006194"/>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87552"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Advantages</a:t>
            </a:r>
            <a:endParaRPr lang="en-US" sz="1300" dirty="0"/>
          </a:p>
        </p:txBody>
      </p:sp>
      <p:sp>
        <p:nvSpPr>
          <p:cNvPr id="11" name="Text 9"/>
          <p:cNvSpPr txBox="1"/>
          <p:nvPr/>
        </p:nvSpPr>
        <p:spPr>
          <a:xfrm>
            <a:off x="694944" y="2340864"/>
            <a:ext cx="5074920" cy="2167128"/>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Capacity tracks real-time demand instead of worst-case provisioning</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Idle capacity is reclaimed automatically between busy periods</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Anti-affinity improves resilience to a single node failing</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Fully cloud-native operational model — same tooling as any other workload</a:t>
            </a:r>
            <a:endParaRPr lang="en-US" sz="1060" dirty="0"/>
          </a:p>
        </p:txBody>
      </p:sp>
      <p:sp>
        <p:nvSpPr>
          <p:cNvPr id="12" name="Shape 10"/>
          <p:cNvSpPr/>
          <p:nvPr/>
        </p:nvSpPr>
        <p:spPr>
          <a:xfrm>
            <a:off x="6199632" y="1828800"/>
            <a:ext cx="5532120" cy="2788920"/>
          </a:xfrm>
          <a:prstGeom prst="roundRect">
            <a:avLst>
              <a:gd name="adj" fmla="val 2951"/>
            </a:avLst>
          </a:prstGeom>
          <a:solidFill>
            <a:srgbClr val="12233D"/>
          </a:solidFill>
          <a:ln w="9525">
            <a:solidFill>
              <a:srgbClr val="1F3557"/>
            </a:solidFill>
            <a:prstDash val="solid"/>
          </a:ln>
        </p:spPr>
      </p:sp>
      <p:sp>
        <p:nvSpPr>
          <p:cNvPr id="13" name="Shape 11"/>
          <p:cNvSpPr/>
          <p:nvPr/>
        </p:nvSpPr>
        <p:spPr>
          <a:xfrm>
            <a:off x="6400800" y="2011680"/>
            <a:ext cx="237744" cy="237744"/>
          </a:xfrm>
          <a:prstGeom prst="ellipse">
            <a:avLst/>
          </a:prstGeom>
          <a:solidFill>
            <a:srgbClr val="F2A65A">
              <a:alpha val="20000"/>
            </a:srgbClr>
          </a:solidFill>
          <a:ln w="12700">
            <a:solidFill>
              <a:srgbClr val="F2A65A"/>
            </a:solidFill>
            <a:prstDash val="solid"/>
          </a:ln>
        </p:spPr>
      </p:sp>
      <p:sp>
        <p:nvSpPr>
          <p:cNvPr id="14" name="Text 12"/>
          <p:cNvSpPr txBox="1"/>
          <p:nvPr/>
        </p:nvSpPr>
        <p:spPr>
          <a:xfrm>
            <a:off x="6400800" y="2006194"/>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6729984"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Trade-offs</a:t>
            </a:r>
            <a:endParaRPr lang="en-US" sz="1300" dirty="0"/>
          </a:p>
        </p:txBody>
      </p:sp>
      <p:sp>
        <p:nvSpPr>
          <p:cNvPr id="16" name="Text 14"/>
          <p:cNvSpPr txBox="1"/>
          <p:nvPr/>
        </p:nvSpPr>
        <p:spPr>
          <a:xfrm>
            <a:off x="6437376" y="2322576"/>
            <a:ext cx="5074920" cy="1371600"/>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F1's SCTP association is long-lived — scaling out doesn't rebalance a DU already connected</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A combined CU (not split into CU-CP/CU-UP) limits how far user-plane load alone can scale</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On a single node, autoscaling is bounded by whatever capacity is left</a:t>
            </a:r>
            <a:endParaRPr lang="en-US" sz="1060" dirty="0"/>
          </a:p>
        </p:txBody>
      </p:sp>
      <p:sp>
        <p:nvSpPr>
          <p:cNvPr id="17" name="Shape 15"/>
          <p:cNvSpPr/>
          <p:nvPr/>
        </p:nvSpPr>
        <p:spPr>
          <a:xfrm>
            <a:off x="6437376" y="3712464"/>
            <a:ext cx="5074920" cy="0"/>
          </a:xfrm>
          <a:prstGeom prst="line">
            <a:avLst/>
          </a:prstGeom>
          <a:noFill/>
          <a:ln w="9525">
            <a:solidFill>
              <a:srgbClr val="1F3557"/>
            </a:solidFill>
            <a:prstDash val="solid"/>
          </a:ln>
        </p:spPr>
      </p:sp>
      <p:sp>
        <p:nvSpPr>
          <p:cNvPr id="18" name="Text 16"/>
          <p:cNvSpPr txBox="1"/>
          <p:nvPr/>
        </p:nvSpPr>
        <p:spPr>
          <a:xfrm>
            <a:off x="6437376" y="3794760"/>
            <a:ext cx="5074920" cy="182880"/>
          </a:xfrm>
          <a:prstGeom prst="rect">
            <a:avLst/>
          </a:prstGeom>
          <a:noFill/>
          <a:ln/>
        </p:spPr>
        <p:txBody>
          <a:bodyPr wrap="square" lIns="0" tIns="0" rIns="0" bIns="0" rtlCol="0" anchor="ctr"/>
          <a:lstStyle/>
          <a:p>
            <a:pPr indent="0" marL="0">
              <a:buNone/>
            </a:pPr>
            <a:r>
              <a:rPr lang="en-US" sz="850" b="1" spc="100" kern="0" dirty="0">
                <a:solidFill>
                  <a:srgbClr val="F2A65A"/>
                </a:solidFill>
                <a:latin typeface="Calibri" pitchFamily="34" charset="0"/>
                <a:ea typeface="Calibri" pitchFamily="34" charset="-122"/>
                <a:cs typeface="Calibri" pitchFamily="34" charset="-120"/>
              </a:rPr>
              <a:t>HOW IT'S ADDRESSED</a:t>
            </a:r>
            <a:endParaRPr lang="en-US" sz="850" dirty="0"/>
          </a:p>
        </p:txBody>
      </p:sp>
      <p:sp>
        <p:nvSpPr>
          <p:cNvPr id="19" name="Text 17"/>
          <p:cNvSpPr txBox="1"/>
          <p:nvPr/>
        </p:nvSpPr>
        <p:spPr>
          <a:xfrm>
            <a:off x="6437376" y="3986784"/>
            <a:ext cx="5074920" cy="539496"/>
          </a:xfrm>
          <a:prstGeom prst="rect">
            <a:avLst/>
          </a:prstGeom>
          <a:noFill/>
          <a:ln/>
        </p:spPr>
        <p:txBody>
          <a:bodyPr wrap="square" lIns="0" tIns="0" rIns="0" bIns="0" rtlCol="0" anchor="t"/>
          <a:lstStyle/>
          <a:p>
            <a:pPr indent="0" marL="0">
              <a:lnSpc>
                <a:spcPct val="110000"/>
              </a:lnSpc>
              <a:buNone/>
            </a:pPr>
            <a:r>
              <a:rPr lang="en-US" sz="980" dirty="0">
                <a:solidFill>
                  <a:srgbClr val="AFC5DE"/>
                </a:solidFill>
                <a:latin typeface="Calibri" pitchFamily="34" charset="0"/>
                <a:ea typeface="Calibri" pitchFamily="34" charset="-122"/>
                <a:cs typeface="Calibri" pitchFamily="34" charset="-120"/>
              </a:rPr>
              <a:t>Production systems split CU-CP and CU-UP over E1 so only the user plane — the part that scales with traffic — needs extra replicas; a multi-node cluster removes the single-node ceiling.</a:t>
            </a:r>
            <a:endParaRPr lang="en-US" sz="980" dirty="0"/>
          </a:p>
        </p:txBody>
      </p:sp>
      <p:sp>
        <p:nvSpPr>
          <p:cNvPr id="20" name="Shape 18"/>
          <p:cNvSpPr/>
          <p:nvPr/>
        </p:nvSpPr>
        <p:spPr>
          <a:xfrm>
            <a:off x="457200" y="4800600"/>
            <a:ext cx="11274552" cy="1600200"/>
          </a:xfrm>
          <a:prstGeom prst="roundRect">
            <a:avLst>
              <a:gd name="adj" fmla="val 5143"/>
            </a:avLst>
          </a:prstGeom>
          <a:solidFill>
            <a:srgbClr val="12233D"/>
          </a:solidFill>
          <a:ln w="9525">
            <a:solidFill>
              <a:srgbClr val="1F3557"/>
            </a:solidFill>
            <a:prstDash val="solid"/>
          </a:ln>
        </p:spPr>
      </p:sp>
      <p:sp>
        <p:nvSpPr>
          <p:cNvPr id="21" name="Shape 19"/>
          <p:cNvSpPr/>
          <p:nvPr/>
        </p:nvSpPr>
        <p:spPr>
          <a:xfrm>
            <a:off x="658368" y="4965192"/>
            <a:ext cx="237744" cy="237744"/>
          </a:xfrm>
          <a:prstGeom prst="ellipse">
            <a:avLst/>
          </a:prstGeom>
          <a:solidFill>
            <a:srgbClr val="1C7293">
              <a:alpha val="20000"/>
            </a:srgbClr>
          </a:solidFill>
          <a:ln w="12700">
            <a:solidFill>
              <a:srgbClr val="1C7293"/>
            </a:solidFill>
            <a:prstDash val="solid"/>
          </a:ln>
        </p:spPr>
      </p:sp>
      <p:sp>
        <p:nvSpPr>
          <p:cNvPr id="22" name="Text 20"/>
          <p:cNvSpPr txBox="1"/>
          <p:nvPr/>
        </p:nvSpPr>
        <p:spPr>
          <a:xfrm>
            <a:off x="658368" y="495970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n</a:t>
            </a:r>
            <a:endParaRPr lang="en-US" sz="1100" dirty="0"/>
          </a:p>
        </p:txBody>
      </p:sp>
      <p:sp>
        <p:nvSpPr>
          <p:cNvPr id="23" name="Text 21"/>
          <p:cNvSpPr txBox="1"/>
          <p:nvPr/>
        </p:nvSpPr>
        <p:spPr>
          <a:xfrm>
            <a:off x="987552" y="4928616"/>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Where it's used in industry</a:t>
            </a:r>
            <a:endParaRPr lang="en-US" sz="1250" dirty="0"/>
          </a:p>
        </p:txBody>
      </p:sp>
      <p:sp>
        <p:nvSpPr>
          <p:cNvPr id="24" name="Text 22"/>
          <p:cNvSpPr txBox="1"/>
          <p:nvPr/>
        </p:nvSpPr>
        <p:spPr>
          <a:xfrm>
            <a:off x="694944" y="5257800"/>
            <a:ext cx="10789920" cy="1033272"/>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The direction 5G RAN cloudification is heading industry-wide</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Rakuten Symphony and major telco-cloud offerings orchestrate RAN this way</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Active area of Kubernetes-based RAN orchestration research</a:t>
            </a:r>
            <a:endParaRPr lang="en-US" sz="1040" dirty="0"/>
          </a:p>
        </p:txBody>
      </p:sp>
      <p:sp>
        <p:nvSpPr>
          <p:cNvPr id="25" name="Text 23"/>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6" name="Text 24"/>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10 / 24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078992" cy="292608"/>
          </a:xfrm>
          <a:prstGeom prst="roundRect">
            <a:avLst>
              <a:gd name="adj" fmla="val 18750"/>
            </a:avLst>
          </a:prstGeom>
          <a:solidFill>
            <a:srgbClr val="F2A65A">
              <a:alpha val="14000"/>
            </a:srgbClr>
          </a:solidFill>
          <a:ln w="9525">
            <a:solidFill>
              <a:srgbClr val="F2A65A"/>
            </a:solidFill>
            <a:prstDash val="solid"/>
          </a:ln>
        </p:spPr>
      </p:sp>
      <p:sp>
        <p:nvSpPr>
          <p:cNvPr id="3" name="Text 1"/>
          <p:cNvSpPr txBox="1"/>
          <p:nvPr/>
        </p:nvSpPr>
        <p:spPr>
          <a:xfrm>
            <a:off x="457200" y="384048"/>
            <a:ext cx="1078992" cy="292608"/>
          </a:xfrm>
          <a:prstGeom prst="rect">
            <a:avLst/>
          </a:prstGeom>
          <a:noFill/>
          <a:ln/>
        </p:spPr>
        <p:txBody>
          <a:bodyPr wrap="none" lIns="0" tIns="0" rIns="0" bIns="0" rtlCol="0" anchor="ctr"/>
          <a:lstStyle/>
          <a:p>
            <a:pPr algn="ctr" indent="0" marL="0">
              <a:buNone/>
            </a:pPr>
            <a:r>
              <a:rPr lang="en-US" sz="1050" b="1" spc="110" kern="0" dirty="0">
                <a:solidFill>
                  <a:srgbClr val="F2A65A"/>
                </a:solidFill>
                <a:latin typeface="Calibri" pitchFamily="34" charset="0"/>
                <a:ea typeface="Calibri" pitchFamily="34" charset="-122"/>
                <a:cs typeface="Calibri" pitchFamily="34" charset="-120"/>
              </a:rPr>
              <a:t>H-CRAN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Heterogeneous Cloud-RAN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F2A65A"/>
                </a:solidFill>
                <a:latin typeface="Calibri" pitchFamily="34" charset="0"/>
                <a:ea typeface="Calibri" pitchFamily="34" charset="-122"/>
                <a:cs typeface="Calibri" pitchFamily="34" charset="-120"/>
              </a:rPr>
              <a:t>Macro coverage plus small-cell capacity, coordinated centrally.</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F2A65A">
                    <a:alpha val="20000"/>
                  </a:srgbClr>
                </a:solidFill>
                <a:latin typeface="Cambria" pitchFamily="34" charset="0"/>
                <a:ea typeface="Cambria" pitchFamily="34" charset="-122"/>
                <a:cs typeface="Cambria" pitchFamily="34" charset="-120"/>
              </a:rPr>
              <a:t>05</a:t>
            </a:r>
            <a:endParaRPr lang="en-US" sz="5200" dirty="0"/>
          </a:p>
        </p:txBody>
      </p:sp>
      <p:sp>
        <p:nvSpPr>
          <p:cNvPr id="7" name="Shape 5"/>
          <p:cNvSpPr/>
          <p:nvPr/>
        </p:nvSpPr>
        <p:spPr>
          <a:xfrm>
            <a:off x="457200" y="1920240"/>
            <a:ext cx="5486400" cy="1691640"/>
          </a:xfrm>
          <a:prstGeom prst="roundRect">
            <a:avLst>
              <a:gd name="adj" fmla="val 4865"/>
            </a:avLst>
          </a:prstGeom>
          <a:solidFill>
            <a:srgbClr val="12233D"/>
          </a:solidFill>
          <a:ln w="9525">
            <a:solidFill>
              <a:srgbClr val="1F3557"/>
            </a:solidFill>
            <a:prstDash val="solid"/>
          </a:ln>
        </p:spPr>
      </p:sp>
      <p:sp>
        <p:nvSpPr>
          <p:cNvPr id="8" name="Shape 6"/>
          <p:cNvSpPr/>
          <p:nvPr/>
        </p:nvSpPr>
        <p:spPr>
          <a:xfrm>
            <a:off x="658368" y="2103120"/>
            <a:ext cx="237744" cy="237744"/>
          </a:xfrm>
          <a:prstGeom prst="ellipse">
            <a:avLst/>
          </a:prstGeom>
          <a:solidFill>
            <a:srgbClr val="1C7293">
              <a:alpha val="20000"/>
            </a:srgbClr>
          </a:solidFill>
          <a:ln w="12700">
            <a:solidFill>
              <a:srgbClr val="1C7293"/>
            </a:solidFill>
            <a:prstDash val="solid"/>
          </a:ln>
        </p:spPr>
      </p:sp>
      <p:sp>
        <p:nvSpPr>
          <p:cNvPr id="9" name="Text 7"/>
          <p:cNvSpPr txBox="1"/>
          <p:nvPr/>
        </p:nvSpPr>
        <p:spPr>
          <a:xfrm>
            <a:off x="658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i</a:t>
            </a:r>
            <a:endParaRPr lang="en-US" sz="1100" dirty="0"/>
          </a:p>
        </p:txBody>
      </p:sp>
      <p:sp>
        <p:nvSpPr>
          <p:cNvPr id="10" name="Text 8"/>
          <p:cNvSpPr txBox="1"/>
          <p:nvPr/>
        </p:nvSpPr>
        <p:spPr>
          <a:xfrm>
            <a:off x="987552" y="2066544"/>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Definition</a:t>
            </a:r>
            <a:endParaRPr lang="en-US" sz="1300" dirty="0"/>
          </a:p>
        </p:txBody>
      </p:sp>
      <p:sp>
        <p:nvSpPr>
          <p:cNvPr id="11" name="Text 9"/>
          <p:cNvSpPr txBox="1"/>
          <p:nvPr/>
        </p:nvSpPr>
        <p:spPr>
          <a:xfrm>
            <a:off x="694944" y="2432304"/>
            <a:ext cx="5029200" cy="10698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A wide-coverage macro cell anchors control and mobility, while small cells absorb local traffic demand — the cells differ deliberately in power, bandwidth and coverage radius, coordinated by one cloud-hosted core.</a:t>
            </a:r>
            <a:endParaRPr lang="en-US" sz="1060" dirty="0"/>
          </a:p>
        </p:txBody>
      </p:sp>
      <p:sp>
        <p:nvSpPr>
          <p:cNvPr id="12" name="Shape 10"/>
          <p:cNvSpPr/>
          <p:nvPr/>
        </p:nvSpPr>
        <p:spPr>
          <a:xfrm>
            <a:off x="457200" y="3730752"/>
            <a:ext cx="5486400" cy="1481328"/>
          </a:xfrm>
          <a:prstGeom prst="roundRect">
            <a:avLst>
              <a:gd name="adj" fmla="val 5556"/>
            </a:avLst>
          </a:prstGeom>
          <a:solidFill>
            <a:srgbClr val="12233D"/>
          </a:solidFill>
          <a:ln w="9525">
            <a:solidFill>
              <a:srgbClr val="1F3557"/>
            </a:solidFill>
            <a:prstDash val="solid"/>
          </a:ln>
        </p:spPr>
      </p:sp>
      <p:sp>
        <p:nvSpPr>
          <p:cNvPr id="13" name="Shape 11"/>
          <p:cNvSpPr/>
          <p:nvPr/>
        </p:nvSpPr>
        <p:spPr>
          <a:xfrm>
            <a:off x="658368" y="3913632"/>
            <a:ext cx="237744" cy="237744"/>
          </a:xfrm>
          <a:prstGeom prst="ellipse">
            <a:avLst/>
          </a:prstGeom>
          <a:solidFill>
            <a:srgbClr val="F2A65A">
              <a:alpha val="20000"/>
            </a:srgbClr>
          </a:solidFill>
          <a:ln w="12700">
            <a:solidFill>
              <a:srgbClr val="F2A65A"/>
            </a:solidFill>
            <a:prstDash val="solid"/>
          </a:ln>
        </p:spPr>
      </p:sp>
      <p:sp>
        <p:nvSpPr>
          <p:cNvPr id="14" name="Text 12"/>
          <p:cNvSpPr txBox="1"/>
          <p:nvPr/>
        </p:nvSpPr>
        <p:spPr>
          <a:xfrm>
            <a:off x="658368" y="3908146"/>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e</a:t>
            </a:r>
            <a:endParaRPr lang="en-US" sz="1100" dirty="0"/>
          </a:p>
        </p:txBody>
      </p:sp>
      <p:sp>
        <p:nvSpPr>
          <p:cNvPr id="15" name="Text 13"/>
          <p:cNvSpPr txBox="1"/>
          <p:nvPr/>
        </p:nvSpPr>
        <p:spPr>
          <a:xfrm>
            <a:off x="987552" y="3877056"/>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Example in this platform</a:t>
            </a:r>
            <a:endParaRPr lang="en-US" sz="1300" dirty="0"/>
          </a:p>
        </p:txBody>
      </p:sp>
      <p:sp>
        <p:nvSpPr>
          <p:cNvPr id="16" name="Text 14"/>
          <p:cNvSpPr txBox="1"/>
          <p:nvPr/>
        </p:nvSpPr>
        <p:spPr>
          <a:xfrm>
            <a:off x="694944" y="4242816"/>
            <a:ext cx="5029200" cy="859536"/>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One 'macro' gNB (PCI 1, higher tx power, lower compute) and one 'small' gNB (PCI 2, lower tx power, higher compute), both attached to the same AMF at once.</a:t>
            </a:r>
            <a:endParaRPr lang="en-US" sz="1040" dirty="0"/>
          </a:p>
        </p:txBody>
      </p:sp>
      <p:sp>
        <p:nvSpPr>
          <p:cNvPr id="17" name="Shape 15"/>
          <p:cNvSpPr/>
          <p:nvPr/>
        </p:nvSpPr>
        <p:spPr>
          <a:xfrm>
            <a:off x="6172200" y="1920240"/>
            <a:ext cx="5559552" cy="3291840"/>
          </a:xfrm>
          <a:prstGeom prst="roundRect">
            <a:avLst>
              <a:gd name="adj" fmla="val 2500"/>
            </a:avLst>
          </a:prstGeom>
          <a:solidFill>
            <a:srgbClr val="12233D"/>
          </a:solidFill>
          <a:ln w="9525">
            <a:solidFill>
              <a:srgbClr val="1F3557"/>
            </a:solidFill>
            <a:prstDash val="solid"/>
          </a:ln>
        </p:spPr>
      </p:sp>
      <p:sp>
        <p:nvSpPr>
          <p:cNvPr id="18" name="Shape 16"/>
          <p:cNvSpPr/>
          <p:nvPr/>
        </p:nvSpPr>
        <p:spPr>
          <a:xfrm>
            <a:off x="6373368" y="2103120"/>
            <a:ext cx="237744" cy="237744"/>
          </a:xfrm>
          <a:prstGeom prst="ellipse">
            <a:avLst/>
          </a:prstGeom>
          <a:solidFill>
            <a:srgbClr val="1C7293">
              <a:alpha val="20000"/>
            </a:srgbClr>
          </a:solidFill>
          <a:ln w="12700">
            <a:solidFill>
              <a:srgbClr val="1C7293"/>
            </a:solidFill>
            <a:prstDash val="solid"/>
          </a:ln>
        </p:spPr>
      </p:sp>
      <p:sp>
        <p:nvSpPr>
          <p:cNvPr id="19" name="Text 17"/>
          <p:cNvSpPr txBox="1"/>
          <p:nvPr/>
        </p:nvSpPr>
        <p:spPr>
          <a:xfrm>
            <a:off x="6373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c</a:t>
            </a:r>
            <a:endParaRPr lang="en-US" sz="1100" dirty="0"/>
          </a:p>
        </p:txBody>
      </p:sp>
      <p:sp>
        <p:nvSpPr>
          <p:cNvPr id="20" name="Text 18"/>
          <p:cNvSpPr txBox="1"/>
          <p:nvPr/>
        </p:nvSpPr>
        <p:spPr>
          <a:xfrm>
            <a:off x="6702552" y="2066544"/>
            <a:ext cx="4828032"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Characteristics</a:t>
            </a:r>
            <a:endParaRPr lang="en-US" sz="1300" dirty="0"/>
          </a:p>
        </p:txBody>
      </p:sp>
      <p:sp>
        <p:nvSpPr>
          <p:cNvPr id="21" name="Text 19"/>
          <p:cNvSpPr txBox="1"/>
          <p:nvPr/>
        </p:nvSpPr>
        <p:spPr>
          <a:xfrm>
            <a:off x="6409944" y="2432304"/>
            <a:ext cx="5102352" cy="26700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Deliberately heterogeneous cell tiers, not identical repeated cells</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Macro carries control/mobility; small cells carry local data traffic</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Requires coordinated scheduling to limit inter-cell interference</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One shared cloud-hosted core serves every tier</a:t>
            </a:r>
            <a:endParaRPr lang="en-US" sz="1060" dirty="0"/>
          </a:p>
        </p:txBody>
      </p:sp>
      <p:sp>
        <p:nvSpPr>
          <p:cNvPr id="22" name="Text 20"/>
          <p:cNvSpPr txBox="1"/>
          <p:nvPr/>
        </p:nvSpPr>
        <p:spPr>
          <a:xfrm>
            <a:off x="457200" y="5358384"/>
            <a:ext cx="5486400" cy="237744"/>
          </a:xfrm>
          <a:prstGeom prst="rect">
            <a:avLst/>
          </a:prstGeom>
          <a:noFill/>
          <a:ln/>
        </p:spPr>
        <p:txBody>
          <a:bodyPr wrap="square" lIns="0" tIns="0" rIns="0" bIns="0" rtlCol="0" anchor="ctr"/>
          <a:lstStyle/>
          <a:p>
            <a:pPr indent="0" marL="0">
              <a:buNone/>
            </a:pPr>
            <a:r>
              <a:rPr lang="en-US" sz="950" b="1" spc="120" kern="0" dirty="0">
                <a:solidFill>
                  <a:srgbClr val="7690AC"/>
                </a:solidFill>
                <a:latin typeface="Calibri" pitchFamily="34" charset="0"/>
                <a:ea typeface="Calibri" pitchFamily="34" charset="-122"/>
                <a:cs typeface="Calibri" pitchFamily="34" charset="-120"/>
              </a:rPr>
              <a:t>NETWORK ARCHITECTURE</a:t>
            </a:r>
            <a:endParaRPr lang="en-US" sz="950" dirty="0"/>
          </a:p>
        </p:txBody>
      </p:sp>
      <p:sp>
        <p:nvSpPr>
          <p:cNvPr id="23" name="Shape 21"/>
          <p:cNvSpPr/>
          <p:nvPr/>
        </p:nvSpPr>
        <p:spPr>
          <a:xfrm>
            <a:off x="457200" y="5632704"/>
            <a:ext cx="3063240" cy="365760"/>
          </a:xfrm>
          <a:prstGeom prst="roundRect">
            <a:avLst>
              <a:gd name="adj" fmla="val 17500"/>
            </a:avLst>
          </a:prstGeom>
          <a:solidFill>
            <a:srgbClr val="0E1C31"/>
          </a:solidFill>
          <a:ln w="15875">
            <a:solidFill>
              <a:srgbClr val="1C7293"/>
            </a:solidFill>
            <a:prstDash val="solid"/>
          </a:ln>
        </p:spPr>
      </p:sp>
      <p:sp>
        <p:nvSpPr>
          <p:cNvPr id="24" name="Text 22"/>
          <p:cNvSpPr txBox="1"/>
          <p:nvPr/>
        </p:nvSpPr>
        <p:spPr>
          <a:xfrm>
            <a:off x="603504" y="5632704"/>
            <a:ext cx="2770632"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Macro Cell   </a:t>
            </a:r>
            <a:pPr indent="0" marL="0">
              <a:buNone/>
            </a:pPr>
            <a:r>
              <a:rPr lang="en-US" sz="800" dirty="0">
                <a:solidFill>
                  <a:srgbClr val="7690AC"/>
                </a:solidFill>
                <a:latin typeface="Calibri" pitchFamily="34" charset="0"/>
                <a:ea typeface="Calibri" pitchFamily="34" charset="-122"/>
                <a:cs typeface="Calibri" pitchFamily="34" charset="-120"/>
              </a:rPr>
              <a:t>wide coverage · control anchor</a:t>
            </a:r>
            <a:endParaRPr lang="en-US" sz="1050" dirty="0"/>
          </a:p>
        </p:txBody>
      </p:sp>
      <p:sp>
        <p:nvSpPr>
          <p:cNvPr id="25" name="Shape 23"/>
          <p:cNvSpPr/>
          <p:nvPr/>
        </p:nvSpPr>
        <p:spPr>
          <a:xfrm>
            <a:off x="457200" y="6108192"/>
            <a:ext cx="3063240" cy="365760"/>
          </a:xfrm>
          <a:prstGeom prst="roundRect">
            <a:avLst>
              <a:gd name="adj" fmla="val 17500"/>
            </a:avLst>
          </a:prstGeom>
          <a:solidFill>
            <a:srgbClr val="0E1C31"/>
          </a:solidFill>
          <a:ln w="15875">
            <a:solidFill>
              <a:srgbClr val="F2A65A"/>
            </a:solidFill>
            <a:prstDash val="solid"/>
          </a:ln>
        </p:spPr>
      </p:sp>
      <p:sp>
        <p:nvSpPr>
          <p:cNvPr id="26" name="Text 24"/>
          <p:cNvSpPr txBox="1"/>
          <p:nvPr/>
        </p:nvSpPr>
        <p:spPr>
          <a:xfrm>
            <a:off x="603504" y="6108192"/>
            <a:ext cx="2770632"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Small Cell   </a:t>
            </a:r>
            <a:pPr indent="0" marL="0">
              <a:buNone/>
            </a:pPr>
            <a:r>
              <a:rPr lang="en-US" sz="800" dirty="0">
                <a:solidFill>
                  <a:srgbClr val="7690AC"/>
                </a:solidFill>
                <a:latin typeface="Calibri" pitchFamily="34" charset="0"/>
                <a:ea typeface="Calibri" pitchFamily="34" charset="-122"/>
                <a:cs typeface="Calibri" pitchFamily="34" charset="-120"/>
              </a:rPr>
              <a:t>local capacity · higher compute</a:t>
            </a:r>
            <a:endParaRPr lang="en-US" sz="1050" dirty="0"/>
          </a:p>
        </p:txBody>
      </p:sp>
      <p:sp>
        <p:nvSpPr>
          <p:cNvPr id="27" name="Shape 25"/>
          <p:cNvSpPr/>
          <p:nvPr/>
        </p:nvSpPr>
        <p:spPr>
          <a:xfrm>
            <a:off x="3520440" y="5815584"/>
            <a:ext cx="3081528" cy="237744"/>
          </a:xfrm>
          <a:prstGeom prst="line">
            <a:avLst/>
          </a:prstGeom>
          <a:noFill/>
          <a:ln w="19050">
            <a:solidFill>
              <a:srgbClr val="1C7293"/>
            </a:solidFill>
            <a:prstDash val="solid"/>
          </a:ln>
        </p:spPr>
      </p:sp>
      <p:sp>
        <p:nvSpPr>
          <p:cNvPr id="28" name="Shape 26"/>
          <p:cNvSpPr/>
          <p:nvPr/>
        </p:nvSpPr>
        <p:spPr>
          <a:xfrm flipV="1">
            <a:off x="3520440" y="6291072"/>
            <a:ext cx="3081528" cy="237744"/>
          </a:xfrm>
          <a:prstGeom prst="line">
            <a:avLst/>
          </a:prstGeom>
          <a:noFill/>
          <a:ln w="19050">
            <a:solidFill>
              <a:srgbClr val="F2A65A"/>
            </a:solidFill>
            <a:prstDash val="solid"/>
          </a:ln>
        </p:spPr>
      </p:sp>
      <p:sp>
        <p:nvSpPr>
          <p:cNvPr id="29" name="Shape 27"/>
          <p:cNvSpPr/>
          <p:nvPr/>
        </p:nvSpPr>
        <p:spPr>
          <a:xfrm>
            <a:off x="6592824" y="6053328"/>
            <a:ext cx="27432" cy="0"/>
          </a:xfrm>
          <a:prstGeom prst="line">
            <a:avLst/>
          </a:prstGeom>
          <a:noFill/>
          <a:ln w="19050">
            <a:solidFill>
              <a:srgbClr val="AFC5DE"/>
            </a:solidFill>
            <a:prstDash val="solid"/>
            <a:tailEnd type="triangle"/>
          </a:ln>
        </p:spPr>
      </p:sp>
      <p:sp>
        <p:nvSpPr>
          <p:cNvPr id="30" name="Shape 28"/>
          <p:cNvSpPr/>
          <p:nvPr/>
        </p:nvSpPr>
        <p:spPr>
          <a:xfrm>
            <a:off x="6620256" y="5641848"/>
            <a:ext cx="2011680" cy="822960"/>
          </a:xfrm>
          <a:prstGeom prst="roundRect">
            <a:avLst>
              <a:gd name="adj" fmla="val 8889"/>
            </a:avLst>
          </a:prstGeom>
          <a:solidFill>
            <a:srgbClr val="0E1C31"/>
          </a:solidFill>
          <a:ln w="15875">
            <a:solidFill>
              <a:srgbClr val="AFC5DE"/>
            </a:solidFill>
            <a:prstDash val="solid"/>
          </a:ln>
        </p:spPr>
      </p:sp>
      <p:sp>
        <p:nvSpPr>
          <p:cNvPr id="31" name="Text 29"/>
          <p:cNvSpPr txBox="1"/>
          <p:nvPr/>
        </p:nvSpPr>
        <p:spPr>
          <a:xfrm>
            <a:off x="6675120" y="5916168"/>
            <a:ext cx="190195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Shared Cloud Core</a:t>
            </a:r>
            <a:endParaRPr lang="en-US" sz="1050" dirty="0"/>
          </a:p>
        </p:txBody>
      </p:sp>
      <p:sp>
        <p:nvSpPr>
          <p:cNvPr id="32" name="Text 30"/>
          <p:cNvSpPr txBox="1"/>
          <p:nvPr/>
        </p:nvSpPr>
        <p:spPr>
          <a:xfrm>
            <a:off x="6675120" y="6172200"/>
            <a:ext cx="1901952" cy="201168"/>
          </a:xfrm>
          <a:prstGeom prst="rect">
            <a:avLst/>
          </a:prstGeom>
          <a:noFill/>
          <a:ln/>
        </p:spPr>
        <p:txBody>
          <a:bodyPr wrap="square" lIns="0" tIns="0" rIns="0" bIns="0" rtlCol="0" anchor="ctr"/>
          <a:lstStyle/>
          <a:p>
            <a:pPr algn="ctr" indent="0" marL="0">
              <a:buNone/>
            </a:pPr>
            <a:r>
              <a:rPr lang="en-US" sz="800" dirty="0">
                <a:solidFill>
                  <a:srgbClr val="7690AC"/>
                </a:solidFill>
                <a:latin typeface="Calibri" pitchFamily="34" charset="0"/>
                <a:ea typeface="Calibri" pitchFamily="34" charset="-122"/>
                <a:cs typeface="Calibri" pitchFamily="34" charset="-120"/>
              </a:rPr>
              <a:t>one AMF, both tiers</a:t>
            </a:r>
            <a:endParaRPr lang="en-US" sz="800" dirty="0"/>
          </a:p>
        </p:txBody>
      </p:sp>
      <p:sp>
        <p:nvSpPr>
          <p:cNvPr id="33" name="Text 31"/>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34" name="Text 32"/>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11 / 24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078992" cy="292608"/>
          </a:xfrm>
          <a:prstGeom prst="roundRect">
            <a:avLst>
              <a:gd name="adj" fmla="val 18750"/>
            </a:avLst>
          </a:prstGeom>
          <a:solidFill>
            <a:srgbClr val="F2A65A">
              <a:alpha val="14000"/>
            </a:srgbClr>
          </a:solidFill>
          <a:ln w="9525">
            <a:solidFill>
              <a:srgbClr val="F2A65A"/>
            </a:solidFill>
            <a:prstDash val="solid"/>
          </a:ln>
        </p:spPr>
      </p:sp>
      <p:sp>
        <p:nvSpPr>
          <p:cNvPr id="3" name="Text 1"/>
          <p:cNvSpPr txBox="1"/>
          <p:nvPr/>
        </p:nvSpPr>
        <p:spPr>
          <a:xfrm>
            <a:off x="457200" y="384048"/>
            <a:ext cx="1078992" cy="292608"/>
          </a:xfrm>
          <a:prstGeom prst="rect">
            <a:avLst/>
          </a:prstGeom>
          <a:noFill/>
          <a:ln/>
        </p:spPr>
        <p:txBody>
          <a:bodyPr wrap="none" lIns="0" tIns="0" rIns="0" bIns="0" rtlCol="0" anchor="ctr"/>
          <a:lstStyle/>
          <a:p>
            <a:pPr algn="ctr" indent="0" marL="0">
              <a:buNone/>
            </a:pPr>
            <a:r>
              <a:rPr lang="en-US" sz="1050" b="1" spc="110" kern="0" dirty="0">
                <a:solidFill>
                  <a:srgbClr val="F2A65A"/>
                </a:solidFill>
                <a:latin typeface="Calibri" pitchFamily="34" charset="0"/>
                <a:ea typeface="Calibri" pitchFamily="34" charset="-122"/>
                <a:cs typeface="Calibri" pitchFamily="34" charset="-120"/>
              </a:rPr>
              <a:t>H-CRAN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Heterogeneous Cloud-RAN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F2A65A"/>
                </a:solidFill>
                <a:latin typeface="Calibri" pitchFamily="34" charset="0"/>
                <a:ea typeface="Calibri" pitchFamily="34" charset="-122"/>
                <a:cs typeface="Calibri" pitchFamily="34" charset="-120"/>
              </a:rPr>
              <a:t>Advantages, trade-offs, and where it is used in industry</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F2A65A">
                    <a:alpha val="20000"/>
                  </a:srgbClr>
                </a:solidFill>
                <a:latin typeface="Cambria" pitchFamily="34" charset="0"/>
                <a:ea typeface="Cambria" pitchFamily="34" charset="-122"/>
                <a:cs typeface="Cambria" pitchFamily="34" charset="-120"/>
              </a:rPr>
              <a:t>05</a:t>
            </a:r>
            <a:endParaRPr lang="en-US" sz="5200" dirty="0"/>
          </a:p>
        </p:txBody>
      </p:sp>
      <p:sp>
        <p:nvSpPr>
          <p:cNvPr id="7" name="Shape 5"/>
          <p:cNvSpPr/>
          <p:nvPr/>
        </p:nvSpPr>
        <p:spPr>
          <a:xfrm>
            <a:off x="457200" y="1828800"/>
            <a:ext cx="5532120" cy="2788920"/>
          </a:xfrm>
          <a:prstGeom prst="roundRect">
            <a:avLst>
              <a:gd name="adj" fmla="val 2951"/>
            </a:avLst>
          </a:prstGeom>
          <a:solidFill>
            <a:srgbClr val="12233D"/>
          </a:solidFill>
          <a:ln w="9525">
            <a:solidFill>
              <a:srgbClr val="1F3557"/>
            </a:solidFill>
            <a:prstDash val="solid"/>
          </a:ln>
        </p:spPr>
      </p:sp>
      <p:sp>
        <p:nvSpPr>
          <p:cNvPr id="8" name="Shape 6"/>
          <p:cNvSpPr/>
          <p:nvPr/>
        </p:nvSpPr>
        <p:spPr>
          <a:xfrm>
            <a:off x="658368" y="2011680"/>
            <a:ext cx="237744" cy="237744"/>
          </a:xfrm>
          <a:prstGeom prst="ellipse">
            <a:avLst/>
          </a:prstGeom>
          <a:solidFill>
            <a:srgbClr val="34D399">
              <a:alpha val="20000"/>
            </a:srgbClr>
          </a:solidFill>
          <a:ln w="12700">
            <a:solidFill>
              <a:srgbClr val="34D399"/>
            </a:solidFill>
            <a:prstDash val="solid"/>
          </a:ln>
        </p:spPr>
      </p:sp>
      <p:sp>
        <p:nvSpPr>
          <p:cNvPr id="9" name="Text 7"/>
          <p:cNvSpPr txBox="1"/>
          <p:nvPr/>
        </p:nvSpPr>
        <p:spPr>
          <a:xfrm>
            <a:off x="658368" y="2006194"/>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87552"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Advantages</a:t>
            </a:r>
            <a:endParaRPr lang="en-US" sz="1300" dirty="0"/>
          </a:p>
        </p:txBody>
      </p:sp>
      <p:sp>
        <p:nvSpPr>
          <p:cNvPr id="11" name="Text 9"/>
          <p:cNvSpPr txBox="1"/>
          <p:nvPr/>
        </p:nvSpPr>
        <p:spPr>
          <a:xfrm>
            <a:off x="694944" y="2340864"/>
            <a:ext cx="5074920" cy="2167128"/>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Adds capacity exactly where it's needed without new macro towers</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Fills indoor and coverage dead-zones cheaply</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Small cells cost and draw far less power than another macro site</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Central coordination reduces interference between tiers</a:t>
            </a:r>
            <a:endParaRPr lang="en-US" sz="1060" dirty="0"/>
          </a:p>
        </p:txBody>
      </p:sp>
      <p:sp>
        <p:nvSpPr>
          <p:cNvPr id="12" name="Shape 10"/>
          <p:cNvSpPr/>
          <p:nvPr/>
        </p:nvSpPr>
        <p:spPr>
          <a:xfrm>
            <a:off x="6199632" y="1828800"/>
            <a:ext cx="5532120" cy="2788920"/>
          </a:xfrm>
          <a:prstGeom prst="roundRect">
            <a:avLst>
              <a:gd name="adj" fmla="val 2951"/>
            </a:avLst>
          </a:prstGeom>
          <a:solidFill>
            <a:srgbClr val="12233D"/>
          </a:solidFill>
          <a:ln w="9525">
            <a:solidFill>
              <a:srgbClr val="1F3557"/>
            </a:solidFill>
            <a:prstDash val="solid"/>
          </a:ln>
        </p:spPr>
      </p:sp>
      <p:sp>
        <p:nvSpPr>
          <p:cNvPr id="13" name="Shape 11"/>
          <p:cNvSpPr/>
          <p:nvPr/>
        </p:nvSpPr>
        <p:spPr>
          <a:xfrm>
            <a:off x="6400800" y="2011680"/>
            <a:ext cx="237744" cy="237744"/>
          </a:xfrm>
          <a:prstGeom prst="ellipse">
            <a:avLst/>
          </a:prstGeom>
          <a:solidFill>
            <a:srgbClr val="F2A65A">
              <a:alpha val="20000"/>
            </a:srgbClr>
          </a:solidFill>
          <a:ln w="12700">
            <a:solidFill>
              <a:srgbClr val="F2A65A"/>
            </a:solidFill>
            <a:prstDash val="solid"/>
          </a:ln>
        </p:spPr>
      </p:sp>
      <p:sp>
        <p:nvSpPr>
          <p:cNvPr id="14" name="Text 12"/>
          <p:cNvSpPr txBox="1"/>
          <p:nvPr/>
        </p:nvSpPr>
        <p:spPr>
          <a:xfrm>
            <a:off x="6400800" y="2006194"/>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6729984"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Trade-offs</a:t>
            </a:r>
            <a:endParaRPr lang="en-US" sz="1300" dirty="0"/>
          </a:p>
        </p:txBody>
      </p:sp>
      <p:sp>
        <p:nvSpPr>
          <p:cNvPr id="16" name="Text 14"/>
          <p:cNvSpPr txBox="1"/>
          <p:nvPr/>
        </p:nvSpPr>
        <p:spPr>
          <a:xfrm>
            <a:off x="6437376" y="2322576"/>
            <a:ext cx="5074920" cy="1371600"/>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True dual connectivity (one device on both cells at once) needs EN-DC/NR-DC support most simulators don't provide</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More cells directly means more day-to-day management overhead</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Careful RF planning is required to avoid the tiers interfering</a:t>
            </a:r>
            <a:endParaRPr lang="en-US" sz="1060" dirty="0"/>
          </a:p>
        </p:txBody>
      </p:sp>
      <p:sp>
        <p:nvSpPr>
          <p:cNvPr id="17" name="Shape 15"/>
          <p:cNvSpPr/>
          <p:nvPr/>
        </p:nvSpPr>
        <p:spPr>
          <a:xfrm>
            <a:off x="6437376" y="3712464"/>
            <a:ext cx="5074920" cy="0"/>
          </a:xfrm>
          <a:prstGeom prst="line">
            <a:avLst/>
          </a:prstGeom>
          <a:noFill/>
          <a:ln w="9525">
            <a:solidFill>
              <a:srgbClr val="1F3557"/>
            </a:solidFill>
            <a:prstDash val="solid"/>
          </a:ln>
        </p:spPr>
      </p:sp>
      <p:sp>
        <p:nvSpPr>
          <p:cNvPr id="18" name="Text 16"/>
          <p:cNvSpPr txBox="1"/>
          <p:nvPr/>
        </p:nvSpPr>
        <p:spPr>
          <a:xfrm>
            <a:off x="6437376" y="3794760"/>
            <a:ext cx="5074920" cy="182880"/>
          </a:xfrm>
          <a:prstGeom prst="rect">
            <a:avLst/>
          </a:prstGeom>
          <a:noFill/>
          <a:ln/>
        </p:spPr>
        <p:txBody>
          <a:bodyPr wrap="square" lIns="0" tIns="0" rIns="0" bIns="0" rtlCol="0" anchor="ctr"/>
          <a:lstStyle/>
          <a:p>
            <a:pPr indent="0" marL="0">
              <a:buNone/>
            </a:pPr>
            <a:r>
              <a:rPr lang="en-US" sz="850" b="1" spc="100" kern="0" dirty="0">
                <a:solidFill>
                  <a:srgbClr val="F2A65A"/>
                </a:solidFill>
                <a:latin typeface="Calibri" pitchFamily="34" charset="0"/>
                <a:ea typeface="Calibri" pitchFamily="34" charset="-122"/>
                <a:cs typeface="Calibri" pitchFamily="34" charset="-120"/>
              </a:rPr>
              <a:t>HOW IT'S ADDRESSED</a:t>
            </a:r>
            <a:endParaRPr lang="en-US" sz="850" dirty="0"/>
          </a:p>
        </p:txBody>
      </p:sp>
      <p:sp>
        <p:nvSpPr>
          <p:cNvPr id="19" name="Text 17"/>
          <p:cNvSpPr txBox="1"/>
          <p:nvPr/>
        </p:nvSpPr>
        <p:spPr>
          <a:xfrm>
            <a:off x="6437376" y="3986784"/>
            <a:ext cx="5074920" cy="539496"/>
          </a:xfrm>
          <a:prstGeom prst="rect">
            <a:avLst/>
          </a:prstGeom>
          <a:noFill/>
          <a:ln/>
        </p:spPr>
        <p:txBody>
          <a:bodyPr wrap="square" lIns="0" tIns="0" rIns="0" bIns="0" rtlCol="0" anchor="t"/>
          <a:lstStyle/>
          <a:p>
            <a:pPr indent="0" marL="0">
              <a:lnSpc>
                <a:spcPct val="110000"/>
              </a:lnSpc>
              <a:buNone/>
            </a:pPr>
            <a:r>
              <a:rPr lang="en-US" sz="980" dirty="0">
                <a:solidFill>
                  <a:srgbClr val="AFC5DE"/>
                </a:solidFill>
                <a:latin typeface="Calibri" pitchFamily="34" charset="0"/>
                <a:ea typeface="Calibri" pitchFamily="34" charset="-122"/>
                <a:cs typeface="Calibri" pitchFamily="34" charset="-120"/>
              </a:rPr>
              <a:t>Dual-connectivity-capable RAN stacks provide full EN-DC/NR-DC; automated SON tooling handles interference coordination at production scale.</a:t>
            </a:r>
            <a:endParaRPr lang="en-US" sz="980" dirty="0"/>
          </a:p>
        </p:txBody>
      </p:sp>
      <p:sp>
        <p:nvSpPr>
          <p:cNvPr id="20" name="Shape 18"/>
          <p:cNvSpPr/>
          <p:nvPr/>
        </p:nvSpPr>
        <p:spPr>
          <a:xfrm>
            <a:off x="457200" y="4800600"/>
            <a:ext cx="11274552" cy="1600200"/>
          </a:xfrm>
          <a:prstGeom prst="roundRect">
            <a:avLst>
              <a:gd name="adj" fmla="val 5143"/>
            </a:avLst>
          </a:prstGeom>
          <a:solidFill>
            <a:srgbClr val="12233D"/>
          </a:solidFill>
          <a:ln w="9525">
            <a:solidFill>
              <a:srgbClr val="1F3557"/>
            </a:solidFill>
            <a:prstDash val="solid"/>
          </a:ln>
        </p:spPr>
      </p:sp>
      <p:sp>
        <p:nvSpPr>
          <p:cNvPr id="21" name="Shape 19"/>
          <p:cNvSpPr/>
          <p:nvPr/>
        </p:nvSpPr>
        <p:spPr>
          <a:xfrm>
            <a:off x="658368" y="4965192"/>
            <a:ext cx="237744" cy="237744"/>
          </a:xfrm>
          <a:prstGeom prst="ellipse">
            <a:avLst/>
          </a:prstGeom>
          <a:solidFill>
            <a:srgbClr val="1C7293">
              <a:alpha val="20000"/>
            </a:srgbClr>
          </a:solidFill>
          <a:ln w="12700">
            <a:solidFill>
              <a:srgbClr val="1C7293"/>
            </a:solidFill>
            <a:prstDash val="solid"/>
          </a:ln>
        </p:spPr>
      </p:sp>
      <p:sp>
        <p:nvSpPr>
          <p:cNvPr id="22" name="Text 20"/>
          <p:cNvSpPr txBox="1"/>
          <p:nvPr/>
        </p:nvSpPr>
        <p:spPr>
          <a:xfrm>
            <a:off x="658368" y="495970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n</a:t>
            </a:r>
            <a:endParaRPr lang="en-US" sz="1100" dirty="0"/>
          </a:p>
        </p:txBody>
      </p:sp>
      <p:sp>
        <p:nvSpPr>
          <p:cNvPr id="23" name="Text 21"/>
          <p:cNvSpPr txBox="1"/>
          <p:nvPr/>
        </p:nvSpPr>
        <p:spPr>
          <a:xfrm>
            <a:off x="987552" y="4928616"/>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Where it's used in industry</a:t>
            </a:r>
            <a:endParaRPr lang="en-US" sz="1250" dirty="0"/>
          </a:p>
        </p:txBody>
      </p:sp>
      <p:sp>
        <p:nvSpPr>
          <p:cNvPr id="24" name="Text 22"/>
          <p:cNvSpPr txBox="1"/>
          <p:nvPr/>
        </p:nvSpPr>
        <p:spPr>
          <a:xfrm>
            <a:off x="694944" y="5257800"/>
            <a:ext cx="10789920" cy="1033272"/>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Small-cell overlays on the macro grid — standard practice for every major operator</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Stadiums, campuses and dense urban hotspots for capacity augmentation</a:t>
            </a:r>
            <a:endParaRPr lang="en-US" sz="1040" dirty="0"/>
          </a:p>
        </p:txBody>
      </p:sp>
      <p:sp>
        <p:nvSpPr>
          <p:cNvPr id="25" name="Text 23"/>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6" name="Text 24"/>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12 / 24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960120" cy="292608"/>
          </a:xfrm>
          <a:prstGeom prst="roundRect">
            <a:avLst>
              <a:gd name="adj" fmla="val 18750"/>
            </a:avLst>
          </a:prstGeom>
          <a:solidFill>
            <a:srgbClr val="F2A65A">
              <a:alpha val="14000"/>
            </a:srgbClr>
          </a:solidFill>
          <a:ln w="9525">
            <a:solidFill>
              <a:srgbClr val="F2A65A"/>
            </a:solidFill>
            <a:prstDash val="solid"/>
          </a:ln>
        </p:spPr>
      </p:sp>
      <p:sp>
        <p:nvSpPr>
          <p:cNvPr id="3" name="Text 1"/>
          <p:cNvSpPr txBox="1"/>
          <p:nvPr/>
        </p:nvSpPr>
        <p:spPr>
          <a:xfrm>
            <a:off x="457200" y="384048"/>
            <a:ext cx="960120" cy="292608"/>
          </a:xfrm>
          <a:prstGeom prst="rect">
            <a:avLst/>
          </a:prstGeom>
          <a:noFill/>
          <a:ln/>
        </p:spPr>
        <p:txBody>
          <a:bodyPr wrap="none" lIns="0" tIns="0" rIns="0" bIns="0" rtlCol="0" anchor="ctr"/>
          <a:lstStyle/>
          <a:p>
            <a:pPr algn="ctr" indent="0" marL="0">
              <a:buNone/>
            </a:pPr>
            <a:r>
              <a:rPr lang="en-US" sz="1050" b="1" spc="110" kern="0" dirty="0">
                <a:solidFill>
                  <a:srgbClr val="F2A65A"/>
                </a:solidFill>
                <a:latin typeface="Calibri" pitchFamily="34" charset="0"/>
                <a:ea typeface="Calibri" pitchFamily="34" charset="-122"/>
                <a:cs typeface="Calibri" pitchFamily="34" charset="-120"/>
              </a:rPr>
              <a:t>F-RAN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Fog 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F2A65A"/>
                </a:solidFill>
                <a:latin typeface="Calibri" pitchFamily="34" charset="0"/>
                <a:ea typeface="Calibri" pitchFamily="34" charset="-122"/>
                <a:cs typeface="Calibri" pitchFamily="34" charset="-120"/>
              </a:rPr>
              <a:t>Pushing processing to the edge for genuine local breakout.</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F2A65A">
                    <a:alpha val="20000"/>
                  </a:srgbClr>
                </a:solidFill>
                <a:latin typeface="Cambria" pitchFamily="34" charset="0"/>
                <a:ea typeface="Cambria" pitchFamily="34" charset="-122"/>
                <a:cs typeface="Cambria" pitchFamily="34" charset="-120"/>
              </a:rPr>
              <a:t>06</a:t>
            </a:r>
            <a:endParaRPr lang="en-US" sz="5200" dirty="0"/>
          </a:p>
        </p:txBody>
      </p:sp>
      <p:sp>
        <p:nvSpPr>
          <p:cNvPr id="7" name="Shape 5"/>
          <p:cNvSpPr/>
          <p:nvPr/>
        </p:nvSpPr>
        <p:spPr>
          <a:xfrm>
            <a:off x="457200" y="1920240"/>
            <a:ext cx="5486400" cy="1691640"/>
          </a:xfrm>
          <a:prstGeom prst="roundRect">
            <a:avLst>
              <a:gd name="adj" fmla="val 4865"/>
            </a:avLst>
          </a:prstGeom>
          <a:solidFill>
            <a:srgbClr val="12233D"/>
          </a:solidFill>
          <a:ln w="9525">
            <a:solidFill>
              <a:srgbClr val="1F3557"/>
            </a:solidFill>
            <a:prstDash val="solid"/>
          </a:ln>
        </p:spPr>
      </p:sp>
      <p:sp>
        <p:nvSpPr>
          <p:cNvPr id="8" name="Shape 6"/>
          <p:cNvSpPr/>
          <p:nvPr/>
        </p:nvSpPr>
        <p:spPr>
          <a:xfrm>
            <a:off x="658368" y="2103120"/>
            <a:ext cx="237744" cy="237744"/>
          </a:xfrm>
          <a:prstGeom prst="ellipse">
            <a:avLst/>
          </a:prstGeom>
          <a:solidFill>
            <a:srgbClr val="1C7293">
              <a:alpha val="20000"/>
            </a:srgbClr>
          </a:solidFill>
          <a:ln w="12700">
            <a:solidFill>
              <a:srgbClr val="1C7293"/>
            </a:solidFill>
            <a:prstDash val="solid"/>
          </a:ln>
        </p:spPr>
      </p:sp>
      <p:sp>
        <p:nvSpPr>
          <p:cNvPr id="9" name="Text 7"/>
          <p:cNvSpPr txBox="1"/>
          <p:nvPr/>
        </p:nvSpPr>
        <p:spPr>
          <a:xfrm>
            <a:off x="658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i</a:t>
            </a:r>
            <a:endParaRPr lang="en-US" sz="1100" dirty="0"/>
          </a:p>
        </p:txBody>
      </p:sp>
      <p:sp>
        <p:nvSpPr>
          <p:cNvPr id="10" name="Text 8"/>
          <p:cNvSpPr txBox="1"/>
          <p:nvPr/>
        </p:nvSpPr>
        <p:spPr>
          <a:xfrm>
            <a:off x="987552" y="2066544"/>
            <a:ext cx="47548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Definition</a:t>
            </a:r>
            <a:endParaRPr lang="en-US" sz="1300" dirty="0"/>
          </a:p>
        </p:txBody>
      </p:sp>
      <p:sp>
        <p:nvSpPr>
          <p:cNvPr id="11" name="Text 9"/>
          <p:cNvSpPr txBox="1"/>
          <p:nvPr/>
        </p:nvSpPr>
        <p:spPr>
          <a:xfrm>
            <a:off x="694944" y="2432304"/>
            <a:ext cx="5029200" cy="10698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Traffic that can be served locally never traverses the central core at all: a dedicated edge UPF with its own DNN and no internet route hands sessions directly to an application co-located at the edge.</a:t>
            </a:r>
            <a:endParaRPr lang="en-US" sz="1060" dirty="0"/>
          </a:p>
        </p:txBody>
      </p:sp>
      <p:sp>
        <p:nvSpPr>
          <p:cNvPr id="12" name="Shape 10"/>
          <p:cNvSpPr/>
          <p:nvPr/>
        </p:nvSpPr>
        <p:spPr>
          <a:xfrm>
            <a:off x="457200" y="3730752"/>
            <a:ext cx="5486400" cy="1481328"/>
          </a:xfrm>
          <a:prstGeom prst="roundRect">
            <a:avLst>
              <a:gd name="adj" fmla="val 5556"/>
            </a:avLst>
          </a:prstGeom>
          <a:solidFill>
            <a:srgbClr val="12233D"/>
          </a:solidFill>
          <a:ln w="12700">
            <a:solidFill>
              <a:srgbClr val="F2A65A"/>
            </a:solidFill>
            <a:prstDash val="solid"/>
          </a:ln>
        </p:spPr>
      </p:sp>
      <p:sp>
        <p:nvSpPr>
          <p:cNvPr id="13" name="Text 11"/>
          <p:cNvSpPr txBox="1"/>
          <p:nvPr/>
        </p:nvSpPr>
        <p:spPr>
          <a:xfrm>
            <a:off x="676656" y="3840480"/>
            <a:ext cx="5029200" cy="219456"/>
          </a:xfrm>
          <a:prstGeom prst="rect">
            <a:avLst/>
          </a:prstGeom>
          <a:noFill/>
          <a:ln/>
        </p:spPr>
        <p:txBody>
          <a:bodyPr wrap="square" lIns="0" tIns="0" rIns="0" bIns="0" rtlCol="0" anchor="ctr"/>
          <a:lstStyle/>
          <a:p>
            <a:pPr indent="0" marL="0">
              <a:buNone/>
            </a:pPr>
            <a:r>
              <a:rPr lang="en-US" sz="850" b="1" spc="100" kern="0" dirty="0">
                <a:solidFill>
                  <a:srgbClr val="F2A65A"/>
                </a:solidFill>
                <a:latin typeface="Calibri" pitchFamily="34" charset="0"/>
                <a:ea typeface="Calibri" pitchFamily="34" charset="-122"/>
                <a:cs typeface="Calibri" pitchFamily="34" charset="-120"/>
              </a:rPr>
              <a:t>MEASURED ON THIS PLATFORM</a:t>
            </a:r>
            <a:endParaRPr lang="en-US" sz="850" dirty="0"/>
          </a:p>
        </p:txBody>
      </p:sp>
      <p:sp>
        <p:nvSpPr>
          <p:cNvPr id="14" name="Text 12"/>
          <p:cNvSpPr txBox="1"/>
          <p:nvPr/>
        </p:nvSpPr>
        <p:spPr>
          <a:xfrm>
            <a:off x="566928" y="4096512"/>
            <a:ext cx="1645920" cy="566928"/>
          </a:xfrm>
          <a:prstGeom prst="rect">
            <a:avLst/>
          </a:prstGeom>
          <a:noFill/>
          <a:ln/>
        </p:spPr>
        <p:txBody>
          <a:bodyPr wrap="none" lIns="0" tIns="0" rIns="0" bIns="0" rtlCol="0" anchor="ctr"/>
          <a:lstStyle/>
          <a:p>
            <a:pPr algn="ctr" indent="0" marL="0">
              <a:buNone/>
            </a:pPr>
            <a:r>
              <a:rPr lang="en-US" sz="2600" b="1" dirty="0">
                <a:solidFill>
                  <a:srgbClr val="2DD4BF"/>
                </a:solidFill>
                <a:latin typeface="Cambria" pitchFamily="34" charset="0"/>
                <a:ea typeface="Cambria" pitchFamily="34" charset="-122"/>
                <a:cs typeface="Cambria" pitchFamily="34" charset="-120"/>
              </a:rPr>
              <a:t>~0.8 ms</a:t>
            </a:r>
            <a:endParaRPr lang="en-US" sz="2600" dirty="0"/>
          </a:p>
        </p:txBody>
      </p:sp>
      <p:sp>
        <p:nvSpPr>
          <p:cNvPr id="15" name="Text 13"/>
          <p:cNvSpPr txBox="1"/>
          <p:nvPr/>
        </p:nvSpPr>
        <p:spPr>
          <a:xfrm>
            <a:off x="566928" y="4626864"/>
            <a:ext cx="1645920" cy="274320"/>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edge DNN</a:t>
            </a:r>
            <a:endParaRPr lang="en-US" sz="950" dirty="0"/>
          </a:p>
        </p:txBody>
      </p:sp>
      <p:sp>
        <p:nvSpPr>
          <p:cNvPr id="16" name="Text 14"/>
          <p:cNvSpPr txBox="1"/>
          <p:nvPr/>
        </p:nvSpPr>
        <p:spPr>
          <a:xfrm>
            <a:off x="2295144" y="4096512"/>
            <a:ext cx="1645920" cy="566928"/>
          </a:xfrm>
          <a:prstGeom prst="rect">
            <a:avLst/>
          </a:prstGeom>
          <a:noFill/>
          <a:ln/>
        </p:spPr>
        <p:txBody>
          <a:bodyPr wrap="none" lIns="0" tIns="0" rIns="0" bIns="0" rtlCol="0" anchor="ctr"/>
          <a:lstStyle/>
          <a:p>
            <a:pPr algn="ctr" indent="0" marL="0">
              <a:buNone/>
            </a:pPr>
            <a:r>
              <a:rPr lang="en-US" sz="2600" b="1" dirty="0">
                <a:solidFill>
                  <a:srgbClr val="AFC5DE"/>
                </a:solidFill>
                <a:latin typeface="Cambria" pitchFamily="34" charset="0"/>
                <a:ea typeface="Cambria" pitchFamily="34" charset="-122"/>
                <a:cs typeface="Cambria" pitchFamily="34" charset="-120"/>
              </a:rPr>
              <a:t>~5.0 ms</a:t>
            </a:r>
            <a:endParaRPr lang="en-US" sz="2600" dirty="0"/>
          </a:p>
        </p:txBody>
      </p:sp>
      <p:sp>
        <p:nvSpPr>
          <p:cNvPr id="17" name="Text 15"/>
          <p:cNvSpPr txBox="1"/>
          <p:nvPr/>
        </p:nvSpPr>
        <p:spPr>
          <a:xfrm>
            <a:off x="2295144" y="4626864"/>
            <a:ext cx="1645920" cy="274320"/>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internet DNN</a:t>
            </a:r>
            <a:endParaRPr lang="en-US" sz="950" dirty="0"/>
          </a:p>
        </p:txBody>
      </p:sp>
      <p:sp>
        <p:nvSpPr>
          <p:cNvPr id="18" name="Text 16"/>
          <p:cNvSpPr txBox="1"/>
          <p:nvPr/>
        </p:nvSpPr>
        <p:spPr>
          <a:xfrm>
            <a:off x="4023360" y="4096512"/>
            <a:ext cx="1645920" cy="566928"/>
          </a:xfrm>
          <a:prstGeom prst="rect">
            <a:avLst/>
          </a:prstGeom>
          <a:noFill/>
          <a:ln/>
        </p:spPr>
        <p:txBody>
          <a:bodyPr wrap="none" lIns="0" tIns="0" rIns="0" bIns="0" rtlCol="0" anchor="ctr"/>
          <a:lstStyle/>
          <a:p>
            <a:pPr algn="ctr" indent="0" marL="0">
              <a:buNone/>
            </a:pPr>
            <a:r>
              <a:rPr lang="en-US" sz="3200" b="1" dirty="0">
                <a:solidFill>
                  <a:srgbClr val="AFC5DE"/>
                </a:solidFill>
                <a:latin typeface="Cambria" pitchFamily="34" charset="0"/>
                <a:ea typeface="Cambria" pitchFamily="34" charset="-122"/>
                <a:cs typeface="Cambria" pitchFamily="34" charset="-120"/>
              </a:rPr>
              <a:t>6×</a:t>
            </a:r>
            <a:endParaRPr lang="en-US" sz="3200" dirty="0"/>
          </a:p>
        </p:txBody>
      </p:sp>
      <p:sp>
        <p:nvSpPr>
          <p:cNvPr id="19" name="Text 17"/>
          <p:cNvSpPr txBox="1"/>
          <p:nvPr/>
        </p:nvSpPr>
        <p:spPr>
          <a:xfrm>
            <a:off x="4023360" y="4626864"/>
            <a:ext cx="1645920" cy="274320"/>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faster locally</a:t>
            </a:r>
            <a:endParaRPr lang="en-US" sz="950" dirty="0"/>
          </a:p>
        </p:txBody>
      </p:sp>
      <p:sp>
        <p:nvSpPr>
          <p:cNvPr id="20" name="Text 18"/>
          <p:cNvSpPr txBox="1"/>
          <p:nvPr/>
        </p:nvSpPr>
        <p:spPr>
          <a:xfrm>
            <a:off x="676656" y="4882896"/>
            <a:ext cx="5029200" cy="274320"/>
          </a:xfrm>
          <a:prstGeom prst="rect">
            <a:avLst/>
          </a:prstGeom>
          <a:noFill/>
          <a:ln/>
        </p:spPr>
        <p:txBody>
          <a:bodyPr wrap="square" lIns="0" tIns="0" rIns="0" bIns="0" rtlCol="0" anchor="ctr"/>
          <a:lstStyle/>
          <a:p>
            <a:pPr indent="0" marL="0">
              <a:buNone/>
            </a:pPr>
            <a:r>
              <a:rPr lang="en-US" sz="900" dirty="0">
                <a:solidFill>
                  <a:srgbClr val="7690AC"/>
                </a:solidFill>
                <a:latin typeface="Calibri" pitchFamily="34" charset="0"/>
                <a:ea typeface="Calibri" pitchFamily="34" charset="-122"/>
                <a:cs typeface="Calibri" pitchFamily="34" charset="-120"/>
              </a:rPr>
              <a:t>TCP connect time, edge DNN vs internet DNN, same UE.</a:t>
            </a:r>
            <a:endParaRPr lang="en-US" sz="900" dirty="0"/>
          </a:p>
        </p:txBody>
      </p:sp>
      <p:sp>
        <p:nvSpPr>
          <p:cNvPr id="21" name="Shape 19"/>
          <p:cNvSpPr/>
          <p:nvPr/>
        </p:nvSpPr>
        <p:spPr>
          <a:xfrm>
            <a:off x="6172200" y="1920240"/>
            <a:ext cx="5559552" cy="3291840"/>
          </a:xfrm>
          <a:prstGeom prst="roundRect">
            <a:avLst>
              <a:gd name="adj" fmla="val 2500"/>
            </a:avLst>
          </a:prstGeom>
          <a:solidFill>
            <a:srgbClr val="12233D"/>
          </a:solidFill>
          <a:ln w="9525">
            <a:solidFill>
              <a:srgbClr val="1F3557"/>
            </a:solidFill>
            <a:prstDash val="solid"/>
          </a:ln>
        </p:spPr>
      </p:sp>
      <p:sp>
        <p:nvSpPr>
          <p:cNvPr id="22" name="Shape 20"/>
          <p:cNvSpPr/>
          <p:nvPr/>
        </p:nvSpPr>
        <p:spPr>
          <a:xfrm>
            <a:off x="6373368" y="2103120"/>
            <a:ext cx="237744" cy="237744"/>
          </a:xfrm>
          <a:prstGeom prst="ellipse">
            <a:avLst/>
          </a:prstGeom>
          <a:solidFill>
            <a:srgbClr val="1C7293">
              <a:alpha val="20000"/>
            </a:srgbClr>
          </a:solidFill>
          <a:ln w="12700">
            <a:solidFill>
              <a:srgbClr val="1C7293"/>
            </a:solidFill>
            <a:prstDash val="solid"/>
          </a:ln>
        </p:spPr>
      </p:sp>
      <p:sp>
        <p:nvSpPr>
          <p:cNvPr id="23" name="Text 21"/>
          <p:cNvSpPr txBox="1"/>
          <p:nvPr/>
        </p:nvSpPr>
        <p:spPr>
          <a:xfrm>
            <a:off x="6373368" y="2097634"/>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c</a:t>
            </a:r>
            <a:endParaRPr lang="en-US" sz="1100" dirty="0"/>
          </a:p>
        </p:txBody>
      </p:sp>
      <p:sp>
        <p:nvSpPr>
          <p:cNvPr id="24" name="Text 22"/>
          <p:cNvSpPr txBox="1"/>
          <p:nvPr/>
        </p:nvSpPr>
        <p:spPr>
          <a:xfrm>
            <a:off x="6702552" y="2066544"/>
            <a:ext cx="4828032"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Characteristics</a:t>
            </a:r>
            <a:endParaRPr lang="en-US" sz="1300" dirty="0"/>
          </a:p>
        </p:txBody>
      </p:sp>
      <p:sp>
        <p:nvSpPr>
          <p:cNvPr id="25" name="Text 23"/>
          <p:cNvSpPr txBox="1"/>
          <p:nvPr/>
        </p:nvSpPr>
        <p:spPr>
          <a:xfrm>
            <a:off x="6409944" y="2432304"/>
            <a:ext cx="5102352" cy="2670048"/>
          </a:xfrm>
          <a:prstGeom prst="rect">
            <a:avLst/>
          </a:prstGeom>
          <a:noFill/>
          <a:ln/>
        </p:spPr>
        <p:txBody>
          <a:bodyPr wrap="square" lIns="0" tIns="0" rIns="0" bIns="0" rtlCol="0" anchor="t"/>
          <a:lstStyle/>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Local breakout: a per-DNN decision, not a blanket routing change</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MEC application co-located with the edge UPF</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Ordinary internet traffic is unaffected and still routes centrally</a:t>
            </a:r>
            <a:endParaRPr lang="en-US" sz="1060" dirty="0"/>
          </a:p>
          <a:p>
            <a:pPr marL="342900" indent="-342900">
              <a:spcAft>
                <a:spcPts val="600"/>
              </a:spcAft>
              <a:buSzPct val="100000"/>
              <a:buChar char="•"/>
            </a:pPr>
            <a:r>
              <a:rPr lang="en-US" sz="1060" dirty="0">
                <a:solidFill>
                  <a:srgbClr val="AFC5DE"/>
                </a:solidFill>
                <a:latin typeface="Calibri" pitchFamily="34" charset="0"/>
                <a:ea typeface="Calibri" pitchFamily="34" charset="-122"/>
                <a:cs typeface="Calibri" pitchFamily="34" charset="-120"/>
              </a:rPr>
              <a:t>Latency gain comes from removing hops, not adding bandwidth</a:t>
            </a:r>
            <a:endParaRPr lang="en-US" sz="1060" dirty="0"/>
          </a:p>
        </p:txBody>
      </p:sp>
      <p:sp>
        <p:nvSpPr>
          <p:cNvPr id="26" name="Text 24"/>
          <p:cNvSpPr txBox="1"/>
          <p:nvPr/>
        </p:nvSpPr>
        <p:spPr>
          <a:xfrm>
            <a:off x="457200" y="5358384"/>
            <a:ext cx="5486400" cy="237744"/>
          </a:xfrm>
          <a:prstGeom prst="rect">
            <a:avLst/>
          </a:prstGeom>
          <a:noFill/>
          <a:ln/>
        </p:spPr>
        <p:txBody>
          <a:bodyPr wrap="square" lIns="0" tIns="0" rIns="0" bIns="0" rtlCol="0" anchor="ctr"/>
          <a:lstStyle/>
          <a:p>
            <a:pPr indent="0" marL="0">
              <a:buNone/>
            </a:pPr>
            <a:r>
              <a:rPr lang="en-US" sz="950" b="1" spc="120" kern="0" dirty="0">
                <a:solidFill>
                  <a:srgbClr val="7690AC"/>
                </a:solidFill>
                <a:latin typeface="Calibri" pitchFamily="34" charset="0"/>
                <a:ea typeface="Calibri" pitchFamily="34" charset="-122"/>
                <a:cs typeface="Calibri" pitchFamily="34" charset="-120"/>
              </a:rPr>
              <a:t>NETWORK ARCHITECTURE</a:t>
            </a:r>
            <a:endParaRPr lang="en-US" sz="950" dirty="0"/>
          </a:p>
        </p:txBody>
      </p:sp>
      <p:sp>
        <p:nvSpPr>
          <p:cNvPr id="27" name="Shape 25"/>
          <p:cNvSpPr/>
          <p:nvPr/>
        </p:nvSpPr>
        <p:spPr>
          <a:xfrm>
            <a:off x="457200" y="5632704"/>
            <a:ext cx="1554480" cy="841248"/>
          </a:xfrm>
          <a:prstGeom prst="roundRect">
            <a:avLst>
              <a:gd name="adj" fmla="val 8696"/>
            </a:avLst>
          </a:prstGeom>
          <a:solidFill>
            <a:srgbClr val="0E1C31"/>
          </a:solidFill>
          <a:ln w="15875">
            <a:solidFill>
              <a:srgbClr val="AFC5DE"/>
            </a:solidFill>
            <a:prstDash val="solid"/>
          </a:ln>
        </p:spPr>
      </p:sp>
      <p:sp>
        <p:nvSpPr>
          <p:cNvPr id="28" name="Text 26"/>
          <p:cNvSpPr txBox="1"/>
          <p:nvPr/>
        </p:nvSpPr>
        <p:spPr>
          <a:xfrm>
            <a:off x="457200" y="5916168"/>
            <a:ext cx="1554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RAN</a:t>
            </a:r>
            <a:endParaRPr lang="en-US" sz="1100" dirty="0"/>
          </a:p>
        </p:txBody>
      </p:sp>
      <p:sp>
        <p:nvSpPr>
          <p:cNvPr id="29" name="Shape 27"/>
          <p:cNvSpPr/>
          <p:nvPr/>
        </p:nvSpPr>
        <p:spPr>
          <a:xfrm>
            <a:off x="2304288" y="5632704"/>
            <a:ext cx="1874520" cy="384048"/>
          </a:xfrm>
          <a:prstGeom prst="roundRect">
            <a:avLst>
              <a:gd name="adj" fmla="val 16667"/>
            </a:avLst>
          </a:prstGeom>
          <a:solidFill>
            <a:srgbClr val="F2A65A">
              <a:alpha val="14000"/>
            </a:srgbClr>
          </a:solidFill>
          <a:ln w="15875">
            <a:solidFill>
              <a:srgbClr val="F2A65A"/>
            </a:solidFill>
            <a:prstDash val="solid"/>
          </a:ln>
        </p:spPr>
      </p:sp>
      <p:sp>
        <p:nvSpPr>
          <p:cNvPr id="30" name="Text 28"/>
          <p:cNvSpPr txBox="1"/>
          <p:nvPr/>
        </p:nvSpPr>
        <p:spPr>
          <a:xfrm>
            <a:off x="2359152" y="5632704"/>
            <a:ext cx="1764792" cy="384048"/>
          </a:xfrm>
          <a:prstGeom prst="rect">
            <a:avLst/>
          </a:prstGeom>
          <a:noFill/>
          <a:ln/>
        </p:spPr>
        <p:txBody>
          <a:bodyPr wrap="square" lIns="0" tIns="0" rIns="0" bIns="0" rtlCol="0" anchor="ctr"/>
          <a:lstStyle/>
          <a:p>
            <a:pPr algn="ctr" indent="0" marL="0">
              <a:buNone/>
            </a:pPr>
            <a:r>
              <a:rPr lang="en-US" sz="900" b="1" dirty="0">
                <a:solidFill>
                  <a:srgbClr val="F2A65A"/>
                </a:solidFill>
                <a:latin typeface="Calibri" pitchFamily="34" charset="0"/>
                <a:ea typeface="Calibri" pitchFamily="34" charset="-122"/>
                <a:cs typeface="Calibri" pitchFamily="34" charset="-120"/>
              </a:rPr>
              <a:t>Edge UPF — NAT off</a:t>
            </a:r>
            <a:endParaRPr lang="en-US" sz="900" dirty="0"/>
          </a:p>
        </p:txBody>
      </p:sp>
      <p:sp>
        <p:nvSpPr>
          <p:cNvPr id="31" name="Shape 29"/>
          <p:cNvSpPr/>
          <p:nvPr/>
        </p:nvSpPr>
        <p:spPr>
          <a:xfrm>
            <a:off x="4178808" y="5824728"/>
            <a:ext cx="292608" cy="0"/>
          </a:xfrm>
          <a:prstGeom prst="line">
            <a:avLst/>
          </a:prstGeom>
          <a:noFill/>
          <a:ln w="19050">
            <a:solidFill>
              <a:srgbClr val="F2A65A"/>
            </a:solidFill>
            <a:prstDash val="solid"/>
            <a:tailEnd type="triangle"/>
          </a:ln>
        </p:spPr>
      </p:sp>
      <p:sp>
        <p:nvSpPr>
          <p:cNvPr id="32" name="Shape 30"/>
          <p:cNvSpPr/>
          <p:nvPr/>
        </p:nvSpPr>
        <p:spPr>
          <a:xfrm>
            <a:off x="4471416" y="5632704"/>
            <a:ext cx="2286000" cy="384048"/>
          </a:xfrm>
          <a:prstGeom prst="roundRect">
            <a:avLst>
              <a:gd name="adj" fmla="val 16667"/>
            </a:avLst>
          </a:prstGeom>
          <a:solidFill>
            <a:srgbClr val="0E1C31"/>
          </a:solidFill>
          <a:ln w="15875">
            <a:solidFill>
              <a:srgbClr val="F2A65A"/>
            </a:solidFill>
            <a:prstDash val="solid"/>
          </a:ln>
        </p:spPr>
      </p:sp>
      <p:sp>
        <p:nvSpPr>
          <p:cNvPr id="33" name="Text 31"/>
          <p:cNvSpPr txBox="1"/>
          <p:nvPr/>
        </p:nvSpPr>
        <p:spPr>
          <a:xfrm>
            <a:off x="4526280" y="5632704"/>
            <a:ext cx="2176272"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Edge App (MEC) · ~0.8 ms</a:t>
            </a:r>
            <a:endParaRPr lang="en-US" sz="900" dirty="0"/>
          </a:p>
        </p:txBody>
      </p:sp>
      <p:sp>
        <p:nvSpPr>
          <p:cNvPr id="34" name="Shape 32"/>
          <p:cNvSpPr/>
          <p:nvPr/>
        </p:nvSpPr>
        <p:spPr>
          <a:xfrm>
            <a:off x="2304288" y="6089904"/>
            <a:ext cx="1874520" cy="384048"/>
          </a:xfrm>
          <a:prstGeom prst="roundRect">
            <a:avLst>
              <a:gd name="adj" fmla="val 16667"/>
            </a:avLst>
          </a:prstGeom>
          <a:solidFill>
            <a:srgbClr val="AFC5DE">
              <a:alpha val="10000"/>
            </a:srgbClr>
          </a:solidFill>
          <a:ln w="15875">
            <a:solidFill>
              <a:srgbClr val="AFC5DE"/>
            </a:solidFill>
            <a:prstDash val="solid"/>
          </a:ln>
        </p:spPr>
      </p:sp>
      <p:sp>
        <p:nvSpPr>
          <p:cNvPr id="35" name="Text 33"/>
          <p:cNvSpPr txBox="1"/>
          <p:nvPr/>
        </p:nvSpPr>
        <p:spPr>
          <a:xfrm>
            <a:off x="2359152" y="6089904"/>
            <a:ext cx="1764792" cy="384048"/>
          </a:xfrm>
          <a:prstGeom prst="rect">
            <a:avLst/>
          </a:prstGeom>
          <a:noFill/>
          <a:ln/>
        </p:spPr>
        <p:txBody>
          <a:bodyPr wrap="square" lIns="0" tIns="0" rIns="0" bIns="0" rtlCol="0" anchor="ctr"/>
          <a:lstStyle/>
          <a:p>
            <a:pPr algn="ctr" indent="0" marL="0">
              <a:buNone/>
            </a:pPr>
            <a:r>
              <a:rPr lang="en-US" sz="900" b="1" dirty="0">
                <a:solidFill>
                  <a:srgbClr val="AFC5DE"/>
                </a:solidFill>
                <a:latin typeface="Calibri" pitchFamily="34" charset="0"/>
                <a:ea typeface="Calibri" pitchFamily="34" charset="-122"/>
                <a:cs typeface="Calibri" pitchFamily="34" charset="-120"/>
              </a:rPr>
              <a:t>Central UPF</a:t>
            </a:r>
            <a:endParaRPr lang="en-US" sz="900" dirty="0"/>
          </a:p>
        </p:txBody>
      </p:sp>
      <p:sp>
        <p:nvSpPr>
          <p:cNvPr id="36" name="Shape 34"/>
          <p:cNvSpPr/>
          <p:nvPr/>
        </p:nvSpPr>
        <p:spPr>
          <a:xfrm>
            <a:off x="4178808" y="6281928"/>
            <a:ext cx="292608" cy="0"/>
          </a:xfrm>
          <a:prstGeom prst="line">
            <a:avLst/>
          </a:prstGeom>
          <a:noFill/>
          <a:ln w="19050">
            <a:solidFill>
              <a:srgbClr val="AFC5DE"/>
            </a:solidFill>
            <a:prstDash val="solid"/>
            <a:tailEnd type="triangle"/>
          </a:ln>
        </p:spPr>
      </p:sp>
      <p:sp>
        <p:nvSpPr>
          <p:cNvPr id="37" name="Shape 35"/>
          <p:cNvSpPr/>
          <p:nvPr/>
        </p:nvSpPr>
        <p:spPr>
          <a:xfrm>
            <a:off x="4471416" y="6089904"/>
            <a:ext cx="2286000" cy="384048"/>
          </a:xfrm>
          <a:prstGeom prst="roundRect">
            <a:avLst>
              <a:gd name="adj" fmla="val 16667"/>
            </a:avLst>
          </a:prstGeom>
          <a:solidFill>
            <a:srgbClr val="0E1C31"/>
          </a:solidFill>
          <a:ln w="15875">
            <a:solidFill>
              <a:srgbClr val="AFC5DE"/>
            </a:solidFill>
            <a:prstDash val="solid"/>
          </a:ln>
        </p:spPr>
      </p:sp>
      <p:sp>
        <p:nvSpPr>
          <p:cNvPr id="38" name="Text 36"/>
          <p:cNvSpPr txBox="1"/>
          <p:nvPr/>
        </p:nvSpPr>
        <p:spPr>
          <a:xfrm>
            <a:off x="4526280" y="6089904"/>
            <a:ext cx="2176272"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Internet · ~5.0 ms</a:t>
            </a:r>
            <a:endParaRPr lang="en-US" sz="900" dirty="0"/>
          </a:p>
        </p:txBody>
      </p:sp>
      <p:sp>
        <p:nvSpPr>
          <p:cNvPr id="39" name="Shape 37"/>
          <p:cNvSpPr/>
          <p:nvPr/>
        </p:nvSpPr>
        <p:spPr>
          <a:xfrm flipV="1">
            <a:off x="2011680" y="5824728"/>
            <a:ext cx="292608" cy="228600"/>
          </a:xfrm>
          <a:prstGeom prst="line">
            <a:avLst/>
          </a:prstGeom>
          <a:noFill/>
          <a:ln w="15875">
            <a:solidFill>
              <a:srgbClr val="F2A65A"/>
            </a:solidFill>
            <a:prstDash val="solid"/>
          </a:ln>
        </p:spPr>
      </p:sp>
      <p:sp>
        <p:nvSpPr>
          <p:cNvPr id="40" name="Shape 38"/>
          <p:cNvSpPr/>
          <p:nvPr/>
        </p:nvSpPr>
        <p:spPr>
          <a:xfrm>
            <a:off x="2011680" y="6281928"/>
            <a:ext cx="292608" cy="228600"/>
          </a:xfrm>
          <a:prstGeom prst="line">
            <a:avLst/>
          </a:prstGeom>
          <a:noFill/>
          <a:ln w="15875">
            <a:solidFill>
              <a:srgbClr val="AFC5DE"/>
            </a:solidFill>
            <a:prstDash val="solid"/>
          </a:ln>
        </p:spPr>
      </p:sp>
      <p:sp>
        <p:nvSpPr>
          <p:cNvPr id="41" name="Text 39"/>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42" name="Text 40"/>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13 / 24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960120" cy="292608"/>
          </a:xfrm>
          <a:prstGeom prst="roundRect">
            <a:avLst>
              <a:gd name="adj" fmla="val 18750"/>
            </a:avLst>
          </a:prstGeom>
          <a:solidFill>
            <a:srgbClr val="F2A65A">
              <a:alpha val="14000"/>
            </a:srgbClr>
          </a:solidFill>
          <a:ln w="9525">
            <a:solidFill>
              <a:srgbClr val="F2A65A"/>
            </a:solidFill>
            <a:prstDash val="solid"/>
          </a:ln>
        </p:spPr>
      </p:sp>
      <p:sp>
        <p:nvSpPr>
          <p:cNvPr id="3" name="Text 1"/>
          <p:cNvSpPr txBox="1"/>
          <p:nvPr/>
        </p:nvSpPr>
        <p:spPr>
          <a:xfrm>
            <a:off x="457200" y="384048"/>
            <a:ext cx="960120" cy="292608"/>
          </a:xfrm>
          <a:prstGeom prst="rect">
            <a:avLst/>
          </a:prstGeom>
          <a:noFill/>
          <a:ln/>
        </p:spPr>
        <p:txBody>
          <a:bodyPr wrap="none" lIns="0" tIns="0" rIns="0" bIns="0" rtlCol="0" anchor="ctr"/>
          <a:lstStyle/>
          <a:p>
            <a:pPr algn="ctr" indent="0" marL="0">
              <a:buNone/>
            </a:pPr>
            <a:r>
              <a:rPr lang="en-US" sz="1050" b="1" spc="110" kern="0" dirty="0">
                <a:solidFill>
                  <a:srgbClr val="F2A65A"/>
                </a:solidFill>
                <a:latin typeface="Calibri" pitchFamily="34" charset="0"/>
                <a:ea typeface="Calibri" pitchFamily="34" charset="-122"/>
                <a:cs typeface="Calibri" pitchFamily="34" charset="-120"/>
              </a:rPr>
              <a:t>F-RAN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Fog RAN</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F2A65A"/>
                </a:solidFill>
                <a:latin typeface="Calibri" pitchFamily="34" charset="0"/>
                <a:ea typeface="Calibri" pitchFamily="34" charset="-122"/>
                <a:cs typeface="Calibri" pitchFamily="34" charset="-120"/>
              </a:rPr>
              <a:t>Advantages, trade-offs, and where it is used in industry</a:t>
            </a:r>
            <a:endParaRPr lang="en-US" sz="1350" dirty="0"/>
          </a:p>
        </p:txBody>
      </p:sp>
      <p:sp>
        <p:nvSpPr>
          <p:cNvPr id="6" name="Text 4"/>
          <p:cNvSpPr txBox="1"/>
          <p:nvPr/>
        </p:nvSpPr>
        <p:spPr>
          <a:xfrm>
            <a:off x="10698480" y="384048"/>
            <a:ext cx="1005840" cy="1005840"/>
          </a:xfrm>
          <a:prstGeom prst="rect">
            <a:avLst/>
          </a:prstGeom>
          <a:noFill/>
          <a:ln/>
        </p:spPr>
        <p:txBody>
          <a:bodyPr wrap="square" lIns="0" tIns="0" rIns="0" bIns="0" rtlCol="0" anchor="ctr"/>
          <a:lstStyle/>
          <a:p>
            <a:pPr algn="r" indent="0" marL="0">
              <a:buNone/>
            </a:pPr>
            <a:r>
              <a:rPr lang="en-US" sz="5200" b="1" dirty="0">
                <a:solidFill>
                  <a:srgbClr val="F2A65A">
                    <a:alpha val="20000"/>
                  </a:srgbClr>
                </a:solidFill>
                <a:latin typeface="Cambria" pitchFamily="34" charset="0"/>
                <a:ea typeface="Cambria" pitchFamily="34" charset="-122"/>
                <a:cs typeface="Cambria" pitchFamily="34" charset="-120"/>
              </a:rPr>
              <a:t>06</a:t>
            </a:r>
            <a:endParaRPr lang="en-US" sz="5200" dirty="0"/>
          </a:p>
        </p:txBody>
      </p:sp>
      <p:sp>
        <p:nvSpPr>
          <p:cNvPr id="7" name="Shape 5"/>
          <p:cNvSpPr/>
          <p:nvPr/>
        </p:nvSpPr>
        <p:spPr>
          <a:xfrm>
            <a:off x="457200" y="1828800"/>
            <a:ext cx="5532120" cy="2788920"/>
          </a:xfrm>
          <a:prstGeom prst="roundRect">
            <a:avLst>
              <a:gd name="adj" fmla="val 2951"/>
            </a:avLst>
          </a:prstGeom>
          <a:solidFill>
            <a:srgbClr val="12233D"/>
          </a:solidFill>
          <a:ln w="9525">
            <a:solidFill>
              <a:srgbClr val="1F3557"/>
            </a:solidFill>
            <a:prstDash val="solid"/>
          </a:ln>
        </p:spPr>
      </p:sp>
      <p:sp>
        <p:nvSpPr>
          <p:cNvPr id="8" name="Shape 6"/>
          <p:cNvSpPr/>
          <p:nvPr/>
        </p:nvSpPr>
        <p:spPr>
          <a:xfrm>
            <a:off x="658368" y="2011680"/>
            <a:ext cx="237744" cy="237744"/>
          </a:xfrm>
          <a:prstGeom prst="ellipse">
            <a:avLst/>
          </a:prstGeom>
          <a:solidFill>
            <a:srgbClr val="34D399">
              <a:alpha val="20000"/>
            </a:srgbClr>
          </a:solidFill>
          <a:ln w="12700">
            <a:solidFill>
              <a:srgbClr val="34D399"/>
            </a:solidFill>
            <a:prstDash val="solid"/>
          </a:ln>
        </p:spPr>
      </p:sp>
      <p:sp>
        <p:nvSpPr>
          <p:cNvPr id="9" name="Text 7"/>
          <p:cNvSpPr txBox="1"/>
          <p:nvPr/>
        </p:nvSpPr>
        <p:spPr>
          <a:xfrm>
            <a:off x="658368" y="2006194"/>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87552"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Advantages</a:t>
            </a:r>
            <a:endParaRPr lang="en-US" sz="1300" dirty="0"/>
          </a:p>
        </p:txBody>
      </p:sp>
      <p:sp>
        <p:nvSpPr>
          <p:cNvPr id="11" name="Text 9"/>
          <p:cNvSpPr txBox="1"/>
          <p:nvPr/>
        </p:nvSpPr>
        <p:spPr>
          <a:xfrm>
            <a:off x="694944" y="2340864"/>
            <a:ext cx="5074920" cy="2167128"/>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Minimum latency for latency-critical apps (AR/VR, industrial control, gaming)</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Removes that traffic's load from backhaul and the central core entirely</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Data can stay on-site for locality or privacy requirements</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Central core stays lean, sized for what actually needs to leave the site</a:t>
            </a:r>
            <a:endParaRPr lang="en-US" sz="1060" dirty="0"/>
          </a:p>
        </p:txBody>
      </p:sp>
      <p:sp>
        <p:nvSpPr>
          <p:cNvPr id="12" name="Shape 10"/>
          <p:cNvSpPr/>
          <p:nvPr/>
        </p:nvSpPr>
        <p:spPr>
          <a:xfrm>
            <a:off x="6199632" y="1828800"/>
            <a:ext cx="5532120" cy="2788920"/>
          </a:xfrm>
          <a:prstGeom prst="roundRect">
            <a:avLst>
              <a:gd name="adj" fmla="val 2951"/>
            </a:avLst>
          </a:prstGeom>
          <a:solidFill>
            <a:srgbClr val="12233D"/>
          </a:solidFill>
          <a:ln w="9525">
            <a:solidFill>
              <a:srgbClr val="1F3557"/>
            </a:solidFill>
            <a:prstDash val="solid"/>
          </a:ln>
        </p:spPr>
      </p:sp>
      <p:sp>
        <p:nvSpPr>
          <p:cNvPr id="13" name="Shape 11"/>
          <p:cNvSpPr/>
          <p:nvPr/>
        </p:nvSpPr>
        <p:spPr>
          <a:xfrm>
            <a:off x="6400800" y="2011680"/>
            <a:ext cx="237744" cy="237744"/>
          </a:xfrm>
          <a:prstGeom prst="ellipse">
            <a:avLst/>
          </a:prstGeom>
          <a:solidFill>
            <a:srgbClr val="F2A65A">
              <a:alpha val="20000"/>
            </a:srgbClr>
          </a:solidFill>
          <a:ln w="12700">
            <a:solidFill>
              <a:srgbClr val="F2A65A"/>
            </a:solidFill>
            <a:prstDash val="solid"/>
          </a:ln>
        </p:spPr>
      </p:sp>
      <p:sp>
        <p:nvSpPr>
          <p:cNvPr id="14" name="Text 12"/>
          <p:cNvSpPr txBox="1"/>
          <p:nvPr/>
        </p:nvSpPr>
        <p:spPr>
          <a:xfrm>
            <a:off x="6400800" y="2006194"/>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6729984" y="1975104"/>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Trade-offs</a:t>
            </a:r>
            <a:endParaRPr lang="en-US" sz="1300" dirty="0"/>
          </a:p>
        </p:txBody>
      </p:sp>
      <p:sp>
        <p:nvSpPr>
          <p:cNvPr id="16" name="Text 14"/>
          <p:cNvSpPr txBox="1"/>
          <p:nvPr/>
        </p:nvSpPr>
        <p:spPr>
          <a:xfrm>
            <a:off x="6437376" y="2322576"/>
            <a:ext cx="5074920" cy="1371600"/>
          </a:xfrm>
          <a:prstGeom prst="rect">
            <a:avLst/>
          </a:prstGeom>
          <a:noFill/>
          <a:ln/>
        </p:spPr>
        <p:txBody>
          <a:bodyPr wrap="square" lIns="0" tIns="0" rIns="0" bIns="0" rtlCol="0" anchor="t"/>
          <a:lstStyle/>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An edge UPF with nothing running at the edge accomplishes nothing</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Edge sites need their own compute and their own operations</a:t>
            </a:r>
            <a:endParaRPr lang="en-US" sz="1060" dirty="0"/>
          </a:p>
          <a:p>
            <a:pPr marL="342900" indent="-342900">
              <a:spcAft>
                <a:spcPts val="800"/>
              </a:spcAft>
              <a:buSzPct val="100000"/>
              <a:buChar char="•"/>
            </a:pPr>
            <a:r>
              <a:rPr lang="en-US" sz="1060" dirty="0">
                <a:solidFill>
                  <a:srgbClr val="AFC5DE"/>
                </a:solidFill>
                <a:latin typeface="Calibri" pitchFamily="34" charset="0"/>
                <a:ea typeface="Calibri" pitchFamily="34" charset="-122"/>
                <a:cs typeface="Calibri" pitchFamily="34" charset="-120"/>
              </a:rPr>
              <a:t>A single-node lab can't show the real distance-driven latency gain</a:t>
            </a:r>
            <a:endParaRPr lang="en-US" sz="1060" dirty="0"/>
          </a:p>
        </p:txBody>
      </p:sp>
      <p:sp>
        <p:nvSpPr>
          <p:cNvPr id="17" name="Shape 15"/>
          <p:cNvSpPr/>
          <p:nvPr/>
        </p:nvSpPr>
        <p:spPr>
          <a:xfrm>
            <a:off x="6437376" y="3712464"/>
            <a:ext cx="5074920" cy="0"/>
          </a:xfrm>
          <a:prstGeom prst="line">
            <a:avLst/>
          </a:prstGeom>
          <a:noFill/>
          <a:ln w="9525">
            <a:solidFill>
              <a:srgbClr val="1F3557"/>
            </a:solidFill>
            <a:prstDash val="solid"/>
          </a:ln>
        </p:spPr>
      </p:sp>
      <p:sp>
        <p:nvSpPr>
          <p:cNvPr id="18" name="Text 16"/>
          <p:cNvSpPr txBox="1"/>
          <p:nvPr/>
        </p:nvSpPr>
        <p:spPr>
          <a:xfrm>
            <a:off x="6437376" y="3794760"/>
            <a:ext cx="5074920" cy="182880"/>
          </a:xfrm>
          <a:prstGeom prst="rect">
            <a:avLst/>
          </a:prstGeom>
          <a:noFill/>
          <a:ln/>
        </p:spPr>
        <p:txBody>
          <a:bodyPr wrap="square" lIns="0" tIns="0" rIns="0" bIns="0" rtlCol="0" anchor="ctr"/>
          <a:lstStyle/>
          <a:p>
            <a:pPr indent="0" marL="0">
              <a:buNone/>
            </a:pPr>
            <a:r>
              <a:rPr lang="en-US" sz="850" b="1" spc="100" kern="0" dirty="0">
                <a:solidFill>
                  <a:srgbClr val="F2A65A"/>
                </a:solidFill>
                <a:latin typeface="Calibri" pitchFamily="34" charset="0"/>
                <a:ea typeface="Calibri" pitchFamily="34" charset="-122"/>
                <a:cs typeface="Calibri" pitchFamily="34" charset="-120"/>
              </a:rPr>
              <a:t>HOW IT'S ADDRESSED</a:t>
            </a:r>
            <a:endParaRPr lang="en-US" sz="850" dirty="0"/>
          </a:p>
        </p:txBody>
      </p:sp>
      <p:sp>
        <p:nvSpPr>
          <p:cNvPr id="19" name="Text 17"/>
          <p:cNvSpPr txBox="1"/>
          <p:nvPr/>
        </p:nvSpPr>
        <p:spPr>
          <a:xfrm>
            <a:off x="6437376" y="3986784"/>
            <a:ext cx="5074920" cy="539496"/>
          </a:xfrm>
          <a:prstGeom prst="rect">
            <a:avLst/>
          </a:prstGeom>
          <a:noFill/>
          <a:ln/>
        </p:spPr>
        <p:txBody>
          <a:bodyPr wrap="square" lIns="0" tIns="0" rIns="0" bIns="0" rtlCol="0" anchor="t"/>
          <a:lstStyle/>
          <a:p>
            <a:pPr indent="0" marL="0">
              <a:lnSpc>
                <a:spcPct val="110000"/>
              </a:lnSpc>
              <a:buNone/>
            </a:pPr>
            <a:r>
              <a:rPr lang="en-US" sz="980" dirty="0">
                <a:solidFill>
                  <a:srgbClr val="AFC5DE"/>
                </a:solidFill>
                <a:latin typeface="Calibri" pitchFamily="34" charset="0"/>
                <a:ea typeface="Calibri" pitchFamily="34" charset="-122"/>
                <a:cs typeface="Calibri" pitchFamily="34" charset="-120"/>
              </a:rPr>
              <a:t>This is the ETSI MEC pattern: always pair edge UPF placement with a genuine local workload — a cache, an industrial controller, an AR renderer — and validate on a real multi-site topology.</a:t>
            </a:r>
            <a:endParaRPr lang="en-US" sz="980" dirty="0"/>
          </a:p>
        </p:txBody>
      </p:sp>
      <p:sp>
        <p:nvSpPr>
          <p:cNvPr id="20" name="Shape 18"/>
          <p:cNvSpPr/>
          <p:nvPr/>
        </p:nvSpPr>
        <p:spPr>
          <a:xfrm>
            <a:off x="457200" y="4800600"/>
            <a:ext cx="11274552" cy="1600200"/>
          </a:xfrm>
          <a:prstGeom prst="roundRect">
            <a:avLst>
              <a:gd name="adj" fmla="val 5143"/>
            </a:avLst>
          </a:prstGeom>
          <a:solidFill>
            <a:srgbClr val="12233D"/>
          </a:solidFill>
          <a:ln w="9525">
            <a:solidFill>
              <a:srgbClr val="1F3557"/>
            </a:solidFill>
            <a:prstDash val="solid"/>
          </a:ln>
        </p:spPr>
      </p:sp>
      <p:sp>
        <p:nvSpPr>
          <p:cNvPr id="21" name="Shape 19"/>
          <p:cNvSpPr/>
          <p:nvPr/>
        </p:nvSpPr>
        <p:spPr>
          <a:xfrm>
            <a:off x="658368" y="4965192"/>
            <a:ext cx="237744" cy="237744"/>
          </a:xfrm>
          <a:prstGeom prst="ellipse">
            <a:avLst/>
          </a:prstGeom>
          <a:solidFill>
            <a:srgbClr val="1C7293">
              <a:alpha val="20000"/>
            </a:srgbClr>
          </a:solidFill>
          <a:ln w="12700">
            <a:solidFill>
              <a:srgbClr val="1C7293"/>
            </a:solidFill>
            <a:prstDash val="solid"/>
          </a:ln>
        </p:spPr>
      </p:sp>
      <p:sp>
        <p:nvSpPr>
          <p:cNvPr id="22" name="Text 20"/>
          <p:cNvSpPr txBox="1"/>
          <p:nvPr/>
        </p:nvSpPr>
        <p:spPr>
          <a:xfrm>
            <a:off x="658368" y="4959706"/>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n</a:t>
            </a:r>
            <a:endParaRPr lang="en-US" sz="1100" dirty="0"/>
          </a:p>
        </p:txBody>
      </p:sp>
      <p:sp>
        <p:nvSpPr>
          <p:cNvPr id="23" name="Text 21"/>
          <p:cNvSpPr txBox="1"/>
          <p:nvPr/>
        </p:nvSpPr>
        <p:spPr>
          <a:xfrm>
            <a:off x="987552" y="4928616"/>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Where it's used in industry</a:t>
            </a:r>
            <a:endParaRPr lang="en-US" sz="1250" dirty="0"/>
          </a:p>
        </p:txBody>
      </p:sp>
      <p:sp>
        <p:nvSpPr>
          <p:cNvPr id="24" name="Text 22"/>
          <p:cNvSpPr txBox="1"/>
          <p:nvPr/>
        </p:nvSpPr>
        <p:spPr>
          <a:xfrm>
            <a:off x="694944" y="5257800"/>
            <a:ext cx="10789920" cy="1033272"/>
          </a:xfrm>
          <a:prstGeom prst="rect">
            <a:avLst/>
          </a:prstGeom>
          <a:noFill/>
          <a:ln/>
        </p:spPr>
        <p:txBody>
          <a:bodyPr wrap="square" lIns="0" tIns="0" rIns="0" bIns="0" rtlCol="0" anchor="t"/>
          <a:lstStyle/>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Verizon, AT&amp;T and Rakuten MEC deployments for stadiums, factories and live events</a:t>
            </a:r>
            <a:endParaRPr lang="en-US" sz="1040" dirty="0"/>
          </a:p>
          <a:p>
            <a:pPr marL="342900" indent="-342900">
              <a:spcAft>
                <a:spcPts val="500"/>
              </a:spcAft>
              <a:buSzPct val="100000"/>
              <a:buChar char="•"/>
            </a:pPr>
            <a:r>
              <a:rPr lang="en-US" sz="1040" dirty="0">
                <a:solidFill>
                  <a:srgbClr val="AFC5DE"/>
                </a:solidFill>
                <a:latin typeface="Calibri" pitchFamily="34" charset="0"/>
                <a:ea typeface="Calibri" pitchFamily="34" charset="-122"/>
                <a:cs typeface="Calibri" pitchFamily="34" charset="-120"/>
              </a:rPr>
              <a:t>Industrial private 5G networks needing deterministic low latency</a:t>
            </a:r>
            <a:endParaRPr lang="en-US" sz="1040" dirty="0"/>
          </a:p>
        </p:txBody>
      </p:sp>
      <p:sp>
        <p:nvSpPr>
          <p:cNvPr id="25" name="Text 23"/>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6" name="Text 24"/>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14 / 24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673352"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673352"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PERFORMANCE</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Measured, Not Assumed</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Every figure taken end-to-end through the UE's own PDU session — traffic genuinely traverses RAN, core and UPF.</a:t>
            </a:r>
            <a:endParaRPr lang="en-US" sz="1350" dirty="0"/>
          </a:p>
        </p:txBody>
      </p:sp>
      <p:sp>
        <p:nvSpPr>
          <p:cNvPr id="6" name="Shape 4"/>
          <p:cNvSpPr/>
          <p:nvPr/>
        </p:nvSpPr>
        <p:spPr>
          <a:xfrm>
            <a:off x="457200" y="1920240"/>
            <a:ext cx="5029200" cy="2788920"/>
          </a:xfrm>
          <a:prstGeom prst="roundRect">
            <a:avLst>
              <a:gd name="adj" fmla="val 2951"/>
            </a:avLst>
          </a:prstGeom>
          <a:solidFill>
            <a:srgbClr val="12233D"/>
          </a:solidFill>
          <a:ln w="9525">
            <a:solidFill>
              <a:srgbClr val="1F3557"/>
            </a:solidFill>
            <a:prstDash val="solid"/>
          </a:ln>
        </p:spPr>
      </p:sp>
      <p:sp>
        <p:nvSpPr>
          <p:cNvPr id="7" name="Shape 5"/>
          <p:cNvSpPr/>
          <p:nvPr/>
        </p:nvSpPr>
        <p:spPr>
          <a:xfrm>
            <a:off x="658368" y="2103120"/>
            <a:ext cx="237744" cy="237744"/>
          </a:xfrm>
          <a:prstGeom prst="ellipse">
            <a:avLst/>
          </a:prstGeom>
          <a:solidFill>
            <a:srgbClr val="2DD4BF">
              <a:alpha val="20000"/>
            </a:srgbClr>
          </a:solidFill>
          <a:ln w="12700">
            <a:solidFill>
              <a:srgbClr val="2DD4BF"/>
            </a:solidFill>
            <a:prstDash val="solid"/>
          </a:ln>
        </p:spPr>
      </p:sp>
      <p:sp>
        <p:nvSpPr>
          <p:cNvPr id="8" name="Text 6"/>
          <p:cNvSpPr txBox="1"/>
          <p:nvPr/>
        </p:nvSpPr>
        <p:spPr>
          <a:xfrm>
            <a:off x="658368" y="2097634"/>
            <a:ext cx="237744" cy="237744"/>
          </a:xfrm>
          <a:prstGeom prst="rect">
            <a:avLst/>
          </a:prstGeom>
          <a:noFill/>
          <a:ln/>
        </p:spPr>
        <p:txBody>
          <a:bodyPr wrap="square" lIns="0" tIns="0" rIns="0" bIns="0" rtlCol="0" anchor="ctr"/>
          <a:lstStyle/>
          <a:p>
            <a:pPr algn="ctr" indent="0" marL="0">
              <a:buNone/>
            </a:pPr>
            <a:r>
              <a:rPr lang="en-US" sz="1100" b="1" dirty="0">
                <a:solidFill>
                  <a:srgbClr val="2DD4BF"/>
                </a:solidFill>
                <a:latin typeface="Calibri" pitchFamily="34" charset="0"/>
                <a:ea typeface="Calibri" pitchFamily="34" charset="-122"/>
                <a:cs typeface="Calibri" pitchFamily="34" charset="-120"/>
              </a:rPr>
              <a:t>M</a:t>
            </a:r>
            <a:endParaRPr lang="en-US" sz="1100" dirty="0"/>
          </a:p>
        </p:txBody>
      </p:sp>
      <p:sp>
        <p:nvSpPr>
          <p:cNvPr id="9" name="Text 7"/>
          <p:cNvSpPr txBox="1"/>
          <p:nvPr/>
        </p:nvSpPr>
        <p:spPr>
          <a:xfrm>
            <a:off x="987552" y="2066544"/>
            <a:ext cx="420624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Method</a:t>
            </a:r>
            <a:endParaRPr lang="en-US" sz="1300" dirty="0"/>
          </a:p>
        </p:txBody>
      </p:sp>
      <p:sp>
        <p:nvSpPr>
          <p:cNvPr id="10" name="Text 8"/>
          <p:cNvSpPr txBox="1"/>
          <p:nvPr/>
        </p:nvSpPr>
        <p:spPr>
          <a:xfrm>
            <a:off x="676656" y="2468880"/>
            <a:ext cx="4617720" cy="2103120"/>
          </a:xfrm>
          <a:prstGeom prst="rect">
            <a:avLst/>
          </a:prstGeom>
          <a:noFill/>
          <a:ln/>
        </p:spPr>
        <p:txBody>
          <a:bodyPr wrap="square" lIns="0" tIns="0" rIns="0" bIns="0" rtlCol="0" anchor="t"/>
          <a:lstStyle/>
          <a:p>
            <a:pPr marL="342900" indent="-342900">
              <a:spcAft>
                <a:spcPts val="700"/>
              </a:spcAft>
              <a:buSzPct val="100000"/>
              <a:buChar char="•"/>
            </a:pPr>
            <a:r>
              <a:rPr lang="en-US" sz="1020" dirty="0">
                <a:solidFill>
                  <a:srgbClr val="AFC5DE"/>
                </a:solidFill>
                <a:latin typeface="Calibri" pitchFamily="34" charset="0"/>
                <a:ea typeface="Calibri" pitchFamily="34" charset="-122"/>
                <a:cs typeface="Calibri" pitchFamily="34" charset="-120"/>
              </a:rPr>
              <a:t>iperf3 server on the host's cni0 bridge; client run inside the UE pod, source-bound to its tunnel interface so traffic cannot shortcut the RAN or core.</a:t>
            </a:r>
            <a:endParaRPr lang="en-US" sz="1020" dirty="0"/>
          </a:p>
          <a:p>
            <a:pPr marL="342900" indent="-342900">
              <a:spcAft>
                <a:spcPts val="700"/>
              </a:spcAft>
              <a:buSzPct val="100000"/>
              <a:buChar char="•"/>
            </a:pPr>
            <a:r>
              <a:rPr lang="en-US" sz="1020" dirty="0">
                <a:solidFill>
                  <a:srgbClr val="AFC5DE"/>
                </a:solidFill>
                <a:latin typeface="Calibri" pitchFamily="34" charset="0"/>
                <a:ea typeface="Calibri" pitchFamily="34" charset="-122"/>
                <a:cs typeface="Calibri" pitchFamily="34" charset="-120"/>
              </a:rPr>
              <a:t>Latency measured with ping over the same tunnel to a public internet destination (8.8.8.8), 15-20 packets per run.</a:t>
            </a:r>
            <a:endParaRPr lang="en-US" sz="1020" dirty="0"/>
          </a:p>
          <a:p>
            <a:pPr marL="342900" indent="-342900">
              <a:buSzPct val="100000"/>
              <a:buChar char="•"/>
            </a:pPr>
            <a:r>
              <a:rPr lang="en-US" sz="1020" dirty="0">
                <a:solidFill>
                  <a:srgbClr val="AFC5DE"/>
                </a:solidFill>
                <a:latin typeface="Calibri" pitchFamily="34" charset="0"/>
                <a:ea typeface="Calibri" pitchFamily="34" charset="-122"/>
                <a:cs typeface="Calibri" pitchFamily="34" charset="-120"/>
              </a:rPr>
              <a:t>Identical procedure for every scenario, so the numbers are comparable rather than anecdotal.</a:t>
            </a:r>
            <a:endParaRPr lang="en-US" sz="1020" dirty="0"/>
          </a:p>
        </p:txBody>
      </p:sp>
      <p:graphicFrame>
        <p:nvGraphicFramePr>
          <p:cNvPr id="11" name="Chart 0" descr=""/>
          <p:cNvGraphicFramePr/>
          <p:nvPr/>
        </p:nvGraphicFramePr>
        <p:xfrm>
          <a:off x="5852160" y="1920240"/>
          <a:ext cx="5852160" cy="278892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4892040"/>
            <a:ext cx="11274552" cy="1234440"/>
          </a:xfrm>
          <a:prstGeom prst="roundRect">
            <a:avLst>
              <a:gd name="adj" fmla="val 6667"/>
            </a:avLst>
          </a:prstGeom>
          <a:solidFill>
            <a:srgbClr val="2DD4BF">
              <a:alpha val="10000"/>
            </a:srgbClr>
          </a:solidFill>
          <a:ln w="12700">
            <a:solidFill>
              <a:srgbClr val="2DD4BF"/>
            </a:solidFill>
            <a:prstDash val="solid"/>
          </a:ln>
        </p:spPr>
      </p:sp>
      <p:sp>
        <p:nvSpPr>
          <p:cNvPr id="13" name="Text 10"/>
          <p:cNvSpPr txBox="1"/>
          <p:nvPr/>
        </p:nvSpPr>
        <p:spPr>
          <a:xfrm>
            <a:off x="685800" y="5010912"/>
            <a:ext cx="10789920" cy="274320"/>
          </a:xfrm>
          <a:prstGeom prst="rect">
            <a:avLst/>
          </a:prstGeom>
          <a:noFill/>
          <a:ln/>
        </p:spPr>
        <p:txBody>
          <a:bodyPr wrap="square" lIns="0" tIns="0" rIns="0" bIns="0" rtlCol="0" anchor="ctr"/>
          <a:lstStyle/>
          <a:p>
            <a:pPr indent="0" marL="0">
              <a:buNone/>
            </a:pPr>
            <a:r>
              <a:rPr lang="en-US" sz="1250" b="1" dirty="0">
                <a:solidFill>
                  <a:srgbClr val="2DD4BF"/>
                </a:solidFill>
                <a:latin typeface="Calibri" pitchFamily="34" charset="0"/>
                <a:ea typeface="Calibri" pitchFamily="34" charset="-122"/>
                <a:cs typeface="Calibri" pitchFamily="34" charset="-120"/>
              </a:rPr>
              <a:t>All three architectures land in the same 292-339 Mbit/s band at ~10 ms RTT.</a:t>
            </a:r>
            <a:endParaRPr lang="en-US" sz="1250" dirty="0"/>
          </a:p>
        </p:txBody>
      </p:sp>
      <p:sp>
        <p:nvSpPr>
          <p:cNvPr id="14" name="Text 11"/>
          <p:cNvSpPr txBox="1"/>
          <p:nvPr/>
        </p:nvSpPr>
        <p:spPr>
          <a:xfrm>
            <a:off x="685800" y="5303520"/>
            <a:ext cx="10789920" cy="731520"/>
          </a:xfrm>
          <a:prstGeom prst="rect">
            <a:avLst/>
          </a:prstGeom>
          <a:noFill/>
          <a:ln/>
        </p:spPr>
        <p:txBody>
          <a:bodyPr wrap="square" lIns="0" tIns="0" rIns="0" bIns="0" rtlCol="0" anchor="ctr"/>
          <a:lstStyle/>
          <a:p>
            <a:pPr indent="0" marL="0">
              <a:lnSpc>
                <a:spcPct val="120000"/>
              </a:lnSpc>
              <a:buNone/>
            </a:pPr>
            <a:r>
              <a:rPr lang="en-US" sz="1050" dirty="0">
                <a:solidFill>
                  <a:srgbClr val="AFC5DE"/>
                </a:solidFill>
                <a:latin typeface="Calibri" pitchFamily="34" charset="0"/>
                <a:ea typeface="Calibri" pitchFamily="34" charset="-122"/>
                <a:cs typeface="Calibri" pitchFamily="34" charset="-120"/>
              </a:rPr>
              <a:t>That is the expected result, and worth stating plainly: splitting the gNB (O-RAN), autoscaling the CU (v-CRAN) or attaching a second cell (H-CRAN) changes how the RAN is deployed and managed — it does not change the data path a single UE's traffic actually takes.</a:t>
            </a:r>
            <a:endParaRPr lang="en-US" sz="1050" dirty="0"/>
          </a:p>
        </p:txBody>
      </p:sp>
      <p:sp>
        <p:nvSpPr>
          <p:cNvPr id="15" name="Text 12"/>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16" name="Text 13"/>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15 / 24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197864" cy="292608"/>
          </a:xfrm>
          <a:prstGeom prst="roundRect">
            <a:avLst>
              <a:gd name="adj" fmla="val 18750"/>
            </a:avLst>
          </a:prstGeom>
          <a:solidFill>
            <a:srgbClr val="34D399">
              <a:alpha val="14000"/>
            </a:srgbClr>
          </a:solidFill>
          <a:ln w="9525">
            <a:solidFill>
              <a:srgbClr val="34D399"/>
            </a:solidFill>
            <a:prstDash val="solid"/>
          </a:ln>
        </p:spPr>
      </p:sp>
      <p:sp>
        <p:nvSpPr>
          <p:cNvPr id="3" name="Text 1"/>
          <p:cNvSpPr txBox="1"/>
          <p:nvPr/>
        </p:nvSpPr>
        <p:spPr>
          <a:xfrm>
            <a:off x="457200" y="384048"/>
            <a:ext cx="1197864" cy="292608"/>
          </a:xfrm>
          <a:prstGeom prst="rect">
            <a:avLst/>
          </a:prstGeom>
          <a:noFill/>
          <a:ln/>
        </p:spPr>
        <p:txBody>
          <a:bodyPr wrap="none" lIns="0" tIns="0" rIns="0" bIns="0" rtlCol="0" anchor="ctr"/>
          <a:lstStyle/>
          <a:p>
            <a:pPr algn="ctr" indent="0" marL="0">
              <a:buNone/>
            </a:pPr>
            <a:r>
              <a:rPr lang="en-US" sz="1050" b="1" spc="110" kern="0" dirty="0">
                <a:solidFill>
                  <a:srgbClr val="34D399"/>
                </a:solidFill>
                <a:latin typeface="Calibri" pitchFamily="34" charset="0"/>
                <a:ea typeface="Calibri" pitchFamily="34" charset="-122"/>
                <a:cs typeface="Calibri" pitchFamily="34" charset="-120"/>
              </a:rPr>
              <a:t>FINDING</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the Autoscaler Actually Responds To</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v-CRAN's HPA never moved under a sustained throughput test — and that is the correct behaviour.</a:t>
            </a:r>
            <a:endParaRPr lang="en-US" sz="1350" dirty="0"/>
          </a:p>
        </p:txBody>
      </p:sp>
      <p:sp>
        <p:nvSpPr>
          <p:cNvPr id="6" name="Shape 4"/>
          <p:cNvSpPr/>
          <p:nvPr/>
        </p:nvSpPr>
        <p:spPr>
          <a:xfrm>
            <a:off x="457200" y="1965960"/>
            <a:ext cx="3566160" cy="2103120"/>
          </a:xfrm>
          <a:prstGeom prst="roundRect">
            <a:avLst>
              <a:gd name="adj" fmla="val 3913"/>
            </a:avLst>
          </a:prstGeom>
          <a:solidFill>
            <a:srgbClr val="12233D"/>
          </a:solidFill>
          <a:ln w="9525">
            <a:solidFill>
              <a:srgbClr val="1F3557"/>
            </a:solidFill>
            <a:prstDash val="solid"/>
          </a:ln>
        </p:spPr>
      </p:sp>
      <p:sp>
        <p:nvSpPr>
          <p:cNvPr id="7" name="Text 5"/>
          <p:cNvSpPr txBox="1"/>
          <p:nvPr/>
        </p:nvSpPr>
        <p:spPr>
          <a:xfrm>
            <a:off x="457200" y="2240280"/>
            <a:ext cx="3566160" cy="566928"/>
          </a:xfrm>
          <a:prstGeom prst="rect">
            <a:avLst/>
          </a:prstGeom>
          <a:noFill/>
          <a:ln/>
        </p:spPr>
        <p:txBody>
          <a:bodyPr wrap="square" lIns="0" tIns="0" rIns="0" bIns="0" rtlCol="0" anchor="ctr"/>
          <a:lstStyle/>
          <a:p>
            <a:pPr algn="ctr" indent="0" marL="0">
              <a:buNone/>
            </a:pPr>
            <a:r>
              <a:rPr lang="en-US" sz="3400" b="1" dirty="0">
                <a:solidFill>
                  <a:srgbClr val="2DD4BF"/>
                </a:solidFill>
                <a:latin typeface="Cambria" pitchFamily="34" charset="0"/>
                <a:ea typeface="Cambria" pitchFamily="34" charset="-122"/>
                <a:cs typeface="Cambria" pitchFamily="34" charset="-120"/>
              </a:rPr>
              <a:t>339 Mbit/s</a:t>
            </a:r>
            <a:endParaRPr lang="en-US" sz="3400" dirty="0"/>
          </a:p>
        </p:txBody>
      </p:sp>
      <p:sp>
        <p:nvSpPr>
          <p:cNvPr id="8" name="Text 6"/>
          <p:cNvSpPr txBox="1"/>
          <p:nvPr/>
        </p:nvSpPr>
        <p:spPr>
          <a:xfrm>
            <a:off x="457200" y="2788920"/>
            <a:ext cx="3566160" cy="310896"/>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sustained through the CU/DU path</a:t>
            </a:r>
            <a:endParaRPr lang="en-US" sz="950" dirty="0"/>
          </a:p>
        </p:txBody>
      </p:sp>
      <p:sp>
        <p:nvSpPr>
          <p:cNvPr id="9" name="Text 7"/>
          <p:cNvSpPr txBox="1"/>
          <p:nvPr/>
        </p:nvSpPr>
        <p:spPr>
          <a:xfrm>
            <a:off x="685800" y="3154680"/>
            <a:ext cx="3108960" cy="731520"/>
          </a:xfrm>
          <a:prstGeom prst="rect">
            <a:avLst/>
          </a:prstGeom>
          <a:noFill/>
          <a:ln/>
        </p:spPr>
        <p:txBody>
          <a:bodyPr wrap="square" lIns="0" tIns="0" rIns="0" bIns="0" rtlCol="0" anchor="ctr"/>
          <a:lstStyle/>
          <a:p>
            <a:pPr algn="ctr" indent="0" marL="0">
              <a:lnSpc>
                <a:spcPct val="120000"/>
              </a:lnSpc>
              <a:buNone/>
            </a:pPr>
            <a:r>
              <a:rPr lang="en-US" sz="1050" dirty="0">
                <a:solidFill>
                  <a:srgbClr val="AFC5DE"/>
                </a:solidFill>
                <a:latin typeface="Calibri" pitchFamily="34" charset="0"/>
                <a:ea typeface="Calibri" pitchFamily="34" charset="-122"/>
                <a:cs typeface="Calibri" pitchFamily="34" charset="-120"/>
              </a:rPr>
              <a:t>Bulk user-plane traffic, pushed for a full 10 seconds.</a:t>
            </a:r>
            <a:endParaRPr lang="en-US" sz="1050" dirty="0"/>
          </a:p>
        </p:txBody>
      </p:sp>
      <p:sp>
        <p:nvSpPr>
          <p:cNvPr id="10" name="Shape 8"/>
          <p:cNvSpPr/>
          <p:nvPr/>
        </p:nvSpPr>
        <p:spPr>
          <a:xfrm>
            <a:off x="4297680" y="1965960"/>
            <a:ext cx="3566160" cy="2103120"/>
          </a:xfrm>
          <a:prstGeom prst="roundRect">
            <a:avLst>
              <a:gd name="adj" fmla="val 3913"/>
            </a:avLst>
          </a:prstGeom>
          <a:solidFill>
            <a:srgbClr val="12233D"/>
          </a:solidFill>
          <a:ln w="12700">
            <a:solidFill>
              <a:srgbClr val="34D399"/>
            </a:solidFill>
            <a:prstDash val="solid"/>
          </a:ln>
        </p:spPr>
      </p:sp>
      <p:sp>
        <p:nvSpPr>
          <p:cNvPr id="11" name="Text 9"/>
          <p:cNvSpPr txBox="1"/>
          <p:nvPr/>
        </p:nvSpPr>
        <p:spPr>
          <a:xfrm>
            <a:off x="4297680" y="2240280"/>
            <a:ext cx="3566160" cy="566928"/>
          </a:xfrm>
          <a:prstGeom prst="rect">
            <a:avLst/>
          </a:prstGeom>
          <a:noFill/>
          <a:ln/>
        </p:spPr>
        <p:txBody>
          <a:bodyPr wrap="square" lIns="0" tIns="0" rIns="0" bIns="0" rtlCol="0" anchor="ctr"/>
          <a:lstStyle/>
          <a:p>
            <a:pPr algn="ctr" indent="0" marL="0">
              <a:buNone/>
            </a:pPr>
            <a:r>
              <a:rPr lang="en-US" sz="3400" b="1" dirty="0">
                <a:solidFill>
                  <a:srgbClr val="34D399"/>
                </a:solidFill>
                <a:latin typeface="Cambria" pitchFamily="34" charset="0"/>
                <a:ea typeface="Cambria" pitchFamily="34" charset="-122"/>
                <a:cs typeface="Cambria" pitchFamily="34" charset="-120"/>
              </a:rPr>
              <a:t>3-4% / 70%</a:t>
            </a:r>
            <a:endParaRPr lang="en-US" sz="3400" dirty="0"/>
          </a:p>
        </p:txBody>
      </p:sp>
      <p:sp>
        <p:nvSpPr>
          <p:cNvPr id="12" name="Text 10"/>
          <p:cNvSpPr txBox="1"/>
          <p:nvPr/>
        </p:nvSpPr>
        <p:spPr>
          <a:xfrm>
            <a:off x="4297680" y="2788920"/>
            <a:ext cx="3566160" cy="310896"/>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HPA utilisation vs target</a:t>
            </a:r>
            <a:endParaRPr lang="en-US" sz="950" dirty="0"/>
          </a:p>
        </p:txBody>
      </p:sp>
      <p:sp>
        <p:nvSpPr>
          <p:cNvPr id="13" name="Text 11"/>
          <p:cNvSpPr txBox="1"/>
          <p:nvPr/>
        </p:nvSpPr>
        <p:spPr>
          <a:xfrm>
            <a:off x="4526280" y="3154680"/>
            <a:ext cx="3108960" cy="731520"/>
          </a:xfrm>
          <a:prstGeom prst="rect">
            <a:avLst/>
          </a:prstGeom>
          <a:noFill/>
          <a:ln/>
        </p:spPr>
        <p:txBody>
          <a:bodyPr wrap="square" lIns="0" tIns="0" rIns="0" bIns="0" rtlCol="0" anchor="ctr"/>
          <a:lstStyle/>
          <a:p>
            <a:pPr algn="ctr" indent="0" marL="0">
              <a:lnSpc>
                <a:spcPct val="120000"/>
              </a:lnSpc>
              <a:buNone/>
            </a:pPr>
            <a:r>
              <a:rPr lang="en-US" sz="1050" dirty="0">
                <a:solidFill>
                  <a:srgbClr val="AFC5DE"/>
                </a:solidFill>
                <a:latin typeface="Calibri" pitchFamily="34" charset="0"/>
                <a:ea typeface="Calibri" pitchFamily="34" charset="-122"/>
                <a:cs typeface="Calibri" pitchFamily="34" charset="-120"/>
              </a:rPr>
              <a:t>Flat throughout. No scale-out, no scale-in, no movement at all.</a:t>
            </a:r>
            <a:endParaRPr lang="en-US" sz="1050" dirty="0"/>
          </a:p>
        </p:txBody>
      </p:sp>
      <p:sp>
        <p:nvSpPr>
          <p:cNvPr id="14" name="Shape 12"/>
          <p:cNvSpPr/>
          <p:nvPr/>
        </p:nvSpPr>
        <p:spPr>
          <a:xfrm>
            <a:off x="8138160" y="1965960"/>
            <a:ext cx="3593592" cy="2103120"/>
          </a:xfrm>
          <a:prstGeom prst="roundRect">
            <a:avLst>
              <a:gd name="adj" fmla="val 3913"/>
            </a:avLst>
          </a:prstGeom>
          <a:solidFill>
            <a:srgbClr val="12233D"/>
          </a:solidFill>
          <a:ln w="9525">
            <a:solidFill>
              <a:srgbClr val="1F3557"/>
            </a:solidFill>
            <a:prstDash val="solid"/>
          </a:ln>
        </p:spPr>
      </p:sp>
      <p:sp>
        <p:nvSpPr>
          <p:cNvPr id="15" name="Text 13"/>
          <p:cNvSpPr txBox="1"/>
          <p:nvPr/>
        </p:nvSpPr>
        <p:spPr>
          <a:xfrm>
            <a:off x="8138160" y="2240280"/>
            <a:ext cx="3593592" cy="566928"/>
          </a:xfrm>
          <a:prstGeom prst="rect">
            <a:avLst/>
          </a:prstGeom>
          <a:noFill/>
          <a:ln/>
        </p:spPr>
        <p:txBody>
          <a:bodyPr wrap="square" lIns="0" tIns="0" rIns="0" bIns="0" rtlCol="0" anchor="ctr"/>
          <a:lstStyle/>
          <a:p>
            <a:pPr algn="ctr" indent="0" marL="0">
              <a:buNone/>
            </a:pPr>
            <a:r>
              <a:rPr lang="en-US" sz="3400" b="1" dirty="0">
                <a:solidFill>
                  <a:srgbClr val="F2A65A"/>
                </a:solidFill>
                <a:latin typeface="Cambria" pitchFamily="34" charset="0"/>
                <a:ea typeface="Cambria" pitchFamily="34" charset="-122"/>
                <a:cs typeface="Cambria" pitchFamily="34" charset="-120"/>
              </a:rPr>
              <a:t>18m / 216m</a:t>
            </a:r>
            <a:endParaRPr lang="en-US" sz="3400" dirty="0"/>
          </a:p>
        </p:txBody>
      </p:sp>
      <p:sp>
        <p:nvSpPr>
          <p:cNvPr id="16" name="Text 14"/>
          <p:cNvSpPr txBox="1"/>
          <p:nvPr/>
        </p:nvSpPr>
        <p:spPr>
          <a:xfrm>
            <a:off x="8138160" y="2788920"/>
            <a:ext cx="3593592" cy="310896"/>
          </a:xfrm>
          <a:prstGeom prst="rect">
            <a:avLst/>
          </a:prstGeom>
          <a:noFill/>
          <a:ln/>
        </p:spPr>
        <p:txBody>
          <a:bodyPr wrap="square" lIns="0" tIns="0" rIns="0" bIns="0" rtlCol="0" anchor="ctr"/>
          <a:lstStyle/>
          <a:p>
            <a:pPr algn="ctr" indent="0" marL="0">
              <a:buNone/>
            </a:pPr>
            <a:r>
              <a:rPr lang="en-US" sz="950" dirty="0">
                <a:solidFill>
                  <a:srgbClr val="7690AC"/>
                </a:solidFill>
                <a:latin typeface="Calibri" pitchFamily="34" charset="0"/>
                <a:ea typeface="Calibri" pitchFamily="34" charset="-122"/>
                <a:cs typeface="Calibri" pitchFamily="34" charset="-120"/>
              </a:rPr>
              <a:t>CU vs DU CPU under load</a:t>
            </a:r>
            <a:endParaRPr lang="en-US" sz="950" dirty="0"/>
          </a:p>
        </p:txBody>
      </p:sp>
      <p:sp>
        <p:nvSpPr>
          <p:cNvPr id="17" name="Text 15"/>
          <p:cNvSpPr txBox="1"/>
          <p:nvPr/>
        </p:nvSpPr>
        <p:spPr>
          <a:xfrm>
            <a:off x="8366760" y="3154680"/>
            <a:ext cx="3136392" cy="731520"/>
          </a:xfrm>
          <a:prstGeom prst="rect">
            <a:avLst/>
          </a:prstGeom>
          <a:noFill/>
          <a:ln/>
        </p:spPr>
        <p:txBody>
          <a:bodyPr wrap="square" lIns="0" tIns="0" rIns="0" bIns="0" rtlCol="0" anchor="ctr"/>
          <a:lstStyle/>
          <a:p>
            <a:pPr algn="ctr" indent="0" marL="0">
              <a:lnSpc>
                <a:spcPct val="120000"/>
              </a:lnSpc>
              <a:buNone/>
            </a:pPr>
            <a:r>
              <a:rPr lang="en-US" sz="1050" dirty="0">
                <a:solidFill>
                  <a:srgbClr val="AFC5DE"/>
                </a:solidFill>
                <a:latin typeface="Calibri" pitchFamily="34" charset="0"/>
                <a:ea typeface="Calibri" pitchFamily="34" charset="-122"/>
                <a:cs typeface="Calibri" pitchFamily="34" charset="-120"/>
              </a:rPr>
              <a:t>The DU forwards the payload; the CU stays essentially idle.</a:t>
            </a:r>
            <a:endParaRPr lang="en-US" sz="1050" dirty="0"/>
          </a:p>
        </p:txBody>
      </p:sp>
      <p:sp>
        <p:nvSpPr>
          <p:cNvPr id="18" name="Shape 16"/>
          <p:cNvSpPr/>
          <p:nvPr/>
        </p:nvSpPr>
        <p:spPr>
          <a:xfrm>
            <a:off x="457200" y="4251960"/>
            <a:ext cx="11274552" cy="1874520"/>
          </a:xfrm>
          <a:prstGeom prst="roundRect">
            <a:avLst>
              <a:gd name="adj" fmla="val 4390"/>
            </a:avLst>
          </a:prstGeom>
          <a:solidFill>
            <a:srgbClr val="34D399">
              <a:alpha val="10000"/>
            </a:srgbClr>
          </a:solidFill>
          <a:ln w="12700">
            <a:solidFill>
              <a:srgbClr val="34D399"/>
            </a:solidFill>
            <a:prstDash val="solid"/>
          </a:ln>
        </p:spPr>
      </p:sp>
      <p:sp>
        <p:nvSpPr>
          <p:cNvPr id="19" name="Text 17"/>
          <p:cNvSpPr txBox="1"/>
          <p:nvPr/>
        </p:nvSpPr>
        <p:spPr>
          <a:xfrm>
            <a:off x="713232" y="4389120"/>
            <a:ext cx="10789920" cy="310896"/>
          </a:xfrm>
          <a:prstGeom prst="rect">
            <a:avLst/>
          </a:prstGeom>
          <a:noFill/>
          <a:ln/>
        </p:spPr>
        <p:txBody>
          <a:bodyPr wrap="square" lIns="0" tIns="0" rIns="0" bIns="0" rtlCol="0" anchor="ctr"/>
          <a:lstStyle/>
          <a:p>
            <a:pPr indent="0" marL="0">
              <a:buNone/>
            </a:pPr>
            <a:r>
              <a:rPr lang="en-US" sz="1350" b="1" dirty="0">
                <a:solidFill>
                  <a:srgbClr val="34D399"/>
                </a:solidFill>
                <a:latin typeface="Cambria" pitchFamily="34" charset="0"/>
                <a:ea typeface="Cambria" pitchFamily="34" charset="-122"/>
                <a:cs typeface="Cambria" pitchFamily="34" charset="-120"/>
              </a:rPr>
              <a:t>Why: the CU is a receptionist, not a delivery driver.</a:t>
            </a:r>
            <a:endParaRPr lang="en-US" sz="1350" dirty="0"/>
          </a:p>
        </p:txBody>
      </p:sp>
      <p:sp>
        <p:nvSpPr>
          <p:cNvPr id="20" name="Text 18"/>
          <p:cNvSpPr txBox="1"/>
          <p:nvPr/>
        </p:nvSpPr>
        <p:spPr>
          <a:xfrm>
            <a:off x="713232" y="4718304"/>
            <a:ext cx="10789920" cy="1280160"/>
          </a:xfrm>
          <a:prstGeom prst="rect">
            <a:avLst/>
          </a:prstGeom>
          <a:noFill/>
          <a:ln/>
        </p:spPr>
        <p:txBody>
          <a:bodyPr wrap="square" lIns="0" tIns="0" rIns="0" bIns="0" rtlCol="0" anchor="ctr"/>
          <a:lstStyle/>
          <a:p>
            <a:pPr indent="0" marL="0">
              <a:lnSpc>
                <a:spcPct val="118000"/>
              </a:lnSpc>
              <a:buNone/>
            </a:pPr>
            <a:r>
              <a:rPr lang="en-US" sz="1050" dirty="0">
                <a:solidFill>
                  <a:srgbClr val="AFC5DE"/>
                </a:solidFill>
                <a:latin typeface="Calibri" pitchFamily="34" charset="0"/>
                <a:ea typeface="Calibri" pitchFamily="34" charset="-122"/>
                <a:cs typeface="Calibri" pitchFamily="34" charset="-120"/>
              </a:rPr>
              <a:t>The CU handles RRC and PDCP control signalling — registration, session setup, mobility. Once a session is established, the DU and UPF carry the actual packets. So more data from one UE creates almost no additional CU work, and an HPA watching CU CPU correctly stays flat.</a:t>
            </a:r>
            <a:endParaRPr lang="en-US" sz="1050" dirty="0"/>
          </a:p>
          <a:p>
            <a:pPr indent="0" marL="0">
              <a:lnSpc>
                <a:spcPct val="118000"/>
              </a:lnSpc>
              <a:buNone/>
            </a:pPr>
            <a:endParaRPr lang="en-US" sz="1050" dirty="0"/>
          </a:p>
          <a:p>
            <a:pPr indent="0" marL="0">
              <a:lnSpc>
                <a:spcPct val="118000"/>
              </a:lnSpc>
              <a:buNone/>
            </a:pPr>
            <a:r>
              <a:rPr lang="en-US" sz="1050" dirty="0">
                <a:solidFill>
                  <a:srgbClr val="AFC5DE"/>
                </a:solidFill>
                <a:latin typeface="Calibri" pitchFamily="34" charset="0"/>
                <a:ea typeface="Calibri" pitchFamily="34" charset="-122"/>
                <a:cs typeface="Calibri" pitchFamily="34" charset="-120"/>
              </a:rPr>
              <a:t>Scaling this CU would need concurrent control-plane load — many UEs registering or handing over at once — not more traffic volume from a single UE. Testing the wrong kind of load is the common mistake here; the flat result is evidence the autoscaler is scoped correctly.</a:t>
            </a:r>
            <a:endParaRPr lang="en-US" sz="1050" dirty="0"/>
          </a:p>
        </p:txBody>
      </p:sp>
      <p:sp>
        <p:nvSpPr>
          <p:cNvPr id="21" name="Text 19"/>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2" name="Text 20"/>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16 / 24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078992"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078992"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MATRIX</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Every Architecture, Both Stacks</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Five architectures × srsRAN and OAI — ten combinations, one identical test procedure.</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2862072"/>
                <a:gridCol w="1463040"/>
                <a:gridCol w="1280160"/>
                <a:gridCol w="1188720"/>
                <a:gridCol w="1463040"/>
                <a:gridCol w="1280160"/>
                <a:gridCol w="1737360"/>
              </a:tblGrid>
              <a:tr h="457200">
                <a:tc>
                  <a:txBody>
                    <a:bodyPr/>
                    <a:lstStyle/>
                    <a:p>
                      <a:pPr algn="l" indent="0" marL="0">
                        <a:buNone/>
                      </a:pPr>
                      <a:r>
                        <a:rPr lang="en-US" sz="950" b="1" dirty="0">
                          <a:solidFill>
                            <a:srgbClr val="2DD4BF"/>
                          </a:solidFill>
                          <a:latin typeface="Calibri" pitchFamily="34" charset="0"/>
                          <a:ea typeface="Calibri" pitchFamily="34" charset="-122"/>
                          <a:cs typeface="Calibri" pitchFamily="34" charset="-120"/>
                        </a:rPr>
                        <a:t>Architecture</a:t>
                      </a:r>
                      <a:endParaRPr lang="en-US" sz="9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950" b="1" dirty="0">
                          <a:solidFill>
                            <a:srgbClr val="2DD4BF"/>
                          </a:solidFill>
                          <a:latin typeface="Calibri" pitchFamily="34" charset="0"/>
                          <a:ea typeface="Calibri" pitchFamily="34" charset="-122"/>
                          <a:cs typeface="Calibri" pitchFamily="34" charset="-120"/>
                        </a:rPr>
                        <a:t>srsRAN</a:t>
                      </a:r>
                      <a:endParaRPr lang="en-US" sz="950" dirty="0">
                        <a:latin typeface="Calibri" charset="0"/>
                        <a:ea typeface="Calibri" charset="0"/>
                        <a:cs typeface="Calibri" charset="0"/>
                      </a:endParaRPr>
                    </a:p>
                    <a:p>
                      <a:pPr algn="ctr" indent="0" marL="0">
                        <a:buNone/>
                      </a:pPr>
                      <a:r>
                        <a:rPr lang="en-US" sz="950" b="1" dirty="0">
                          <a:solidFill>
                            <a:srgbClr val="2DD4BF"/>
                          </a:solidFill>
                          <a:latin typeface="Calibri" pitchFamily="34" charset="0"/>
                          <a:ea typeface="Calibri" pitchFamily="34" charset="-122"/>
                          <a:cs typeface="Calibri" pitchFamily="34" charset="-120"/>
                        </a:rPr>
                        <a:t>Mbit/s</a:t>
                      </a:r>
                      <a:endParaRPr lang="en-US" sz="9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950" b="1" dirty="0">
                          <a:solidFill>
                            <a:srgbClr val="2DD4BF"/>
                          </a:solidFill>
                          <a:latin typeface="Calibri" pitchFamily="34" charset="0"/>
                          <a:ea typeface="Calibri" pitchFamily="34" charset="-122"/>
                          <a:cs typeface="Calibri" pitchFamily="34" charset="-120"/>
                        </a:rPr>
                        <a:t>srsRAN</a:t>
                      </a:r>
                      <a:endParaRPr lang="en-US" sz="950" dirty="0">
                        <a:latin typeface="Calibri" charset="0"/>
                        <a:ea typeface="Calibri" charset="0"/>
                        <a:cs typeface="Calibri" charset="0"/>
                      </a:endParaRPr>
                    </a:p>
                    <a:p>
                      <a:pPr algn="ctr" indent="0" marL="0">
                        <a:buNone/>
                      </a:pPr>
                      <a:r>
                        <a:rPr lang="en-US" sz="950" b="1" dirty="0">
                          <a:solidFill>
                            <a:srgbClr val="2DD4BF"/>
                          </a:solidFill>
                          <a:latin typeface="Calibri" pitchFamily="34" charset="0"/>
                          <a:ea typeface="Calibri" pitchFamily="34" charset="-122"/>
                          <a:cs typeface="Calibri" pitchFamily="34" charset="-120"/>
                        </a:rPr>
                        <a:t>RTT ms</a:t>
                      </a:r>
                      <a:endParaRPr lang="en-US" sz="9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950" b="1" dirty="0">
                          <a:solidFill>
                            <a:srgbClr val="2DD4BF"/>
                          </a:solidFill>
                          <a:latin typeface="Calibri" pitchFamily="34" charset="0"/>
                          <a:ea typeface="Calibri" pitchFamily="34" charset="-122"/>
                          <a:cs typeface="Calibri" pitchFamily="34" charset="-120"/>
                        </a:rPr>
                        <a:t>srsRAN</a:t>
                      </a:r>
                      <a:endParaRPr lang="en-US" sz="950" dirty="0">
                        <a:latin typeface="Calibri" charset="0"/>
                        <a:ea typeface="Calibri" charset="0"/>
                        <a:cs typeface="Calibri" charset="0"/>
                      </a:endParaRPr>
                    </a:p>
                    <a:p>
                      <a:pPr algn="ctr" indent="0" marL="0">
                        <a:buNone/>
                      </a:pPr>
                      <a:r>
                        <a:rPr lang="en-US" sz="950" b="1" dirty="0">
                          <a:solidFill>
                            <a:srgbClr val="2DD4BF"/>
                          </a:solidFill>
                          <a:latin typeface="Calibri" pitchFamily="34" charset="0"/>
                          <a:ea typeface="Calibri" pitchFamily="34" charset="-122"/>
                          <a:cs typeface="Calibri" pitchFamily="34" charset="-120"/>
                        </a:rPr>
                        <a:t>retr</a:t>
                      </a:r>
                      <a:endParaRPr lang="en-US" sz="9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950" b="1" dirty="0">
                          <a:solidFill>
                            <a:srgbClr val="2DD4BF"/>
                          </a:solidFill>
                          <a:latin typeface="Calibri" pitchFamily="34" charset="0"/>
                          <a:ea typeface="Calibri" pitchFamily="34" charset="-122"/>
                          <a:cs typeface="Calibri" pitchFamily="34" charset="-120"/>
                        </a:rPr>
                        <a:t>OAI</a:t>
                      </a:r>
                      <a:endParaRPr lang="en-US" sz="950" dirty="0">
                        <a:latin typeface="Calibri" charset="0"/>
                        <a:ea typeface="Calibri" charset="0"/>
                        <a:cs typeface="Calibri" charset="0"/>
                      </a:endParaRPr>
                    </a:p>
                    <a:p>
                      <a:pPr algn="ctr" indent="0" marL="0">
                        <a:buNone/>
                      </a:pPr>
                      <a:r>
                        <a:rPr lang="en-US" sz="950" b="1" dirty="0">
                          <a:solidFill>
                            <a:srgbClr val="2DD4BF"/>
                          </a:solidFill>
                          <a:latin typeface="Calibri" pitchFamily="34" charset="0"/>
                          <a:ea typeface="Calibri" pitchFamily="34" charset="-122"/>
                          <a:cs typeface="Calibri" pitchFamily="34" charset="-120"/>
                        </a:rPr>
                        <a:t>Mbit/s</a:t>
                      </a:r>
                      <a:endParaRPr lang="en-US" sz="9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950" b="1" dirty="0">
                          <a:solidFill>
                            <a:srgbClr val="2DD4BF"/>
                          </a:solidFill>
                          <a:latin typeface="Calibri" pitchFamily="34" charset="0"/>
                          <a:ea typeface="Calibri" pitchFamily="34" charset="-122"/>
                          <a:cs typeface="Calibri" pitchFamily="34" charset="-120"/>
                        </a:rPr>
                        <a:t>OAI</a:t>
                      </a:r>
                      <a:endParaRPr lang="en-US" sz="950" dirty="0">
                        <a:latin typeface="Calibri" charset="0"/>
                        <a:ea typeface="Calibri" charset="0"/>
                        <a:cs typeface="Calibri" charset="0"/>
                      </a:endParaRPr>
                    </a:p>
                    <a:p>
                      <a:pPr algn="ctr" indent="0" marL="0">
                        <a:buNone/>
                      </a:pPr>
                      <a:r>
                        <a:rPr lang="en-US" sz="950" b="1" dirty="0">
                          <a:solidFill>
                            <a:srgbClr val="2DD4BF"/>
                          </a:solidFill>
                          <a:latin typeface="Calibri" pitchFamily="34" charset="0"/>
                          <a:ea typeface="Calibri" pitchFamily="34" charset="-122"/>
                          <a:cs typeface="Calibri" pitchFamily="34" charset="-120"/>
                        </a:rPr>
                        <a:t>RTT ms</a:t>
                      </a:r>
                      <a:endParaRPr lang="en-US" sz="9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950" b="1" dirty="0">
                          <a:solidFill>
                            <a:srgbClr val="2DD4BF"/>
                          </a:solidFill>
                          <a:latin typeface="Calibri" pitchFamily="34" charset="0"/>
                          <a:ea typeface="Calibri" pitchFamily="34" charset="-122"/>
                          <a:cs typeface="Calibri" pitchFamily="34" charset="-120"/>
                        </a:rPr>
                        <a:t>OAI</a:t>
                      </a:r>
                      <a:endParaRPr lang="en-US" sz="950" dirty="0">
                        <a:latin typeface="Calibri" charset="0"/>
                        <a:ea typeface="Calibri" charset="0"/>
                        <a:cs typeface="Calibri" charset="0"/>
                      </a:endParaRPr>
                    </a:p>
                    <a:p>
                      <a:pPr algn="ctr" indent="0" marL="0">
                        <a:buNone/>
                      </a:pPr>
                      <a:r>
                        <a:rPr lang="en-US" sz="950" b="1" dirty="0">
                          <a:solidFill>
                            <a:srgbClr val="2DD4BF"/>
                          </a:solidFill>
                          <a:latin typeface="Calibri" pitchFamily="34" charset="0"/>
                          <a:ea typeface="Calibri" pitchFamily="34" charset="-122"/>
                          <a:cs typeface="Calibri" pitchFamily="34" charset="-120"/>
                        </a:rPr>
                        <a:t>retr</a:t>
                      </a:r>
                      <a:endParaRPr lang="en-US" sz="9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r>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C-RAN</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205 *</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8.84</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339</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287</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9.04</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463</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r>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O-RAN (CU/DU over F1)</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215</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8.23</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313</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302</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8.17</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419</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r>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Cloud-RAN</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199</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8.69</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253</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295</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9.63</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400</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r>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H-CRAN (macro + small)</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147</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8.35</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304</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8.34</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402</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r>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v-CRAN (autoscaling CU)</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222 †</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9.95</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AFC5DE"/>
                          </a:solidFill>
                          <a:latin typeface="Calibri" pitchFamily="34" charset="0"/>
                          <a:ea typeface="Calibri" pitchFamily="34" charset="-122"/>
                          <a:cs typeface="Calibri" pitchFamily="34" charset="-120"/>
                        </a:rPr>
                        <a:t>337</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343 †</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1100" dirty="0">
                          <a:solidFill>
                            <a:srgbClr val="2DD4BF"/>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r>
            </a:tbl>
          </a:graphicData>
        </a:graphic>
      </p:graphicFrame>
      <p:sp>
        <p:nvSpPr>
          <p:cNvPr id="7" name="Text 4"/>
          <p:cNvSpPr txBox="1"/>
          <p:nvPr/>
        </p:nvSpPr>
        <p:spPr>
          <a:xfrm>
            <a:off x="457200" y="4709160"/>
            <a:ext cx="11274552" cy="502920"/>
          </a:xfrm>
          <a:prstGeom prst="rect">
            <a:avLst/>
          </a:prstGeom>
          <a:noFill/>
          <a:ln/>
        </p:spPr>
        <p:txBody>
          <a:bodyPr wrap="square" lIns="0" tIns="0" rIns="0" bIns="0" rtlCol="0" anchor="t"/>
          <a:lstStyle/>
          <a:p>
            <a:pPr indent="0" marL="0">
              <a:buNone/>
            </a:pPr>
            <a:r>
              <a:rPr lang="en-US" sz="950" b="1" dirty="0">
                <a:solidFill>
                  <a:srgbClr val="F2A65A"/>
                </a:solidFill>
                <a:latin typeface="Calibri" pitchFamily="34" charset="0"/>
                <a:ea typeface="Calibri" pitchFamily="34" charset="-122"/>
                <a:cs typeface="Calibri" pitchFamily="34" charset="-120"/>
              </a:rPr>
              <a:t>* </a:t>
            </a:r>
            <a:pPr indent="0" marL="0">
              <a:buNone/>
            </a:pPr>
            <a:r>
              <a:rPr lang="en-US" sz="950" dirty="0">
                <a:solidFill>
                  <a:srgbClr val="AFC5DE"/>
                </a:solidFill>
                <a:latin typeface="Calibri" pitchFamily="34" charset="0"/>
                <a:ea typeface="Calibri" pitchFamily="34" charset="-122"/>
                <a:cs typeface="Calibri" pitchFamily="34" charset="-120"/>
              </a:rPr>
              <a:t>C-RAN + srsRAN drives a real USRP B210 rather than the ZMQ simulator, so it is not directly comparable to the other nine.</a:t>
            </a:r>
            <a:endParaRPr lang="en-US" sz="950" dirty="0"/>
          </a:p>
          <a:p>
            <a:pPr indent="0" marL="0">
              <a:buNone/>
            </a:pPr>
            <a:r>
              <a:rPr lang="en-US" sz="950" b="1" dirty="0">
                <a:solidFill>
                  <a:srgbClr val="F2A65A"/>
                </a:solidFill>
                <a:latin typeface="Calibri" pitchFamily="34" charset="0"/>
                <a:ea typeface="Calibri" pitchFamily="34" charset="-122"/>
                <a:cs typeface="Calibri" pitchFamily="34" charset="-120"/>
              </a:rPr>
              <a:t>† </a:t>
            </a:r>
            <a:pPr indent="0" marL="0">
              <a:buNone/>
            </a:pPr>
            <a:r>
              <a:rPr lang="en-US" sz="950" dirty="0">
                <a:solidFill>
                  <a:srgbClr val="AFC5DE"/>
                </a:solidFill>
                <a:latin typeface="Calibri" pitchFamily="34" charset="0"/>
                <a:ea typeface="Calibri" pitchFamily="34" charset="-122"/>
                <a:cs typeface="Calibri" pitchFamily="34" charset="-120"/>
              </a:rPr>
              <a:t>v-CRAN re-measured after the sweep; see the caveat below.</a:t>
            </a:r>
            <a:endParaRPr lang="en-US" sz="950" dirty="0"/>
          </a:p>
        </p:txBody>
      </p:sp>
      <p:sp>
        <p:nvSpPr>
          <p:cNvPr id="8" name="Shape 5"/>
          <p:cNvSpPr/>
          <p:nvPr/>
        </p:nvSpPr>
        <p:spPr>
          <a:xfrm>
            <a:off x="457200" y="5230368"/>
            <a:ext cx="11274552" cy="1170432"/>
          </a:xfrm>
          <a:prstGeom prst="roundRect">
            <a:avLst>
              <a:gd name="adj" fmla="val 7031"/>
            </a:avLst>
          </a:prstGeom>
          <a:solidFill>
            <a:srgbClr val="F2A65A">
              <a:alpha val="10000"/>
            </a:srgbClr>
          </a:solidFill>
          <a:ln w="12700">
            <a:solidFill>
              <a:srgbClr val="F2A65A"/>
            </a:solidFill>
            <a:prstDash val="solid"/>
          </a:ln>
        </p:spPr>
      </p:sp>
      <p:sp>
        <p:nvSpPr>
          <p:cNvPr id="9" name="Text 6"/>
          <p:cNvSpPr txBox="1"/>
          <p:nvPr/>
        </p:nvSpPr>
        <p:spPr>
          <a:xfrm>
            <a:off x="713232" y="5340096"/>
            <a:ext cx="10789920" cy="256032"/>
          </a:xfrm>
          <a:prstGeom prst="rect">
            <a:avLst/>
          </a:prstGeom>
          <a:noFill/>
          <a:ln/>
        </p:spPr>
        <p:txBody>
          <a:bodyPr wrap="square" lIns="0" tIns="0" rIns="0" bIns="0" rtlCol="0" anchor="ctr"/>
          <a:lstStyle/>
          <a:p>
            <a:pPr indent="0" marL="0">
              <a:buNone/>
            </a:pPr>
            <a:r>
              <a:rPr lang="en-US" sz="1200" b="1" dirty="0">
                <a:solidFill>
                  <a:srgbClr val="F2A65A"/>
                </a:solidFill>
                <a:latin typeface="Cambria" pitchFamily="34" charset="0"/>
                <a:ea typeface="Cambria" pitchFamily="34" charset="-122"/>
                <a:cs typeface="Cambria" pitchFamily="34" charset="-120"/>
              </a:rPr>
              <a:t>Read these as indicative, not definitive.</a:t>
            </a:r>
            <a:endParaRPr lang="en-US" sz="1200" dirty="0"/>
          </a:p>
        </p:txBody>
      </p:sp>
      <p:sp>
        <p:nvSpPr>
          <p:cNvPr id="10" name="Text 7"/>
          <p:cNvSpPr txBox="1"/>
          <p:nvPr/>
        </p:nvSpPr>
        <p:spPr>
          <a:xfrm>
            <a:off x="713232" y="5614416"/>
            <a:ext cx="10789920" cy="713232"/>
          </a:xfrm>
          <a:prstGeom prst="rect">
            <a:avLst/>
          </a:prstGeom>
          <a:noFill/>
          <a:ln/>
        </p:spPr>
        <p:txBody>
          <a:bodyPr wrap="square" lIns="0" tIns="0" rIns="0" bIns="0" rtlCol="0" anchor="ctr"/>
          <a:lstStyle/>
          <a:p>
            <a:pPr indent="0" marL="0">
              <a:lnSpc>
                <a:spcPct val="115000"/>
              </a:lnSpc>
              <a:buNone/>
            </a:pPr>
            <a:r>
              <a:rPr lang="en-US" sz="1000" dirty="0">
                <a:solidFill>
                  <a:srgbClr val="AFC5DE"/>
                </a:solidFill>
                <a:latin typeface="Calibri" pitchFamily="34" charset="0"/>
                <a:ea typeface="Calibri" pitchFamily="34" charset="-122"/>
                <a:cs typeface="Calibri" pitchFamily="34" charset="-120"/>
              </a:rPr>
              <a:t>All ten ran back-to-back on one node in a single session, so later scenarios were measured on a busier machine than earlier ones — throughput tracks run order as much as architecture. v-CRAN first read 130 and 117 Mbit/s at the end of the sweep; re-measured on a quieter node it gave 343 and 222, matching an independent earlier reading of 339. Separating architecture from load would need each scenario measured from the same idle baseline.</a:t>
            </a:r>
            <a:endParaRPr lang="en-US" sz="1000" dirty="0"/>
          </a:p>
        </p:txBody>
      </p:sp>
      <p:sp>
        <p:nvSpPr>
          <p:cNvPr id="11" name="Text 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12" name="Text 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17 / 24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554480"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554480"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COMPARISON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Six Models, Side by Side</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Same building blocks — CU, DU, radio, core — arranged and scaled differently.</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1490472"/>
                <a:gridCol w="1630375"/>
                <a:gridCol w="1630375"/>
                <a:gridCol w="1630375"/>
                <a:gridCol w="1630375"/>
                <a:gridCol w="1630375"/>
                <a:gridCol w="1630375"/>
              </a:tblGrid>
              <a:tr h="502920">
                <a:tc>
                  <a:txBody>
                    <a:bodyPr/>
                    <a:lstStyle/>
                    <a:p>
                      <a:pPr algn="l" indent="0" marL="0">
                        <a:buNone/>
                      </a:pPr>
                      <a:r>
                        <a:rPr lang="en-US" sz="1050" b="1" dirty="0">
                          <a:solidFill>
                            <a:srgbClr val="2DD4B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1050" b="1" dirty="0">
                          <a:solidFill>
                            <a:srgbClr val="2DD4BF"/>
                          </a:solidFill>
                          <a:latin typeface="Calibri" pitchFamily="34" charset="0"/>
                          <a:ea typeface="Calibri" pitchFamily="34" charset="-122"/>
                          <a:cs typeface="Calibri" pitchFamily="34" charset="-120"/>
                        </a:rPr>
                        <a:t>C-RAN</a:t>
                      </a:r>
                      <a:endParaRPr lang="en-US" sz="10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1050" b="1" dirty="0">
                          <a:solidFill>
                            <a:srgbClr val="2DD4BF"/>
                          </a:solidFill>
                          <a:latin typeface="Calibri" pitchFamily="34" charset="0"/>
                          <a:ea typeface="Calibri" pitchFamily="34" charset="-122"/>
                          <a:cs typeface="Calibri" pitchFamily="34" charset="-120"/>
                        </a:rPr>
                        <a:t>O-RAN</a:t>
                      </a:r>
                      <a:endParaRPr lang="en-US" sz="10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1050" b="1" dirty="0">
                          <a:solidFill>
                            <a:srgbClr val="2DD4BF"/>
                          </a:solidFill>
                          <a:latin typeface="Calibri" pitchFamily="34" charset="0"/>
                          <a:ea typeface="Calibri" pitchFamily="34" charset="-122"/>
                          <a:cs typeface="Calibri" pitchFamily="34" charset="-120"/>
                        </a:rPr>
                        <a:t>Cloud-RAN</a:t>
                      </a:r>
                      <a:endParaRPr lang="en-US" sz="10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1050" b="1" dirty="0">
                          <a:solidFill>
                            <a:srgbClr val="2DD4BF"/>
                          </a:solidFill>
                          <a:latin typeface="Calibri" pitchFamily="34" charset="0"/>
                          <a:ea typeface="Calibri" pitchFamily="34" charset="-122"/>
                          <a:cs typeface="Calibri" pitchFamily="34" charset="-120"/>
                        </a:rPr>
                        <a:t>v-CRAN</a:t>
                      </a:r>
                      <a:endParaRPr lang="en-US" sz="10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1050" b="1" dirty="0">
                          <a:solidFill>
                            <a:srgbClr val="2DD4BF"/>
                          </a:solidFill>
                          <a:latin typeface="Calibri" pitchFamily="34" charset="0"/>
                          <a:ea typeface="Calibri" pitchFamily="34" charset="-122"/>
                          <a:cs typeface="Calibri" pitchFamily="34" charset="-120"/>
                        </a:rPr>
                        <a:t>H-CRAN</a:t>
                      </a:r>
                      <a:endParaRPr lang="en-US" sz="10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c>
                  <a:txBody>
                    <a:bodyPr/>
                    <a:lstStyle/>
                    <a:p>
                      <a:pPr algn="ctr" indent="0" marL="0">
                        <a:buNone/>
                      </a:pPr>
                      <a:r>
                        <a:rPr lang="en-US" sz="1050" b="1" dirty="0">
                          <a:solidFill>
                            <a:srgbClr val="2DD4BF"/>
                          </a:solidFill>
                          <a:latin typeface="Calibri" pitchFamily="34" charset="0"/>
                          <a:ea typeface="Calibri" pitchFamily="34" charset="-122"/>
                          <a:cs typeface="Calibri" pitchFamily="34" charset="-120"/>
                        </a:rPr>
                        <a:t>F-RAN</a:t>
                      </a:r>
                      <a:endParaRPr lang="en-US" sz="105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6283F"/>
                    </a:solidFill>
                  </a:tcPr>
                </a:tc>
              </a:tr>
              <a:tr h="502920">
                <a:tc>
                  <a:txBody>
                    <a:bodyPr/>
                    <a:lstStyle/>
                    <a:p>
                      <a:pPr algn="l" indent="0" marL="0">
                        <a:buNone/>
                      </a:pPr>
                      <a:r>
                        <a:rPr lang="en-US" sz="960" b="1" dirty="0">
                          <a:solidFill>
                            <a:srgbClr val="FFFFFF"/>
                          </a:solidFill>
                          <a:latin typeface="Calibri" pitchFamily="34" charset="0"/>
                          <a:ea typeface="Calibri" pitchFamily="34" charset="-122"/>
                          <a:cs typeface="Calibri" pitchFamily="34" charset="-120"/>
                        </a:rPr>
                        <a:t>Splits functions?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No — monolithic</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Yes — CU / DU (F1)</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No, but virtualized</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Yes, CU elastic</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By cell tier</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By traffic locality</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r>
              <a:tr h="502920">
                <a:tc>
                  <a:txBody>
                    <a:bodyPr/>
                    <a:lstStyle/>
                    <a:p>
                      <a:pPr algn="l" indent="0" marL="0">
                        <a:buNone/>
                      </a:pPr>
                      <a:r>
                        <a:rPr lang="en-US" sz="960" b="1" dirty="0">
                          <a:solidFill>
                            <a:srgbClr val="FFFFFF"/>
                          </a:solidFill>
                          <a:latin typeface="Calibri" pitchFamily="34" charset="0"/>
                          <a:ea typeface="Calibri" pitchFamily="34" charset="-122"/>
                          <a:cs typeface="Calibri" pitchFamily="34" charset="-120"/>
                        </a:rPr>
                        <a:t>Scales by</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Adding whole gNBs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CU / DU independently</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Pool sizing</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Autoscaler (HPA)</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Adding small cells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Adding edge sites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r>
              <a:tr h="502920">
                <a:tc>
                  <a:txBody>
                    <a:bodyPr/>
                    <a:lstStyle/>
                    <a:p>
                      <a:pPr algn="l" indent="0" marL="0">
                        <a:buNone/>
                      </a:pPr>
                      <a:r>
                        <a:rPr lang="en-US" sz="960" b="1" dirty="0">
                          <a:solidFill>
                            <a:srgbClr val="FFFFFF"/>
                          </a:solidFill>
                          <a:latin typeface="Calibri" pitchFamily="34" charset="0"/>
                          <a:ea typeface="Calibri" pitchFamily="34" charset="-122"/>
                          <a:cs typeface="Calibri" pitchFamily="34" charset="-120"/>
                        </a:rPr>
                        <a:t>Latency profile</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Lowest (no split)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Low + F1 hop</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Fronthaul-bound</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Fronthaul-bound</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Per-tier</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Lowest at the edge</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r>
              <a:tr h="502920">
                <a:tc>
                  <a:txBody>
                    <a:bodyPr/>
                    <a:lstStyle/>
                    <a:p>
                      <a:pPr algn="l" indent="0" marL="0">
                        <a:buNone/>
                      </a:pPr>
                      <a:r>
                        <a:rPr lang="en-US" sz="960" b="1" dirty="0">
                          <a:solidFill>
                            <a:srgbClr val="FFFFFF"/>
                          </a:solidFill>
                          <a:latin typeface="Calibri" pitchFamily="34" charset="0"/>
                          <a:ea typeface="Calibri" pitchFamily="34" charset="-122"/>
                          <a:cs typeface="Calibri" pitchFamily="34" charset="-120"/>
                        </a:rPr>
                        <a:t>Measured RTT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~10 ms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~10 ms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~10 ms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~0.8 ms (edge)</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r>
              <a:tr h="502920">
                <a:tc>
                  <a:txBody>
                    <a:bodyPr/>
                    <a:lstStyle/>
                    <a:p>
                      <a:pPr algn="l" indent="0" marL="0">
                        <a:buNone/>
                      </a:pPr>
                      <a:r>
                        <a:rPr lang="en-US" sz="960" b="1" dirty="0">
                          <a:solidFill>
                            <a:srgbClr val="FFFFFF"/>
                          </a:solidFill>
                          <a:latin typeface="Calibri" pitchFamily="34" charset="0"/>
                          <a:ea typeface="Calibri" pitchFamily="34" charset="-122"/>
                          <a:cs typeface="Calibri" pitchFamily="34" charset="-120"/>
                        </a:rPr>
                        <a:t>Measured throughput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320 Mbit/s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339 Mbit/s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292 Mbit/s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c>
                  <a:txBody>
                    <a:bodyPr/>
                    <a:lstStyle/>
                    <a:p>
                      <a:pPr algn="ctr" indent="0" marL="0">
                        <a:buNone/>
                      </a:pPr>
                      <a:r>
                        <a:rPr lang="en-US" sz="960" b="1" dirty="0">
                          <a:solidFill>
                            <a:srgbClr val="2DD4BF"/>
                          </a:solidFill>
                          <a:latin typeface="Calibri" pitchFamily="34" charset="0"/>
                          <a:ea typeface="Calibri" pitchFamily="34" charset="-122"/>
                          <a:cs typeface="Calibri" pitchFamily="34" charset="-120"/>
                        </a:rPr>
                        <a:t>—</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10304A"/>
                    </a:solidFill>
                  </a:tcPr>
                </a:tc>
              </a:tr>
              <a:tr h="502920">
                <a:tc>
                  <a:txBody>
                    <a:bodyPr/>
                    <a:lstStyle/>
                    <a:p>
                      <a:pPr algn="l" indent="0" marL="0">
                        <a:buNone/>
                      </a:pPr>
                      <a:r>
                        <a:rPr lang="en-US" sz="960" b="1" dirty="0">
                          <a:solidFill>
                            <a:srgbClr val="FFFFFF"/>
                          </a:solidFill>
                          <a:latin typeface="Calibri" pitchFamily="34" charset="0"/>
                          <a:ea typeface="Calibri" pitchFamily="34" charset="-122"/>
                          <a:cs typeface="Calibri" pitchFamily="34" charset="-120"/>
                        </a:rPr>
                        <a:t>Vendor flexibility</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Single vendor</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Multi-vendor (F1)</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Single/multi</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Single/multi</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Single/multi</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Single/multi</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E1C31"/>
                    </a:solidFill>
                  </a:tcPr>
                </a:tc>
              </a:tr>
              <a:tr h="502920">
                <a:tc>
                  <a:txBody>
                    <a:bodyPr/>
                    <a:lstStyle/>
                    <a:p>
                      <a:pPr algn="l" indent="0" marL="0">
                        <a:buNone/>
                      </a:pPr>
                      <a:r>
                        <a:rPr lang="en-US" sz="960" b="1" dirty="0">
                          <a:solidFill>
                            <a:srgbClr val="FFFFFF"/>
                          </a:solidFill>
                          <a:latin typeface="Calibri" pitchFamily="34" charset="0"/>
                          <a:ea typeface="Calibri" pitchFamily="34" charset="-122"/>
                          <a:cs typeface="Calibri" pitchFamily="34" charset="-120"/>
                        </a:rPr>
                        <a:t>Best for</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Labs &amp; private nets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Avoiding lock-in</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Urban densification</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Variable, bursty load</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Hotspot capacity</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c>
                  <a:txBody>
                    <a:bodyPr/>
                    <a:lstStyle/>
                    <a:p>
                      <a:pPr algn="ctr" indent="0" marL="0">
                        <a:buNone/>
                      </a:pPr>
                      <a:r>
                        <a:rPr lang="en-US" sz="960" dirty="0">
                          <a:solidFill>
                            <a:srgbClr val="AFC5DE"/>
                          </a:solidFill>
                          <a:latin typeface="Calibri" pitchFamily="34" charset="0"/>
                          <a:ea typeface="Calibri" pitchFamily="34" charset="-122"/>
                          <a:cs typeface="Calibri" pitchFamily="34" charset="-120"/>
                        </a:rPr>
                        <a:t>Latency-critical apps</a:t>
                      </a:r>
                      <a:endParaRPr lang="en-US" sz="960" dirty="0">
                        <a:latin typeface="Calibri" charset="0"/>
                        <a:ea typeface="Calibri" charset="0"/>
                        <a:cs typeface="Calibri" charset="0"/>
                      </a:endParaRPr>
                    </a:p>
                  </a:txBody>
                  <a:tcPr marL="91440" marR="91440" marT="45720" marB="45720" anchor="ctr">
                    <a:lnL w="6350" cap="flat" cmpd="sng" algn="ctr">
                      <a:solidFill>
                        <a:srgbClr val="1F3557"/>
                      </a:solidFill>
                      <a:prstDash val="solid"/>
                      <a:round/>
                      <a:headEnd type="none" w="med" len="med"/>
                      <a:tailEnd type="none" w="med" len="med"/>
                    </a:lnL>
                    <a:lnR w="6350" cap="flat" cmpd="sng" algn="ctr">
                      <a:solidFill>
                        <a:srgbClr val="1F3557"/>
                      </a:solidFill>
                      <a:prstDash val="solid"/>
                      <a:round/>
                      <a:headEnd type="none" w="med" len="med"/>
                      <a:tailEnd type="none" w="med" len="med"/>
                    </a:lnR>
                    <a:lnT w="6350" cap="flat" cmpd="sng" algn="ctr">
                      <a:solidFill>
                        <a:srgbClr val="1F3557"/>
                      </a:solidFill>
                      <a:prstDash val="solid"/>
                      <a:round/>
                      <a:headEnd type="none" w="med" len="med"/>
                      <a:tailEnd type="none" w="med" len="med"/>
                    </a:lnT>
                    <a:lnB w="6350" cap="flat" cmpd="sng" algn="ctr">
                      <a:solidFill>
                        <a:srgbClr val="1F3557"/>
                      </a:solidFill>
                      <a:prstDash val="solid"/>
                      <a:round/>
                      <a:headEnd type="none" w="med" len="med"/>
                      <a:tailEnd type="none" w="med" len="med"/>
                    </a:lnB>
                    <a:solidFill>
                      <a:srgbClr val="0A1628"/>
                    </a:solidFill>
                  </a:tcPr>
                </a:tc>
              </a:tr>
            </a:tbl>
          </a:graphicData>
        </a:graphic>
      </p:graphicFrame>
      <p:sp>
        <p:nvSpPr>
          <p:cNvPr id="7" name="Text 4"/>
          <p:cNvSpPr txBox="1"/>
          <p:nvPr/>
        </p:nvSpPr>
        <p:spPr>
          <a:xfrm>
            <a:off x="457200" y="6035040"/>
            <a:ext cx="11274552" cy="320040"/>
          </a:xfrm>
          <a:prstGeom prst="rect">
            <a:avLst/>
          </a:prstGeom>
          <a:noFill/>
          <a:ln/>
        </p:spPr>
        <p:txBody>
          <a:bodyPr wrap="square" lIns="0" tIns="0" rIns="0" bIns="0" rtlCol="0" anchor="ctr"/>
          <a:lstStyle/>
          <a:p>
            <a:pPr indent="0" marL="0">
              <a:buNone/>
            </a:pPr>
            <a:r>
              <a:rPr lang="en-US" sz="950" dirty="0">
                <a:solidFill>
                  <a:srgbClr val="7690AC"/>
                </a:solidFill>
                <a:latin typeface="Calibri" pitchFamily="34" charset="0"/>
                <a:ea typeface="Calibri" pitchFamily="34" charset="-122"/>
                <a:cs typeface="Calibri" pitchFamily="34" charset="-120"/>
              </a:rPr>
              <a:t>Highlighted rows are measured on this platform. Dashes mark scenarios whose data path is shared with a measured one, or measured differently (F-RAN uses TCP connect time).</a:t>
            </a:r>
            <a:endParaRPr lang="en-US" sz="950" dirty="0"/>
          </a:p>
        </p:txBody>
      </p:sp>
      <p:sp>
        <p:nvSpPr>
          <p:cNvPr id="8" name="Text 5"/>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9" name="Text 6"/>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18 / 24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2029968"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2029968"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RECOMMENDATION</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Which One Is Better?</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There isn't a single winner — each model answers a different question.</a:t>
            </a:r>
            <a:endParaRPr lang="en-US" sz="1350" dirty="0"/>
          </a:p>
        </p:txBody>
      </p:sp>
      <p:sp>
        <p:nvSpPr>
          <p:cNvPr id="6" name="Shape 4"/>
          <p:cNvSpPr/>
          <p:nvPr/>
        </p:nvSpPr>
        <p:spPr>
          <a:xfrm>
            <a:off x="457200" y="1874520"/>
            <a:ext cx="3611880" cy="1371600"/>
          </a:xfrm>
          <a:prstGeom prst="roundRect">
            <a:avLst>
              <a:gd name="adj" fmla="val 6000"/>
            </a:avLst>
          </a:prstGeom>
          <a:solidFill>
            <a:srgbClr val="12233D"/>
          </a:solidFill>
          <a:ln w="12700">
            <a:solidFill>
              <a:srgbClr val="1C7293"/>
            </a:solidFill>
            <a:prstDash val="solid"/>
          </a:ln>
        </p:spPr>
      </p:sp>
      <p:sp>
        <p:nvSpPr>
          <p:cNvPr id="7" name="Text 5"/>
          <p:cNvSpPr txBox="1"/>
          <p:nvPr/>
        </p:nvSpPr>
        <p:spPr>
          <a:xfrm>
            <a:off x="640080" y="1993392"/>
            <a:ext cx="3246120" cy="274320"/>
          </a:xfrm>
          <a:prstGeom prst="rect">
            <a:avLst/>
          </a:prstGeom>
          <a:noFill/>
          <a:ln/>
        </p:spPr>
        <p:txBody>
          <a:bodyPr wrap="square" lIns="0" tIns="0" rIns="0" bIns="0" rtlCol="0" anchor="ctr"/>
          <a:lstStyle/>
          <a:p>
            <a:pPr indent="0" marL="0">
              <a:buNone/>
            </a:pPr>
            <a:r>
              <a:rPr lang="en-US" sz="1350" b="1" dirty="0">
                <a:solidFill>
                  <a:srgbClr val="1C7293"/>
                </a:solidFill>
                <a:latin typeface="Cambria" pitchFamily="34" charset="0"/>
                <a:ea typeface="Cambria" pitchFamily="34" charset="-122"/>
                <a:cs typeface="Cambria" pitchFamily="34" charset="-120"/>
              </a:rPr>
              <a:t>C-RAN</a:t>
            </a:r>
            <a:endParaRPr lang="en-US" sz="1350" dirty="0"/>
          </a:p>
        </p:txBody>
      </p:sp>
      <p:sp>
        <p:nvSpPr>
          <p:cNvPr id="8" name="Text 6"/>
          <p:cNvSpPr txBox="1"/>
          <p:nvPr/>
        </p:nvSpPr>
        <p:spPr>
          <a:xfrm>
            <a:off x="640080" y="2276856"/>
            <a:ext cx="3246120" cy="292608"/>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Choose when simplicity matters most</a:t>
            </a:r>
            <a:endParaRPr lang="en-US" sz="1080" dirty="0"/>
          </a:p>
        </p:txBody>
      </p:sp>
      <p:sp>
        <p:nvSpPr>
          <p:cNvPr id="9" name="Text 7"/>
          <p:cNvSpPr txBox="1"/>
          <p:nvPr/>
        </p:nvSpPr>
        <p:spPr>
          <a:xfrm>
            <a:off x="640080" y="2587752"/>
            <a:ext cx="3246120" cy="566928"/>
          </a:xfrm>
          <a:prstGeom prst="rect">
            <a:avLst/>
          </a:prstGeom>
          <a:noFill/>
          <a:ln/>
        </p:spPr>
        <p:txBody>
          <a:bodyPr wrap="square" lIns="0" tIns="0" rIns="0" bIns="0" rtlCol="0" anchor="ctr"/>
          <a:lstStyle/>
          <a:p>
            <a:pPr indent="0" marL="0">
              <a:lnSpc>
                <a:spcPct val="115000"/>
              </a:lnSpc>
              <a:buNone/>
            </a:pPr>
            <a:r>
              <a:rPr lang="en-US" sz="930" dirty="0">
                <a:solidFill>
                  <a:srgbClr val="AFC5DE"/>
                </a:solidFill>
                <a:latin typeface="Calibri" pitchFamily="34" charset="0"/>
                <a:ea typeface="Calibri" pitchFamily="34" charset="-122"/>
                <a:cs typeface="Calibri" pitchFamily="34" charset="-120"/>
              </a:rPr>
              <a:t>Labs, pilots, private/campus 5G — nothing to coordinate, nothing to debug across a network hop.</a:t>
            </a:r>
            <a:endParaRPr lang="en-US" sz="930" dirty="0"/>
          </a:p>
        </p:txBody>
      </p:sp>
      <p:sp>
        <p:nvSpPr>
          <p:cNvPr id="10" name="Shape 8"/>
          <p:cNvSpPr/>
          <p:nvPr/>
        </p:nvSpPr>
        <p:spPr>
          <a:xfrm>
            <a:off x="4288536" y="1874520"/>
            <a:ext cx="3611880" cy="1371600"/>
          </a:xfrm>
          <a:prstGeom prst="roundRect">
            <a:avLst>
              <a:gd name="adj" fmla="val 6000"/>
            </a:avLst>
          </a:prstGeom>
          <a:solidFill>
            <a:srgbClr val="12233D"/>
          </a:solidFill>
          <a:ln w="12700">
            <a:solidFill>
              <a:srgbClr val="1C7293"/>
            </a:solidFill>
            <a:prstDash val="solid"/>
          </a:ln>
        </p:spPr>
      </p:sp>
      <p:sp>
        <p:nvSpPr>
          <p:cNvPr id="11" name="Text 9"/>
          <p:cNvSpPr txBox="1"/>
          <p:nvPr/>
        </p:nvSpPr>
        <p:spPr>
          <a:xfrm>
            <a:off x="4471416" y="1993392"/>
            <a:ext cx="3246120" cy="274320"/>
          </a:xfrm>
          <a:prstGeom prst="rect">
            <a:avLst/>
          </a:prstGeom>
          <a:noFill/>
          <a:ln/>
        </p:spPr>
        <p:txBody>
          <a:bodyPr wrap="square" lIns="0" tIns="0" rIns="0" bIns="0" rtlCol="0" anchor="ctr"/>
          <a:lstStyle/>
          <a:p>
            <a:pPr indent="0" marL="0">
              <a:buNone/>
            </a:pPr>
            <a:r>
              <a:rPr lang="en-US" sz="1350" b="1" dirty="0">
                <a:solidFill>
                  <a:srgbClr val="1C7293"/>
                </a:solidFill>
                <a:latin typeface="Cambria" pitchFamily="34" charset="0"/>
                <a:ea typeface="Cambria" pitchFamily="34" charset="-122"/>
                <a:cs typeface="Cambria" pitchFamily="34" charset="-120"/>
              </a:rPr>
              <a:t>O-RAN</a:t>
            </a:r>
            <a:endParaRPr lang="en-US" sz="1350" dirty="0"/>
          </a:p>
        </p:txBody>
      </p:sp>
      <p:sp>
        <p:nvSpPr>
          <p:cNvPr id="12" name="Text 10"/>
          <p:cNvSpPr txBox="1"/>
          <p:nvPr/>
        </p:nvSpPr>
        <p:spPr>
          <a:xfrm>
            <a:off x="4471416" y="2276856"/>
            <a:ext cx="3246120" cy="292608"/>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Choose to avoid vendor lock-in</a:t>
            </a:r>
            <a:endParaRPr lang="en-US" sz="1080" dirty="0"/>
          </a:p>
        </p:txBody>
      </p:sp>
      <p:sp>
        <p:nvSpPr>
          <p:cNvPr id="13" name="Text 11"/>
          <p:cNvSpPr txBox="1"/>
          <p:nvPr/>
        </p:nvSpPr>
        <p:spPr>
          <a:xfrm>
            <a:off x="4471416" y="2587752"/>
            <a:ext cx="3246120" cy="566928"/>
          </a:xfrm>
          <a:prstGeom prst="rect">
            <a:avLst/>
          </a:prstGeom>
          <a:noFill/>
          <a:ln/>
        </p:spPr>
        <p:txBody>
          <a:bodyPr wrap="square" lIns="0" tIns="0" rIns="0" bIns="0" rtlCol="0" anchor="ctr"/>
          <a:lstStyle/>
          <a:p>
            <a:pPr indent="0" marL="0">
              <a:lnSpc>
                <a:spcPct val="115000"/>
              </a:lnSpc>
              <a:buNone/>
            </a:pPr>
            <a:r>
              <a:rPr lang="en-US" sz="930" dirty="0">
                <a:solidFill>
                  <a:srgbClr val="AFC5DE"/>
                </a:solidFill>
                <a:latin typeface="Calibri" pitchFamily="34" charset="0"/>
                <a:ea typeface="Calibri" pitchFamily="34" charset="-122"/>
                <a:cs typeface="Calibri" pitchFamily="34" charset="-120"/>
              </a:rPr>
              <a:t>Multi-vendor sourcing, or preparing for RIC-based optimization later.</a:t>
            </a:r>
            <a:endParaRPr lang="en-US" sz="930" dirty="0"/>
          </a:p>
        </p:txBody>
      </p:sp>
      <p:sp>
        <p:nvSpPr>
          <p:cNvPr id="14" name="Shape 12"/>
          <p:cNvSpPr/>
          <p:nvPr/>
        </p:nvSpPr>
        <p:spPr>
          <a:xfrm>
            <a:off x="8119872" y="1874520"/>
            <a:ext cx="3611880" cy="1371600"/>
          </a:xfrm>
          <a:prstGeom prst="roundRect">
            <a:avLst>
              <a:gd name="adj" fmla="val 6000"/>
            </a:avLst>
          </a:prstGeom>
          <a:solidFill>
            <a:srgbClr val="12233D"/>
          </a:solidFill>
          <a:ln w="12700">
            <a:solidFill>
              <a:srgbClr val="2DD4BF"/>
            </a:solidFill>
            <a:prstDash val="solid"/>
          </a:ln>
        </p:spPr>
      </p:sp>
      <p:sp>
        <p:nvSpPr>
          <p:cNvPr id="15" name="Text 13"/>
          <p:cNvSpPr txBox="1"/>
          <p:nvPr/>
        </p:nvSpPr>
        <p:spPr>
          <a:xfrm>
            <a:off x="8302752" y="1993392"/>
            <a:ext cx="3246120" cy="274320"/>
          </a:xfrm>
          <a:prstGeom prst="rect">
            <a:avLst/>
          </a:prstGeom>
          <a:noFill/>
          <a:ln/>
        </p:spPr>
        <p:txBody>
          <a:bodyPr wrap="square" lIns="0" tIns="0" rIns="0" bIns="0" rtlCol="0" anchor="ctr"/>
          <a:lstStyle/>
          <a:p>
            <a:pPr indent="0" marL="0">
              <a:buNone/>
            </a:pPr>
            <a:r>
              <a:rPr lang="en-US" sz="1350" b="1" dirty="0">
                <a:solidFill>
                  <a:srgbClr val="2DD4BF"/>
                </a:solidFill>
                <a:latin typeface="Cambria" pitchFamily="34" charset="0"/>
                <a:ea typeface="Cambria" pitchFamily="34" charset="-122"/>
                <a:cs typeface="Cambria" pitchFamily="34" charset="-120"/>
              </a:rPr>
              <a:t>Cloud-RAN</a:t>
            </a:r>
            <a:endParaRPr lang="en-US" sz="1350" dirty="0"/>
          </a:p>
        </p:txBody>
      </p:sp>
      <p:sp>
        <p:nvSpPr>
          <p:cNvPr id="16" name="Text 14"/>
          <p:cNvSpPr txBox="1"/>
          <p:nvPr/>
        </p:nvSpPr>
        <p:spPr>
          <a:xfrm>
            <a:off x="8302752" y="2276856"/>
            <a:ext cx="3246120" cy="292608"/>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Choose for large-scale density</a:t>
            </a:r>
            <a:endParaRPr lang="en-US" sz="1080" dirty="0"/>
          </a:p>
        </p:txBody>
      </p:sp>
      <p:sp>
        <p:nvSpPr>
          <p:cNvPr id="17" name="Text 15"/>
          <p:cNvSpPr txBox="1"/>
          <p:nvPr/>
        </p:nvSpPr>
        <p:spPr>
          <a:xfrm>
            <a:off x="8302752" y="2587752"/>
            <a:ext cx="3246120" cy="566928"/>
          </a:xfrm>
          <a:prstGeom prst="rect">
            <a:avLst/>
          </a:prstGeom>
          <a:noFill/>
          <a:ln/>
        </p:spPr>
        <p:txBody>
          <a:bodyPr wrap="square" lIns="0" tIns="0" rIns="0" bIns="0" rtlCol="0" anchor="ctr"/>
          <a:lstStyle/>
          <a:p>
            <a:pPr indent="0" marL="0">
              <a:lnSpc>
                <a:spcPct val="115000"/>
              </a:lnSpc>
              <a:buNone/>
            </a:pPr>
            <a:r>
              <a:rPr lang="en-US" sz="930" dirty="0">
                <a:solidFill>
                  <a:srgbClr val="AFC5DE"/>
                </a:solidFill>
                <a:latin typeface="Calibri" pitchFamily="34" charset="0"/>
                <a:ea typeface="Calibri" pitchFamily="34" charset="-122"/>
                <a:cs typeface="Calibri" pitchFamily="34" charset="-120"/>
              </a:rPr>
              <a:t>Many sites, centralized ops, fronthaul that meets the latency budget.</a:t>
            </a:r>
            <a:endParaRPr lang="en-US" sz="930" dirty="0"/>
          </a:p>
        </p:txBody>
      </p:sp>
      <p:sp>
        <p:nvSpPr>
          <p:cNvPr id="18" name="Shape 16"/>
          <p:cNvSpPr/>
          <p:nvPr/>
        </p:nvSpPr>
        <p:spPr>
          <a:xfrm>
            <a:off x="457200" y="3429000"/>
            <a:ext cx="3611880" cy="1371600"/>
          </a:xfrm>
          <a:prstGeom prst="roundRect">
            <a:avLst>
              <a:gd name="adj" fmla="val 6000"/>
            </a:avLst>
          </a:prstGeom>
          <a:solidFill>
            <a:srgbClr val="12233D"/>
          </a:solidFill>
          <a:ln w="12700">
            <a:solidFill>
              <a:srgbClr val="34D399"/>
            </a:solidFill>
            <a:prstDash val="solid"/>
          </a:ln>
        </p:spPr>
      </p:sp>
      <p:sp>
        <p:nvSpPr>
          <p:cNvPr id="19" name="Text 17"/>
          <p:cNvSpPr txBox="1"/>
          <p:nvPr/>
        </p:nvSpPr>
        <p:spPr>
          <a:xfrm>
            <a:off x="640080" y="3547872"/>
            <a:ext cx="3246120" cy="274320"/>
          </a:xfrm>
          <a:prstGeom prst="rect">
            <a:avLst/>
          </a:prstGeom>
          <a:noFill/>
          <a:ln/>
        </p:spPr>
        <p:txBody>
          <a:bodyPr wrap="square" lIns="0" tIns="0" rIns="0" bIns="0" rtlCol="0" anchor="ctr"/>
          <a:lstStyle/>
          <a:p>
            <a:pPr indent="0" marL="0">
              <a:buNone/>
            </a:pPr>
            <a:r>
              <a:rPr lang="en-US" sz="1350" b="1" dirty="0">
                <a:solidFill>
                  <a:srgbClr val="34D399"/>
                </a:solidFill>
                <a:latin typeface="Cambria" pitchFamily="34" charset="0"/>
                <a:ea typeface="Cambria" pitchFamily="34" charset="-122"/>
                <a:cs typeface="Cambria" pitchFamily="34" charset="-120"/>
              </a:rPr>
              <a:t>v-CRAN</a:t>
            </a:r>
            <a:endParaRPr lang="en-US" sz="1350" dirty="0"/>
          </a:p>
        </p:txBody>
      </p:sp>
      <p:sp>
        <p:nvSpPr>
          <p:cNvPr id="20" name="Text 18"/>
          <p:cNvSpPr txBox="1"/>
          <p:nvPr/>
        </p:nvSpPr>
        <p:spPr>
          <a:xfrm>
            <a:off x="640080" y="3831336"/>
            <a:ext cx="3246120" cy="292608"/>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Choose for bursty control-plane load</a:t>
            </a:r>
            <a:endParaRPr lang="en-US" sz="1080" dirty="0"/>
          </a:p>
        </p:txBody>
      </p:sp>
      <p:sp>
        <p:nvSpPr>
          <p:cNvPr id="21" name="Text 19"/>
          <p:cNvSpPr txBox="1"/>
          <p:nvPr/>
        </p:nvSpPr>
        <p:spPr>
          <a:xfrm>
            <a:off x="640080" y="4142232"/>
            <a:ext cx="3246120" cy="566928"/>
          </a:xfrm>
          <a:prstGeom prst="rect">
            <a:avLst/>
          </a:prstGeom>
          <a:noFill/>
          <a:ln/>
        </p:spPr>
        <p:txBody>
          <a:bodyPr wrap="square" lIns="0" tIns="0" rIns="0" bIns="0" rtlCol="0" anchor="ctr"/>
          <a:lstStyle/>
          <a:p>
            <a:pPr indent="0" marL="0">
              <a:lnSpc>
                <a:spcPct val="115000"/>
              </a:lnSpc>
              <a:buNone/>
            </a:pPr>
            <a:r>
              <a:rPr lang="en-US" sz="930" dirty="0">
                <a:solidFill>
                  <a:srgbClr val="AFC5DE"/>
                </a:solidFill>
                <a:latin typeface="Calibri" pitchFamily="34" charset="0"/>
                <a:ea typeface="Calibri" pitchFamily="34" charset="-122"/>
                <a:cs typeface="Calibri" pitchFamily="34" charset="-120"/>
              </a:rPr>
              <a:t>Many UEs attaching and handing over — not simply more traffic from few UEs.</a:t>
            </a:r>
            <a:endParaRPr lang="en-US" sz="930" dirty="0"/>
          </a:p>
        </p:txBody>
      </p:sp>
      <p:sp>
        <p:nvSpPr>
          <p:cNvPr id="22" name="Shape 20"/>
          <p:cNvSpPr/>
          <p:nvPr/>
        </p:nvSpPr>
        <p:spPr>
          <a:xfrm>
            <a:off x="4288536" y="3429000"/>
            <a:ext cx="3611880" cy="1371600"/>
          </a:xfrm>
          <a:prstGeom prst="roundRect">
            <a:avLst>
              <a:gd name="adj" fmla="val 6000"/>
            </a:avLst>
          </a:prstGeom>
          <a:solidFill>
            <a:srgbClr val="12233D"/>
          </a:solidFill>
          <a:ln w="12700">
            <a:solidFill>
              <a:srgbClr val="F2A65A"/>
            </a:solidFill>
            <a:prstDash val="solid"/>
          </a:ln>
        </p:spPr>
      </p:sp>
      <p:sp>
        <p:nvSpPr>
          <p:cNvPr id="23" name="Text 21"/>
          <p:cNvSpPr txBox="1"/>
          <p:nvPr/>
        </p:nvSpPr>
        <p:spPr>
          <a:xfrm>
            <a:off x="4471416" y="3547872"/>
            <a:ext cx="3246120" cy="274320"/>
          </a:xfrm>
          <a:prstGeom prst="rect">
            <a:avLst/>
          </a:prstGeom>
          <a:noFill/>
          <a:ln/>
        </p:spPr>
        <p:txBody>
          <a:bodyPr wrap="square" lIns="0" tIns="0" rIns="0" bIns="0" rtlCol="0" anchor="ctr"/>
          <a:lstStyle/>
          <a:p>
            <a:pPr indent="0" marL="0">
              <a:buNone/>
            </a:pPr>
            <a:r>
              <a:rPr lang="en-US" sz="1350" b="1" dirty="0">
                <a:solidFill>
                  <a:srgbClr val="F2A65A"/>
                </a:solidFill>
                <a:latin typeface="Cambria" pitchFamily="34" charset="0"/>
                <a:ea typeface="Cambria" pitchFamily="34" charset="-122"/>
                <a:cs typeface="Cambria" pitchFamily="34" charset="-120"/>
              </a:rPr>
              <a:t>H-CRAN</a:t>
            </a:r>
            <a:endParaRPr lang="en-US" sz="1350" dirty="0"/>
          </a:p>
        </p:txBody>
      </p:sp>
      <p:sp>
        <p:nvSpPr>
          <p:cNvPr id="24" name="Text 22"/>
          <p:cNvSpPr txBox="1"/>
          <p:nvPr/>
        </p:nvSpPr>
        <p:spPr>
          <a:xfrm>
            <a:off x="4471416" y="3831336"/>
            <a:ext cx="3246120" cy="292608"/>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Choose for hotspot capacity</a:t>
            </a:r>
            <a:endParaRPr lang="en-US" sz="1080" dirty="0"/>
          </a:p>
        </p:txBody>
      </p:sp>
      <p:sp>
        <p:nvSpPr>
          <p:cNvPr id="25" name="Text 23"/>
          <p:cNvSpPr txBox="1"/>
          <p:nvPr/>
        </p:nvSpPr>
        <p:spPr>
          <a:xfrm>
            <a:off x="4471416" y="4142232"/>
            <a:ext cx="3246120" cy="566928"/>
          </a:xfrm>
          <a:prstGeom prst="rect">
            <a:avLst/>
          </a:prstGeom>
          <a:noFill/>
          <a:ln/>
        </p:spPr>
        <p:txBody>
          <a:bodyPr wrap="square" lIns="0" tIns="0" rIns="0" bIns="0" rtlCol="0" anchor="ctr"/>
          <a:lstStyle/>
          <a:p>
            <a:pPr indent="0" marL="0">
              <a:lnSpc>
                <a:spcPct val="115000"/>
              </a:lnSpc>
              <a:buNone/>
            </a:pPr>
            <a:r>
              <a:rPr lang="en-US" sz="930" dirty="0">
                <a:solidFill>
                  <a:srgbClr val="AFC5DE"/>
                </a:solidFill>
                <a:latin typeface="Calibri" pitchFamily="34" charset="0"/>
                <a:ea typeface="Calibri" pitchFamily="34" charset="-122"/>
                <a:cs typeface="Calibri" pitchFamily="34" charset="-120"/>
              </a:rPr>
              <a:t>Stadiums, campuses, dense pockets — without building another macro site.</a:t>
            </a:r>
            <a:endParaRPr lang="en-US" sz="930" dirty="0"/>
          </a:p>
        </p:txBody>
      </p:sp>
      <p:sp>
        <p:nvSpPr>
          <p:cNvPr id="26" name="Shape 24"/>
          <p:cNvSpPr/>
          <p:nvPr/>
        </p:nvSpPr>
        <p:spPr>
          <a:xfrm>
            <a:off x="8119872" y="3429000"/>
            <a:ext cx="3611880" cy="1371600"/>
          </a:xfrm>
          <a:prstGeom prst="roundRect">
            <a:avLst>
              <a:gd name="adj" fmla="val 6000"/>
            </a:avLst>
          </a:prstGeom>
          <a:solidFill>
            <a:srgbClr val="12233D"/>
          </a:solidFill>
          <a:ln w="12700">
            <a:solidFill>
              <a:srgbClr val="F2A65A"/>
            </a:solidFill>
            <a:prstDash val="solid"/>
          </a:ln>
        </p:spPr>
      </p:sp>
      <p:sp>
        <p:nvSpPr>
          <p:cNvPr id="27" name="Text 25"/>
          <p:cNvSpPr txBox="1"/>
          <p:nvPr/>
        </p:nvSpPr>
        <p:spPr>
          <a:xfrm>
            <a:off x="8302752" y="3547872"/>
            <a:ext cx="3246120" cy="274320"/>
          </a:xfrm>
          <a:prstGeom prst="rect">
            <a:avLst/>
          </a:prstGeom>
          <a:noFill/>
          <a:ln/>
        </p:spPr>
        <p:txBody>
          <a:bodyPr wrap="square" lIns="0" tIns="0" rIns="0" bIns="0" rtlCol="0" anchor="ctr"/>
          <a:lstStyle/>
          <a:p>
            <a:pPr indent="0" marL="0">
              <a:buNone/>
            </a:pPr>
            <a:r>
              <a:rPr lang="en-US" sz="1350" b="1" dirty="0">
                <a:solidFill>
                  <a:srgbClr val="F2A65A"/>
                </a:solidFill>
                <a:latin typeface="Cambria" pitchFamily="34" charset="0"/>
                <a:ea typeface="Cambria" pitchFamily="34" charset="-122"/>
                <a:cs typeface="Cambria" pitchFamily="34" charset="-120"/>
              </a:rPr>
              <a:t>F-RAN</a:t>
            </a:r>
            <a:endParaRPr lang="en-US" sz="1350" dirty="0"/>
          </a:p>
        </p:txBody>
      </p:sp>
      <p:sp>
        <p:nvSpPr>
          <p:cNvPr id="28" name="Text 26"/>
          <p:cNvSpPr txBox="1"/>
          <p:nvPr/>
        </p:nvSpPr>
        <p:spPr>
          <a:xfrm>
            <a:off x="8302752" y="3831336"/>
            <a:ext cx="3246120" cy="292608"/>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Choose for latency-critical apps</a:t>
            </a:r>
            <a:endParaRPr lang="en-US" sz="1080" dirty="0"/>
          </a:p>
        </p:txBody>
      </p:sp>
      <p:sp>
        <p:nvSpPr>
          <p:cNvPr id="29" name="Text 27"/>
          <p:cNvSpPr txBox="1"/>
          <p:nvPr/>
        </p:nvSpPr>
        <p:spPr>
          <a:xfrm>
            <a:off x="8302752" y="4142232"/>
            <a:ext cx="3246120" cy="566928"/>
          </a:xfrm>
          <a:prstGeom prst="rect">
            <a:avLst/>
          </a:prstGeom>
          <a:noFill/>
          <a:ln/>
        </p:spPr>
        <p:txBody>
          <a:bodyPr wrap="square" lIns="0" tIns="0" rIns="0" bIns="0" rtlCol="0" anchor="ctr"/>
          <a:lstStyle/>
          <a:p>
            <a:pPr indent="0" marL="0">
              <a:lnSpc>
                <a:spcPct val="115000"/>
              </a:lnSpc>
              <a:buNone/>
            </a:pPr>
            <a:r>
              <a:rPr lang="en-US" sz="930" dirty="0">
                <a:solidFill>
                  <a:srgbClr val="AFC5DE"/>
                </a:solidFill>
                <a:latin typeface="Calibri" pitchFamily="34" charset="0"/>
                <a:ea typeface="Calibri" pitchFamily="34" charset="-122"/>
                <a:cs typeface="Calibri" pitchFamily="34" charset="-120"/>
              </a:rPr>
              <a:t>Measured 6× faster to a local service than out through the central path.</a:t>
            </a:r>
            <a:endParaRPr lang="en-US" sz="930" dirty="0"/>
          </a:p>
        </p:txBody>
      </p:sp>
      <p:sp>
        <p:nvSpPr>
          <p:cNvPr id="30" name="Shape 28"/>
          <p:cNvSpPr/>
          <p:nvPr/>
        </p:nvSpPr>
        <p:spPr>
          <a:xfrm>
            <a:off x="457200" y="5029200"/>
            <a:ext cx="11274552" cy="1097280"/>
          </a:xfrm>
          <a:prstGeom prst="roundRect">
            <a:avLst>
              <a:gd name="adj" fmla="val 7500"/>
            </a:avLst>
          </a:prstGeom>
          <a:solidFill>
            <a:srgbClr val="2DD4BF">
              <a:alpha val="10000"/>
            </a:srgbClr>
          </a:solidFill>
          <a:ln w="12700">
            <a:solidFill>
              <a:srgbClr val="2DD4BF"/>
            </a:solidFill>
            <a:prstDash val="solid"/>
          </a:ln>
        </p:spPr>
      </p:sp>
      <p:sp>
        <p:nvSpPr>
          <p:cNvPr id="31" name="Text 29"/>
          <p:cNvSpPr txBox="1"/>
          <p:nvPr/>
        </p:nvSpPr>
        <p:spPr>
          <a:xfrm>
            <a:off x="713232" y="5148072"/>
            <a:ext cx="10789920" cy="274320"/>
          </a:xfrm>
          <a:prstGeom prst="rect">
            <a:avLst/>
          </a:prstGeom>
          <a:noFill/>
          <a:ln/>
        </p:spPr>
        <p:txBody>
          <a:bodyPr wrap="square" lIns="0" tIns="0" rIns="0" bIns="0" rtlCol="0" anchor="ctr"/>
          <a:lstStyle/>
          <a:p>
            <a:pPr indent="0" marL="0">
              <a:buNone/>
            </a:pPr>
            <a:r>
              <a:rPr lang="en-US" sz="1250" b="1" dirty="0">
                <a:solidFill>
                  <a:srgbClr val="2DD4BF"/>
                </a:solidFill>
                <a:latin typeface="Cambria" pitchFamily="34" charset="0"/>
                <a:ea typeface="Cambria" pitchFamily="34" charset="-122"/>
                <a:cs typeface="Cambria" pitchFamily="34" charset="-120"/>
              </a:rPr>
              <a:t>In practice these aren't mutually exclusive.</a:t>
            </a:r>
            <a:endParaRPr lang="en-US" sz="1250" dirty="0"/>
          </a:p>
        </p:txBody>
      </p:sp>
      <p:sp>
        <p:nvSpPr>
          <p:cNvPr id="32" name="Text 30"/>
          <p:cNvSpPr txBox="1"/>
          <p:nvPr/>
        </p:nvSpPr>
        <p:spPr>
          <a:xfrm>
            <a:off x="713232" y="5440680"/>
            <a:ext cx="10789920" cy="548640"/>
          </a:xfrm>
          <a:prstGeom prst="rect">
            <a:avLst/>
          </a:prstGeom>
          <a:noFill/>
          <a:ln/>
        </p:spPr>
        <p:txBody>
          <a:bodyPr wrap="square" lIns="0" tIns="0" rIns="0" bIns="0" rtlCol="0" anchor="ctr"/>
          <a:lstStyle/>
          <a:p>
            <a:pPr indent="0" marL="0">
              <a:lnSpc>
                <a:spcPct val="120000"/>
              </a:lnSpc>
              <a:buNone/>
            </a:pPr>
            <a:r>
              <a:rPr lang="en-US" sz="1050" dirty="0">
                <a:solidFill>
                  <a:srgbClr val="AFC5DE"/>
                </a:solidFill>
                <a:latin typeface="Calibri" pitchFamily="34" charset="0"/>
                <a:ea typeface="Calibri" pitchFamily="34" charset="-122"/>
                <a:cs typeface="Calibri" pitchFamily="34" charset="-120"/>
              </a:rPr>
              <a:t>All six run on one Open5GS core and switch from a single scenario dashboard — evidence that the choice of RAN architecture is a deployment and orchestration decision, not a redesign of the core.</a:t>
            </a:r>
            <a:endParaRPr lang="en-US" sz="1050" dirty="0"/>
          </a:p>
        </p:txBody>
      </p:sp>
      <p:sp>
        <p:nvSpPr>
          <p:cNvPr id="33" name="Text 31"/>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34" name="Text 32"/>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19 / 24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197864"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197864"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SUMMARY</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3"/>
          <p:cNvSpPr/>
          <p:nvPr/>
        </p:nvSpPr>
        <p:spPr>
          <a:xfrm>
            <a:off x="457200" y="1874520"/>
            <a:ext cx="11274552" cy="841248"/>
          </a:xfrm>
          <a:prstGeom prst="roundRect">
            <a:avLst>
              <a:gd name="adj" fmla="val 8696"/>
            </a:avLst>
          </a:prstGeom>
          <a:solidFill>
            <a:srgbClr val="12233D"/>
          </a:solidFill>
          <a:ln w="9525">
            <a:solidFill>
              <a:srgbClr val="1F3557"/>
            </a:solidFill>
            <a:prstDash val="solid"/>
          </a:ln>
        </p:spPr>
      </p:sp>
      <p:sp>
        <p:nvSpPr>
          <p:cNvPr id="6" name="Text 4"/>
          <p:cNvSpPr txBox="1"/>
          <p:nvPr/>
        </p:nvSpPr>
        <p:spPr>
          <a:xfrm>
            <a:off x="566928" y="1965960"/>
            <a:ext cx="548640" cy="658368"/>
          </a:xfrm>
          <a:prstGeom prst="rect">
            <a:avLst/>
          </a:prstGeom>
          <a:noFill/>
          <a:ln/>
        </p:spPr>
        <p:txBody>
          <a:bodyPr wrap="square" lIns="0" tIns="0" rIns="0" bIns="0" rtlCol="0" anchor="ctr"/>
          <a:lstStyle/>
          <a:p>
            <a:pPr algn="ctr" indent="0" marL="0">
              <a:buNone/>
            </a:pPr>
            <a:r>
              <a:rPr lang="en-US" sz="2400" b="1" dirty="0">
                <a:solidFill>
                  <a:srgbClr val="2DD4BF">
                    <a:alpha val="75000"/>
                  </a:srgbClr>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1234440" y="1965960"/>
            <a:ext cx="102412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Function placement is the real variable</a:t>
            </a:r>
            <a:endParaRPr lang="en-US" sz="1300" dirty="0"/>
          </a:p>
        </p:txBody>
      </p:sp>
      <p:sp>
        <p:nvSpPr>
          <p:cNvPr id="8" name="Text 6"/>
          <p:cNvSpPr txBox="1"/>
          <p:nvPr/>
        </p:nvSpPr>
        <p:spPr>
          <a:xfrm>
            <a:off x="1234440" y="2276856"/>
            <a:ext cx="10241280" cy="384048"/>
          </a:xfrm>
          <a:prstGeom prst="rect">
            <a:avLst/>
          </a:prstGeom>
          <a:noFill/>
          <a:ln/>
        </p:spPr>
        <p:txBody>
          <a:bodyPr wrap="square" lIns="0" tIns="0" rIns="0" bIns="0" rtlCol="0" anchor="ctr"/>
          <a:lstStyle/>
          <a:p>
            <a:pPr indent="0" marL="0">
              <a:lnSpc>
                <a:spcPct val="115000"/>
              </a:lnSpc>
              <a:buNone/>
            </a:pPr>
            <a:r>
              <a:rPr lang="en-US" sz="1030" dirty="0">
                <a:solidFill>
                  <a:srgbClr val="AFC5DE"/>
                </a:solidFill>
                <a:latin typeface="Calibri" pitchFamily="34" charset="0"/>
                <a:ea typeface="Calibri" pitchFamily="34" charset="-122"/>
                <a:cs typeface="Calibri" pitchFamily="34" charset="-120"/>
              </a:rPr>
              <a:t>Every model uses the same CU/DU/PHY building blocks — what changes is where each function runs and how it is scaled.</a:t>
            </a:r>
            <a:endParaRPr lang="en-US" sz="1030" dirty="0"/>
          </a:p>
        </p:txBody>
      </p:sp>
      <p:sp>
        <p:nvSpPr>
          <p:cNvPr id="9" name="Shape 7"/>
          <p:cNvSpPr/>
          <p:nvPr/>
        </p:nvSpPr>
        <p:spPr>
          <a:xfrm>
            <a:off x="457200" y="2825496"/>
            <a:ext cx="11274552" cy="841248"/>
          </a:xfrm>
          <a:prstGeom prst="roundRect">
            <a:avLst>
              <a:gd name="adj" fmla="val 8696"/>
            </a:avLst>
          </a:prstGeom>
          <a:solidFill>
            <a:srgbClr val="12233D"/>
          </a:solidFill>
          <a:ln w="9525">
            <a:solidFill>
              <a:srgbClr val="1F3557"/>
            </a:solidFill>
            <a:prstDash val="solid"/>
          </a:ln>
        </p:spPr>
      </p:sp>
      <p:sp>
        <p:nvSpPr>
          <p:cNvPr id="10" name="Text 8"/>
          <p:cNvSpPr txBox="1"/>
          <p:nvPr/>
        </p:nvSpPr>
        <p:spPr>
          <a:xfrm>
            <a:off x="566928" y="2916936"/>
            <a:ext cx="548640" cy="658368"/>
          </a:xfrm>
          <a:prstGeom prst="rect">
            <a:avLst/>
          </a:prstGeom>
          <a:noFill/>
          <a:ln/>
        </p:spPr>
        <p:txBody>
          <a:bodyPr wrap="square" lIns="0" tIns="0" rIns="0" bIns="0" rtlCol="0" anchor="ctr"/>
          <a:lstStyle/>
          <a:p>
            <a:pPr algn="ctr" indent="0" marL="0">
              <a:buNone/>
            </a:pPr>
            <a:r>
              <a:rPr lang="en-US" sz="2400" b="1" dirty="0">
                <a:solidFill>
                  <a:srgbClr val="2DD4BF">
                    <a:alpha val="75000"/>
                  </a:srgbClr>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1234440" y="2916936"/>
            <a:ext cx="102412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Deployment shape did not change the data path</a:t>
            </a:r>
            <a:endParaRPr lang="en-US" sz="1300" dirty="0"/>
          </a:p>
        </p:txBody>
      </p:sp>
      <p:sp>
        <p:nvSpPr>
          <p:cNvPr id="12" name="Text 10"/>
          <p:cNvSpPr txBox="1"/>
          <p:nvPr/>
        </p:nvSpPr>
        <p:spPr>
          <a:xfrm>
            <a:off x="1234440" y="3227832"/>
            <a:ext cx="10241280" cy="384048"/>
          </a:xfrm>
          <a:prstGeom prst="rect">
            <a:avLst/>
          </a:prstGeom>
          <a:noFill/>
          <a:ln/>
        </p:spPr>
        <p:txBody>
          <a:bodyPr wrap="square" lIns="0" tIns="0" rIns="0" bIns="0" rtlCol="0" anchor="ctr"/>
          <a:lstStyle/>
          <a:p>
            <a:pPr indent="0" marL="0">
              <a:lnSpc>
                <a:spcPct val="115000"/>
              </a:lnSpc>
              <a:buNone/>
            </a:pPr>
            <a:r>
              <a:rPr lang="en-US" sz="1030" dirty="0">
                <a:solidFill>
                  <a:srgbClr val="AFC5DE"/>
                </a:solidFill>
                <a:latin typeface="Calibri" pitchFamily="34" charset="0"/>
                <a:ea typeface="Calibri" pitchFamily="34" charset="-122"/>
                <a:cs typeface="Calibri" pitchFamily="34" charset="-120"/>
              </a:rPr>
              <a:t>O-RAN, v-CRAN and H-CRAN all measured 292-339 Mbit/s at ~10 ms. Splitting or autoscaling the RAN changes operations, not one UE's throughput.</a:t>
            </a:r>
            <a:endParaRPr lang="en-US" sz="1030" dirty="0"/>
          </a:p>
        </p:txBody>
      </p:sp>
      <p:sp>
        <p:nvSpPr>
          <p:cNvPr id="13" name="Shape 11"/>
          <p:cNvSpPr/>
          <p:nvPr/>
        </p:nvSpPr>
        <p:spPr>
          <a:xfrm>
            <a:off x="457200" y="3776472"/>
            <a:ext cx="11274552" cy="841248"/>
          </a:xfrm>
          <a:prstGeom prst="roundRect">
            <a:avLst>
              <a:gd name="adj" fmla="val 8696"/>
            </a:avLst>
          </a:prstGeom>
          <a:solidFill>
            <a:srgbClr val="12233D"/>
          </a:solidFill>
          <a:ln w="9525">
            <a:solidFill>
              <a:srgbClr val="1F3557"/>
            </a:solidFill>
            <a:prstDash val="solid"/>
          </a:ln>
        </p:spPr>
      </p:sp>
      <p:sp>
        <p:nvSpPr>
          <p:cNvPr id="14" name="Text 12"/>
          <p:cNvSpPr txBox="1"/>
          <p:nvPr/>
        </p:nvSpPr>
        <p:spPr>
          <a:xfrm>
            <a:off x="566928" y="3867912"/>
            <a:ext cx="548640" cy="658368"/>
          </a:xfrm>
          <a:prstGeom prst="rect">
            <a:avLst/>
          </a:prstGeom>
          <a:noFill/>
          <a:ln/>
        </p:spPr>
        <p:txBody>
          <a:bodyPr wrap="square" lIns="0" tIns="0" rIns="0" bIns="0" rtlCol="0" anchor="ctr"/>
          <a:lstStyle/>
          <a:p>
            <a:pPr algn="ctr" indent="0" marL="0">
              <a:buNone/>
            </a:pPr>
            <a:r>
              <a:rPr lang="en-US" sz="2400" b="1" dirty="0">
                <a:solidFill>
                  <a:srgbClr val="2DD4BF">
                    <a:alpha val="75000"/>
                  </a:srgbClr>
                </a:solidFill>
                <a:latin typeface="Cambria" pitchFamily="34" charset="0"/>
                <a:ea typeface="Cambria" pitchFamily="34" charset="-122"/>
                <a:cs typeface="Cambria" pitchFamily="34" charset="-120"/>
              </a:rPr>
              <a:t>3</a:t>
            </a:r>
            <a:endParaRPr lang="en-US" sz="2400" dirty="0"/>
          </a:p>
        </p:txBody>
      </p:sp>
      <p:sp>
        <p:nvSpPr>
          <p:cNvPr id="15" name="Text 13"/>
          <p:cNvSpPr txBox="1"/>
          <p:nvPr/>
        </p:nvSpPr>
        <p:spPr>
          <a:xfrm>
            <a:off x="1234440" y="3867912"/>
            <a:ext cx="102412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Autoscaling must target the right load</a:t>
            </a:r>
            <a:endParaRPr lang="en-US" sz="1300" dirty="0"/>
          </a:p>
        </p:txBody>
      </p:sp>
      <p:sp>
        <p:nvSpPr>
          <p:cNvPr id="16" name="Text 14"/>
          <p:cNvSpPr txBox="1"/>
          <p:nvPr/>
        </p:nvSpPr>
        <p:spPr>
          <a:xfrm>
            <a:off x="1234440" y="4178808"/>
            <a:ext cx="10241280" cy="384048"/>
          </a:xfrm>
          <a:prstGeom prst="rect">
            <a:avLst/>
          </a:prstGeom>
          <a:noFill/>
          <a:ln/>
        </p:spPr>
        <p:txBody>
          <a:bodyPr wrap="square" lIns="0" tIns="0" rIns="0" bIns="0" rtlCol="0" anchor="ctr"/>
          <a:lstStyle/>
          <a:p>
            <a:pPr indent="0" marL="0">
              <a:lnSpc>
                <a:spcPct val="115000"/>
              </a:lnSpc>
              <a:buNone/>
            </a:pPr>
            <a:r>
              <a:rPr lang="en-US" sz="1030" dirty="0">
                <a:solidFill>
                  <a:srgbClr val="AFC5DE"/>
                </a:solidFill>
                <a:latin typeface="Calibri" pitchFamily="34" charset="0"/>
                <a:ea typeface="Calibri" pitchFamily="34" charset="-122"/>
                <a:cs typeface="Calibri" pitchFamily="34" charset="-120"/>
              </a:rPr>
              <a:t>The CU's HPA stayed flat at 3-4% under a full-rate transfer, because the CU does signalling, not forwarding. Scaling it needs concurrent registrations.</a:t>
            </a:r>
            <a:endParaRPr lang="en-US" sz="1030" dirty="0"/>
          </a:p>
        </p:txBody>
      </p:sp>
      <p:sp>
        <p:nvSpPr>
          <p:cNvPr id="17" name="Shape 15"/>
          <p:cNvSpPr/>
          <p:nvPr/>
        </p:nvSpPr>
        <p:spPr>
          <a:xfrm>
            <a:off x="457200" y="4727448"/>
            <a:ext cx="11274552" cy="841248"/>
          </a:xfrm>
          <a:prstGeom prst="roundRect">
            <a:avLst>
              <a:gd name="adj" fmla="val 8696"/>
            </a:avLst>
          </a:prstGeom>
          <a:solidFill>
            <a:srgbClr val="12233D"/>
          </a:solidFill>
          <a:ln w="9525">
            <a:solidFill>
              <a:srgbClr val="1F3557"/>
            </a:solidFill>
            <a:prstDash val="solid"/>
          </a:ln>
        </p:spPr>
      </p:sp>
      <p:sp>
        <p:nvSpPr>
          <p:cNvPr id="18" name="Text 16"/>
          <p:cNvSpPr txBox="1"/>
          <p:nvPr/>
        </p:nvSpPr>
        <p:spPr>
          <a:xfrm>
            <a:off x="566928" y="4818888"/>
            <a:ext cx="548640" cy="658368"/>
          </a:xfrm>
          <a:prstGeom prst="rect">
            <a:avLst/>
          </a:prstGeom>
          <a:noFill/>
          <a:ln/>
        </p:spPr>
        <p:txBody>
          <a:bodyPr wrap="square" lIns="0" tIns="0" rIns="0" bIns="0" rtlCol="0" anchor="ctr"/>
          <a:lstStyle/>
          <a:p>
            <a:pPr algn="ctr" indent="0" marL="0">
              <a:buNone/>
            </a:pPr>
            <a:r>
              <a:rPr lang="en-US" sz="2400" b="1" dirty="0">
                <a:solidFill>
                  <a:srgbClr val="2DD4BF">
                    <a:alpha val="75000"/>
                  </a:srgbClr>
                </a:solidFill>
                <a:latin typeface="Cambria" pitchFamily="34" charset="0"/>
                <a:ea typeface="Cambria" pitchFamily="34" charset="-122"/>
                <a:cs typeface="Cambria" pitchFamily="34" charset="-120"/>
              </a:rPr>
              <a:t>4</a:t>
            </a:r>
            <a:endParaRPr lang="en-US" sz="2400" dirty="0"/>
          </a:p>
        </p:txBody>
      </p:sp>
      <p:sp>
        <p:nvSpPr>
          <p:cNvPr id="19" name="Text 17"/>
          <p:cNvSpPr txBox="1"/>
          <p:nvPr/>
        </p:nvSpPr>
        <p:spPr>
          <a:xfrm>
            <a:off x="1234440" y="4818888"/>
            <a:ext cx="102412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Edge value is measurable, and it comes from removing hops</a:t>
            </a:r>
            <a:endParaRPr lang="en-US" sz="1300" dirty="0"/>
          </a:p>
        </p:txBody>
      </p:sp>
      <p:sp>
        <p:nvSpPr>
          <p:cNvPr id="20" name="Text 18"/>
          <p:cNvSpPr txBox="1"/>
          <p:nvPr/>
        </p:nvSpPr>
        <p:spPr>
          <a:xfrm>
            <a:off x="1234440" y="5129784"/>
            <a:ext cx="10241280" cy="384048"/>
          </a:xfrm>
          <a:prstGeom prst="rect">
            <a:avLst/>
          </a:prstGeom>
          <a:noFill/>
          <a:ln/>
        </p:spPr>
        <p:txBody>
          <a:bodyPr wrap="square" lIns="0" tIns="0" rIns="0" bIns="0" rtlCol="0" anchor="ctr"/>
          <a:lstStyle/>
          <a:p>
            <a:pPr indent="0" marL="0">
              <a:lnSpc>
                <a:spcPct val="115000"/>
              </a:lnSpc>
              <a:buNone/>
            </a:pPr>
            <a:r>
              <a:rPr lang="en-US" sz="1030" dirty="0">
                <a:solidFill>
                  <a:srgbClr val="AFC5DE"/>
                </a:solidFill>
                <a:latin typeface="Calibri" pitchFamily="34" charset="0"/>
                <a:ea typeface="Calibri" pitchFamily="34" charset="-122"/>
                <a:cs typeface="Calibri" pitchFamily="34" charset="-120"/>
              </a:rPr>
              <a:t>~0.8 ms to a local MEC app versus ~5.0 ms out through the central path — a 6× advantage even with no physical distance involved.</a:t>
            </a:r>
            <a:endParaRPr lang="en-US" sz="1030" dirty="0"/>
          </a:p>
        </p:txBody>
      </p:sp>
      <p:sp>
        <p:nvSpPr>
          <p:cNvPr id="21" name="Shape 19"/>
          <p:cNvSpPr/>
          <p:nvPr/>
        </p:nvSpPr>
        <p:spPr>
          <a:xfrm>
            <a:off x="457200" y="5678424"/>
            <a:ext cx="11274552" cy="841248"/>
          </a:xfrm>
          <a:prstGeom prst="roundRect">
            <a:avLst>
              <a:gd name="adj" fmla="val 8696"/>
            </a:avLst>
          </a:prstGeom>
          <a:solidFill>
            <a:srgbClr val="12233D"/>
          </a:solidFill>
          <a:ln w="9525">
            <a:solidFill>
              <a:srgbClr val="1F3557"/>
            </a:solidFill>
            <a:prstDash val="solid"/>
          </a:ln>
        </p:spPr>
      </p:sp>
      <p:sp>
        <p:nvSpPr>
          <p:cNvPr id="22" name="Text 20"/>
          <p:cNvSpPr txBox="1"/>
          <p:nvPr/>
        </p:nvSpPr>
        <p:spPr>
          <a:xfrm>
            <a:off x="566928" y="5769864"/>
            <a:ext cx="548640" cy="658368"/>
          </a:xfrm>
          <a:prstGeom prst="rect">
            <a:avLst/>
          </a:prstGeom>
          <a:noFill/>
          <a:ln/>
        </p:spPr>
        <p:txBody>
          <a:bodyPr wrap="square" lIns="0" tIns="0" rIns="0" bIns="0" rtlCol="0" anchor="ctr"/>
          <a:lstStyle/>
          <a:p>
            <a:pPr algn="ctr" indent="0" marL="0">
              <a:buNone/>
            </a:pPr>
            <a:r>
              <a:rPr lang="en-US" sz="2400" b="1" dirty="0">
                <a:solidFill>
                  <a:srgbClr val="2DD4BF">
                    <a:alpha val="75000"/>
                  </a:srgbClr>
                </a:solidFill>
                <a:latin typeface="Cambria" pitchFamily="34" charset="0"/>
                <a:ea typeface="Cambria" pitchFamily="34" charset="-122"/>
                <a:cs typeface="Cambria" pitchFamily="34" charset="-120"/>
              </a:rPr>
              <a:t>5</a:t>
            </a:r>
            <a:endParaRPr lang="en-US" sz="2400" dirty="0"/>
          </a:p>
        </p:txBody>
      </p:sp>
      <p:sp>
        <p:nvSpPr>
          <p:cNvPr id="23" name="Text 21"/>
          <p:cNvSpPr txBox="1"/>
          <p:nvPr/>
        </p:nvSpPr>
        <p:spPr>
          <a:xfrm>
            <a:off x="1234440" y="5769864"/>
            <a:ext cx="1024128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Know which limit you are hitting</a:t>
            </a:r>
            <a:endParaRPr lang="en-US" sz="1300" dirty="0"/>
          </a:p>
        </p:txBody>
      </p:sp>
      <p:sp>
        <p:nvSpPr>
          <p:cNvPr id="24" name="Text 22"/>
          <p:cNvSpPr txBox="1"/>
          <p:nvPr/>
        </p:nvSpPr>
        <p:spPr>
          <a:xfrm>
            <a:off x="1234440" y="6080760"/>
            <a:ext cx="10241280" cy="384048"/>
          </a:xfrm>
          <a:prstGeom prst="rect">
            <a:avLst/>
          </a:prstGeom>
          <a:noFill/>
          <a:ln/>
        </p:spPr>
        <p:txBody>
          <a:bodyPr wrap="square" lIns="0" tIns="0" rIns="0" bIns="0" rtlCol="0" anchor="ctr"/>
          <a:lstStyle/>
          <a:p>
            <a:pPr indent="0" marL="0">
              <a:lnSpc>
                <a:spcPct val="115000"/>
              </a:lnSpc>
              <a:buNone/>
            </a:pPr>
            <a:r>
              <a:rPr lang="en-US" sz="1030" dirty="0">
                <a:solidFill>
                  <a:srgbClr val="AFC5DE"/>
                </a:solidFill>
                <a:latin typeface="Calibri" pitchFamily="34" charset="0"/>
                <a:ea typeface="Calibri" pitchFamily="34" charset="-122"/>
                <a:cs typeface="Calibri" pitchFamily="34" charset="-120"/>
              </a:rPr>
              <a:t>Four parallel streams cut throughput and raised retransmits 39× while both pods sat under 3% CPU — the ceiling was the ZMQ simulator, not the design.</a:t>
            </a:r>
            <a:endParaRPr lang="en-US" sz="1030" dirty="0"/>
          </a:p>
        </p:txBody>
      </p:sp>
      <p:sp>
        <p:nvSpPr>
          <p:cNvPr id="25" name="Text 23"/>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26" name="Text 24"/>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20 / 24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457200" y="2651760"/>
            <a:ext cx="11247120" cy="365760"/>
          </a:xfrm>
          <a:prstGeom prst="rect">
            <a:avLst/>
          </a:prstGeom>
          <a:noFill/>
          <a:ln/>
        </p:spPr>
        <p:txBody>
          <a:bodyPr wrap="square" lIns="0" tIns="0" rIns="0" bIns="0" rtlCol="0" anchor="ctr"/>
          <a:lstStyle/>
          <a:p>
            <a:pPr indent="0" marL="0">
              <a:buNone/>
            </a:pPr>
            <a:r>
              <a:rPr lang="en-US" sz="1300" b="1" spc="250" kern="0" dirty="0">
                <a:solidFill>
                  <a:srgbClr val="2DD4BF"/>
                </a:solidFill>
                <a:latin typeface="Calibri" pitchFamily="34" charset="0"/>
                <a:ea typeface="Calibri" pitchFamily="34" charset="-122"/>
                <a:cs typeface="Calibri" pitchFamily="34" charset="-120"/>
              </a:rPr>
              <a:t>ADDENDUM</a:t>
            </a:r>
            <a:endParaRPr lang="en-US" sz="1300" dirty="0"/>
          </a:p>
        </p:txBody>
      </p:sp>
      <p:sp>
        <p:nvSpPr>
          <p:cNvPr id="3" name="Text 1"/>
          <p:cNvSpPr txBox="1"/>
          <p:nvPr/>
        </p:nvSpPr>
        <p:spPr>
          <a:xfrm>
            <a:off x="457200" y="3017520"/>
            <a:ext cx="112471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Deployment &amp; Infrastructure</a:t>
            </a:r>
            <a:endParaRPr lang="en-US" sz="4000" dirty="0"/>
          </a:p>
        </p:txBody>
      </p:sp>
      <p:sp>
        <p:nvSpPr>
          <p:cNvPr id="4" name="Text 2"/>
          <p:cNvSpPr txBox="1"/>
          <p:nvPr/>
        </p:nvSpPr>
        <p:spPr>
          <a:xfrm>
            <a:off x="457200" y="3886200"/>
            <a:ext cx="10058400" cy="731520"/>
          </a:xfrm>
          <a:prstGeom prst="rect">
            <a:avLst/>
          </a:prstGeom>
          <a:noFill/>
          <a:ln/>
        </p:spPr>
        <p:txBody>
          <a:bodyPr wrap="square" lIns="0" tIns="0" rIns="0" bIns="0" rtlCol="0" anchor="ctr"/>
          <a:lstStyle/>
          <a:p>
            <a:pPr indent="0" marL="0">
              <a:lnSpc>
                <a:spcPct val="130000"/>
              </a:lnSpc>
              <a:buNone/>
            </a:pPr>
            <a:r>
              <a:rPr lang="en-US" sz="1300" dirty="0">
                <a:solidFill>
                  <a:srgbClr val="AFC5DE"/>
                </a:solidFill>
                <a:latin typeface="Calibri" pitchFamily="34" charset="0"/>
                <a:ea typeface="Calibri" pitchFamily="34" charset="-122"/>
                <a:cs typeface="Calibri" pitchFamily="34" charset="-120"/>
              </a:rPr>
              <a:t>How each architecture was actually built on Kubernetes, and the problems solved along the way.</a:t>
            </a:r>
            <a:endParaRPr lang="en-US" sz="1300" dirty="0"/>
          </a:p>
          <a:p>
            <a:pPr indent="0" marL="0">
              <a:lnSpc>
                <a:spcPct val="130000"/>
              </a:lnSpc>
              <a:buNone/>
            </a:pPr>
            <a:r>
              <a:rPr lang="en-US" sz="1300" dirty="0">
                <a:solidFill>
                  <a:srgbClr val="AFC5DE"/>
                </a:solidFill>
                <a:latin typeface="Calibri" pitchFamily="34" charset="0"/>
                <a:ea typeface="Calibri" pitchFamily="34" charset="-122"/>
                <a:cs typeface="Calibri" pitchFamily="34" charset="-120"/>
              </a:rPr>
              <a:t>Included for infrastructure engineers; not required to follow the architectural comparison.</a:t>
            </a:r>
            <a:endParaRPr lang="en-US" sz="1300" dirty="0"/>
          </a:p>
        </p:txBody>
      </p:sp>
      <p:sp>
        <p:nvSpPr>
          <p:cNvPr id="5" name="Shape 3"/>
          <p:cNvSpPr/>
          <p:nvPr/>
        </p:nvSpPr>
        <p:spPr>
          <a:xfrm>
            <a:off x="457200" y="3794760"/>
            <a:ext cx="2926080" cy="0"/>
          </a:xfrm>
          <a:prstGeom prst="line">
            <a:avLst/>
          </a:prstGeom>
          <a:noFill/>
          <a:ln w="25400">
            <a:solidFill>
              <a:srgbClr val="2DD4BF"/>
            </a:solidFill>
            <a:prstDash val="solid"/>
          </a:ln>
        </p:spPr>
      </p:sp>
      <p:sp>
        <p:nvSpPr>
          <p:cNvPr id="6" name="Text 4"/>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7" name="Text 5"/>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21 / 24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316736"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316736"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ADDENDUM</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Notes</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C-RAN and O-RAN — implementation and problems solved</a:t>
            </a:r>
            <a:endParaRPr lang="en-US" sz="1350" dirty="0"/>
          </a:p>
        </p:txBody>
      </p:sp>
      <p:sp>
        <p:nvSpPr>
          <p:cNvPr id="6" name="Shape 4"/>
          <p:cNvSpPr/>
          <p:nvPr/>
        </p:nvSpPr>
        <p:spPr>
          <a:xfrm>
            <a:off x="457200" y="1828800"/>
            <a:ext cx="5532120" cy="384048"/>
          </a:xfrm>
          <a:prstGeom prst="roundRect">
            <a:avLst>
              <a:gd name="adj" fmla="val 16667"/>
            </a:avLst>
          </a:prstGeom>
          <a:solidFill>
            <a:srgbClr val="1C7293">
              <a:alpha val="14000"/>
            </a:srgbClr>
          </a:solidFill>
          <a:ln w="12700">
            <a:solidFill>
              <a:srgbClr val="1C7293"/>
            </a:solidFill>
            <a:prstDash val="solid"/>
          </a:ln>
        </p:spPr>
      </p:sp>
      <p:sp>
        <p:nvSpPr>
          <p:cNvPr id="7" name="Text 5"/>
          <p:cNvSpPr txBox="1"/>
          <p:nvPr/>
        </p:nvSpPr>
        <p:spPr>
          <a:xfrm>
            <a:off x="640080" y="1828800"/>
            <a:ext cx="5166360" cy="384048"/>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01  Centralized RAN</a:t>
            </a:r>
            <a:endParaRPr lang="en-US" sz="1150" dirty="0"/>
          </a:p>
        </p:txBody>
      </p:sp>
      <p:sp>
        <p:nvSpPr>
          <p:cNvPr id="8" name="Shape 6"/>
          <p:cNvSpPr/>
          <p:nvPr/>
        </p:nvSpPr>
        <p:spPr>
          <a:xfrm>
            <a:off x="457200" y="2340864"/>
            <a:ext cx="5532120" cy="1691640"/>
          </a:xfrm>
          <a:prstGeom prst="roundRect">
            <a:avLst>
              <a:gd name="adj" fmla="val 4865"/>
            </a:avLst>
          </a:prstGeom>
          <a:solidFill>
            <a:srgbClr val="12233D"/>
          </a:solidFill>
          <a:ln w="9525">
            <a:solidFill>
              <a:srgbClr val="1F3557"/>
            </a:solidFill>
            <a:prstDash val="solid"/>
          </a:ln>
        </p:spPr>
      </p:sp>
      <p:sp>
        <p:nvSpPr>
          <p:cNvPr id="9" name="Shape 7"/>
          <p:cNvSpPr/>
          <p:nvPr/>
        </p:nvSpPr>
        <p:spPr>
          <a:xfrm>
            <a:off x="658368" y="2523744"/>
            <a:ext cx="237744" cy="237744"/>
          </a:xfrm>
          <a:prstGeom prst="ellipse">
            <a:avLst/>
          </a:prstGeom>
          <a:solidFill>
            <a:srgbClr val="1C7293">
              <a:alpha val="20000"/>
            </a:srgbClr>
          </a:solidFill>
          <a:ln w="12700">
            <a:solidFill>
              <a:srgbClr val="1C7293"/>
            </a:solidFill>
            <a:prstDash val="solid"/>
          </a:ln>
        </p:spPr>
      </p:sp>
      <p:sp>
        <p:nvSpPr>
          <p:cNvPr id="10" name="Text 8"/>
          <p:cNvSpPr txBox="1"/>
          <p:nvPr/>
        </p:nvSpPr>
        <p:spPr>
          <a:xfrm>
            <a:off x="658368" y="2518258"/>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K</a:t>
            </a:r>
            <a:endParaRPr lang="en-US" sz="1100" dirty="0"/>
          </a:p>
        </p:txBody>
      </p:sp>
      <p:sp>
        <p:nvSpPr>
          <p:cNvPr id="11" name="Text 9"/>
          <p:cNvSpPr txBox="1"/>
          <p:nvPr/>
        </p:nvSpPr>
        <p:spPr>
          <a:xfrm>
            <a:off x="987552" y="2487168"/>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How we built it</a:t>
            </a:r>
            <a:endParaRPr lang="en-US" sz="1300" dirty="0"/>
          </a:p>
        </p:txBody>
      </p:sp>
      <p:sp>
        <p:nvSpPr>
          <p:cNvPr id="12" name="Text 10"/>
          <p:cNvSpPr txBox="1"/>
          <p:nvPr/>
        </p:nvSpPr>
        <p:spPr>
          <a:xfrm>
            <a:off x="694944" y="2852928"/>
            <a:ext cx="5074920" cy="1069848"/>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Bare-metal srsRAN gNB (all layers) driving a USRP B210 directly</a:t>
            </a:r>
            <a:endParaRPr lang="en-US" sz="1000" dirty="0"/>
          </a:p>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Equivalent Kubernetes chart using a ZMQ-simulated radio for the six-way comparison</a:t>
            </a:r>
            <a:endParaRPr lang="en-US" sz="1000" dirty="0"/>
          </a:p>
        </p:txBody>
      </p:sp>
      <p:sp>
        <p:nvSpPr>
          <p:cNvPr id="13" name="Shape 11"/>
          <p:cNvSpPr/>
          <p:nvPr/>
        </p:nvSpPr>
        <p:spPr>
          <a:xfrm>
            <a:off x="457200" y="4169664"/>
            <a:ext cx="5532120" cy="2231136"/>
          </a:xfrm>
          <a:prstGeom prst="roundRect">
            <a:avLst>
              <a:gd name="adj" fmla="val 3689"/>
            </a:avLst>
          </a:prstGeom>
          <a:solidFill>
            <a:srgbClr val="12233D"/>
          </a:solidFill>
          <a:ln w="9525">
            <a:solidFill>
              <a:srgbClr val="1F3557"/>
            </a:solidFill>
            <a:prstDash val="solid"/>
          </a:ln>
        </p:spPr>
      </p:sp>
      <p:sp>
        <p:nvSpPr>
          <p:cNvPr id="14" name="Shape 12"/>
          <p:cNvSpPr/>
          <p:nvPr/>
        </p:nvSpPr>
        <p:spPr>
          <a:xfrm>
            <a:off x="658368" y="4334256"/>
            <a:ext cx="237744" cy="237744"/>
          </a:xfrm>
          <a:prstGeom prst="ellipse">
            <a:avLst/>
          </a:prstGeom>
          <a:solidFill>
            <a:srgbClr val="F2A65A">
              <a:alpha val="20000"/>
            </a:srgbClr>
          </a:solidFill>
          <a:ln w="12700">
            <a:solidFill>
              <a:srgbClr val="F2A65A"/>
            </a:solidFill>
            <a:prstDash val="solid"/>
          </a:ln>
        </p:spPr>
      </p:sp>
      <p:sp>
        <p:nvSpPr>
          <p:cNvPr id="15" name="Text 13"/>
          <p:cNvSpPr txBox="1"/>
          <p:nvPr/>
        </p:nvSpPr>
        <p:spPr>
          <a:xfrm>
            <a:off x="658368" y="4328770"/>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987552" y="4297680"/>
            <a:ext cx="4800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Challenges solved</a:t>
            </a:r>
            <a:endParaRPr lang="en-US" sz="1250" dirty="0"/>
          </a:p>
        </p:txBody>
      </p:sp>
      <p:sp>
        <p:nvSpPr>
          <p:cNvPr id="17" name="Text 15"/>
          <p:cNvSpPr txBox="1"/>
          <p:nvPr/>
        </p:nvSpPr>
        <p:spPr>
          <a:xfrm>
            <a:off x="694944" y="4626864"/>
            <a:ext cx="5074920" cy="1664208"/>
          </a:xfrm>
          <a:prstGeom prst="rect">
            <a:avLst/>
          </a:prstGeom>
          <a:noFill/>
          <a:ln/>
        </p:spPr>
        <p:txBody>
          <a:bodyPr wrap="square" lIns="0" tIns="0" rIns="0" bIns="0" rtlCol="0" anchor="t"/>
          <a:lstStyle/>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B210's free-running clock drifts, causing radio-link failure after 90-140s of a real over-the-air session — traced by elimination (USB, core timers, thermal, CPU pinning all ruled out) to the missing external clock reference</a:t>
            </a:r>
            <a:endParaRPr lang="en-US" sz="960" dirty="0"/>
          </a:p>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Getting the UE's requested slice (NSSAI) to match across the subscriber record, the gNB and the AMF simultaneously — the allowed slice is the intersection of all three</a:t>
            </a:r>
            <a:endParaRPr lang="en-US" sz="960" dirty="0"/>
          </a:p>
        </p:txBody>
      </p:sp>
      <p:sp>
        <p:nvSpPr>
          <p:cNvPr id="18" name="Shape 16"/>
          <p:cNvSpPr/>
          <p:nvPr/>
        </p:nvSpPr>
        <p:spPr>
          <a:xfrm>
            <a:off x="6199632" y="1828800"/>
            <a:ext cx="5532120" cy="384048"/>
          </a:xfrm>
          <a:prstGeom prst="roundRect">
            <a:avLst>
              <a:gd name="adj" fmla="val 16667"/>
            </a:avLst>
          </a:prstGeom>
          <a:solidFill>
            <a:srgbClr val="1C7293">
              <a:alpha val="14000"/>
            </a:srgbClr>
          </a:solidFill>
          <a:ln w="12700">
            <a:solidFill>
              <a:srgbClr val="1C7293"/>
            </a:solidFill>
            <a:prstDash val="solid"/>
          </a:ln>
        </p:spPr>
      </p:sp>
      <p:sp>
        <p:nvSpPr>
          <p:cNvPr id="19" name="Text 17"/>
          <p:cNvSpPr txBox="1"/>
          <p:nvPr/>
        </p:nvSpPr>
        <p:spPr>
          <a:xfrm>
            <a:off x="6382512" y="1828800"/>
            <a:ext cx="5166360" cy="384048"/>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02  Disaggregated RAN</a:t>
            </a:r>
            <a:endParaRPr lang="en-US" sz="1150" dirty="0"/>
          </a:p>
        </p:txBody>
      </p:sp>
      <p:sp>
        <p:nvSpPr>
          <p:cNvPr id="20" name="Shape 18"/>
          <p:cNvSpPr/>
          <p:nvPr/>
        </p:nvSpPr>
        <p:spPr>
          <a:xfrm>
            <a:off x="6199632" y="2340864"/>
            <a:ext cx="5532120" cy="1691640"/>
          </a:xfrm>
          <a:prstGeom prst="roundRect">
            <a:avLst>
              <a:gd name="adj" fmla="val 4865"/>
            </a:avLst>
          </a:prstGeom>
          <a:solidFill>
            <a:srgbClr val="12233D"/>
          </a:solidFill>
          <a:ln w="9525">
            <a:solidFill>
              <a:srgbClr val="1F3557"/>
            </a:solidFill>
            <a:prstDash val="solid"/>
          </a:ln>
        </p:spPr>
      </p:sp>
      <p:sp>
        <p:nvSpPr>
          <p:cNvPr id="21" name="Shape 19"/>
          <p:cNvSpPr/>
          <p:nvPr/>
        </p:nvSpPr>
        <p:spPr>
          <a:xfrm>
            <a:off x="6400800" y="2523744"/>
            <a:ext cx="237744" cy="237744"/>
          </a:xfrm>
          <a:prstGeom prst="ellipse">
            <a:avLst/>
          </a:prstGeom>
          <a:solidFill>
            <a:srgbClr val="1C7293">
              <a:alpha val="20000"/>
            </a:srgbClr>
          </a:solidFill>
          <a:ln w="12700">
            <a:solidFill>
              <a:srgbClr val="1C7293"/>
            </a:solidFill>
            <a:prstDash val="solid"/>
          </a:ln>
        </p:spPr>
      </p:sp>
      <p:sp>
        <p:nvSpPr>
          <p:cNvPr id="22" name="Text 20"/>
          <p:cNvSpPr txBox="1"/>
          <p:nvPr/>
        </p:nvSpPr>
        <p:spPr>
          <a:xfrm>
            <a:off x="6400800" y="2518258"/>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K</a:t>
            </a:r>
            <a:endParaRPr lang="en-US" sz="1100" dirty="0"/>
          </a:p>
        </p:txBody>
      </p:sp>
      <p:sp>
        <p:nvSpPr>
          <p:cNvPr id="23" name="Text 21"/>
          <p:cNvSpPr txBox="1"/>
          <p:nvPr/>
        </p:nvSpPr>
        <p:spPr>
          <a:xfrm>
            <a:off x="6729984" y="2487168"/>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How we built it</a:t>
            </a:r>
            <a:endParaRPr lang="en-US" sz="1300" dirty="0"/>
          </a:p>
        </p:txBody>
      </p:sp>
      <p:sp>
        <p:nvSpPr>
          <p:cNvPr id="24" name="Text 22"/>
          <p:cNvSpPr txBox="1"/>
          <p:nvPr/>
        </p:nvSpPr>
        <p:spPr>
          <a:xfrm>
            <a:off x="6437376" y="2852928"/>
            <a:ext cx="5074920" cy="1069848"/>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helm/srsran-oran and helm/oai — each a cu/ and du/ chart pair</a:t>
            </a:r>
            <a:endParaRPr lang="en-US" sz="1000" dirty="0"/>
          </a:p>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DU resolves the CU via a Kubernetes Service DNS name at startup</a:t>
            </a:r>
            <a:endParaRPr lang="en-US" sz="1000" dirty="0"/>
          </a:p>
        </p:txBody>
      </p:sp>
      <p:sp>
        <p:nvSpPr>
          <p:cNvPr id="25" name="Shape 23"/>
          <p:cNvSpPr/>
          <p:nvPr/>
        </p:nvSpPr>
        <p:spPr>
          <a:xfrm>
            <a:off x="6199632" y="4169664"/>
            <a:ext cx="5532120" cy="2231136"/>
          </a:xfrm>
          <a:prstGeom prst="roundRect">
            <a:avLst>
              <a:gd name="adj" fmla="val 3689"/>
            </a:avLst>
          </a:prstGeom>
          <a:solidFill>
            <a:srgbClr val="12233D"/>
          </a:solidFill>
          <a:ln w="9525">
            <a:solidFill>
              <a:srgbClr val="1F3557"/>
            </a:solidFill>
            <a:prstDash val="solid"/>
          </a:ln>
        </p:spPr>
      </p:sp>
      <p:sp>
        <p:nvSpPr>
          <p:cNvPr id="26" name="Shape 24"/>
          <p:cNvSpPr/>
          <p:nvPr/>
        </p:nvSpPr>
        <p:spPr>
          <a:xfrm>
            <a:off x="6400800" y="4334256"/>
            <a:ext cx="237744" cy="237744"/>
          </a:xfrm>
          <a:prstGeom prst="ellipse">
            <a:avLst/>
          </a:prstGeom>
          <a:solidFill>
            <a:srgbClr val="F2A65A">
              <a:alpha val="20000"/>
            </a:srgbClr>
          </a:solidFill>
          <a:ln w="12700">
            <a:solidFill>
              <a:srgbClr val="F2A65A"/>
            </a:solidFill>
            <a:prstDash val="solid"/>
          </a:ln>
        </p:spPr>
      </p:sp>
      <p:sp>
        <p:nvSpPr>
          <p:cNvPr id="27" name="Text 25"/>
          <p:cNvSpPr txBox="1"/>
          <p:nvPr/>
        </p:nvSpPr>
        <p:spPr>
          <a:xfrm>
            <a:off x="6400800" y="4328770"/>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28" name="Text 26"/>
          <p:cNvSpPr txBox="1"/>
          <p:nvPr/>
        </p:nvSpPr>
        <p:spPr>
          <a:xfrm>
            <a:off x="6729984" y="4297680"/>
            <a:ext cx="4800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Challenges solved</a:t>
            </a:r>
            <a:endParaRPr lang="en-US" sz="1250" dirty="0"/>
          </a:p>
        </p:txBody>
      </p:sp>
      <p:sp>
        <p:nvSpPr>
          <p:cNvPr id="29" name="Text 27"/>
          <p:cNvSpPr txBox="1"/>
          <p:nvPr/>
        </p:nvSpPr>
        <p:spPr>
          <a:xfrm>
            <a:off x="6437376" y="4626864"/>
            <a:ext cx="5074920" cy="1664208"/>
          </a:xfrm>
          <a:prstGeom prst="rect">
            <a:avLst/>
          </a:prstGeom>
          <a:noFill/>
          <a:ln/>
        </p:spPr>
        <p:txBody>
          <a:bodyPr wrap="square" lIns="0" tIns="0" rIns="0" bIns="0" rtlCol="0" anchor="t"/>
          <a:lstStyle/>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The DU resolves the CU exactly once at startup with no retry — if the CU isn't up yet, the DU bakes an empty address into its config and fails with an obscure parse error rather than waiting</a:t>
            </a:r>
            <a:endParaRPr lang="en-US" sz="960" dirty="0"/>
          </a:p>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OAI's CU shipped an e2_agent block pointing at a RIC that was never deployed, retrying E2 SETUP forever — harmless to the data path, but removed to keep the logs clean</a:t>
            </a:r>
            <a:endParaRPr lang="en-US" sz="960" dirty="0"/>
          </a:p>
        </p:txBody>
      </p:sp>
      <p:sp>
        <p:nvSpPr>
          <p:cNvPr id="30" name="Text 2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31" name="Text 2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22 / 24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316736"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316736"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ADDENDUM</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Notes</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Cloud-RAN and v-CRAN — implementation and problems solved</a:t>
            </a:r>
            <a:endParaRPr lang="en-US" sz="1350" dirty="0"/>
          </a:p>
        </p:txBody>
      </p:sp>
      <p:sp>
        <p:nvSpPr>
          <p:cNvPr id="6" name="Shape 4"/>
          <p:cNvSpPr/>
          <p:nvPr/>
        </p:nvSpPr>
        <p:spPr>
          <a:xfrm>
            <a:off x="457200" y="1828800"/>
            <a:ext cx="5532120" cy="384048"/>
          </a:xfrm>
          <a:prstGeom prst="roundRect">
            <a:avLst>
              <a:gd name="adj" fmla="val 16667"/>
            </a:avLst>
          </a:prstGeom>
          <a:solidFill>
            <a:srgbClr val="2DD4BF">
              <a:alpha val="14000"/>
            </a:srgbClr>
          </a:solidFill>
          <a:ln w="12700">
            <a:solidFill>
              <a:srgbClr val="2DD4BF"/>
            </a:solidFill>
            <a:prstDash val="solid"/>
          </a:ln>
        </p:spPr>
      </p:sp>
      <p:sp>
        <p:nvSpPr>
          <p:cNvPr id="7" name="Text 5"/>
          <p:cNvSpPr txBox="1"/>
          <p:nvPr/>
        </p:nvSpPr>
        <p:spPr>
          <a:xfrm>
            <a:off x="640080" y="1828800"/>
            <a:ext cx="5166360" cy="384048"/>
          </a:xfrm>
          <a:prstGeom prst="rect">
            <a:avLst/>
          </a:prstGeom>
          <a:noFill/>
          <a:ln/>
        </p:spPr>
        <p:txBody>
          <a:bodyPr wrap="square" lIns="0" tIns="0"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03  Cloud-RAN</a:t>
            </a:r>
            <a:endParaRPr lang="en-US" sz="1150" dirty="0"/>
          </a:p>
        </p:txBody>
      </p:sp>
      <p:sp>
        <p:nvSpPr>
          <p:cNvPr id="8" name="Shape 6"/>
          <p:cNvSpPr/>
          <p:nvPr/>
        </p:nvSpPr>
        <p:spPr>
          <a:xfrm>
            <a:off x="457200" y="2340864"/>
            <a:ext cx="5532120" cy="1691640"/>
          </a:xfrm>
          <a:prstGeom prst="roundRect">
            <a:avLst>
              <a:gd name="adj" fmla="val 4865"/>
            </a:avLst>
          </a:prstGeom>
          <a:solidFill>
            <a:srgbClr val="12233D"/>
          </a:solidFill>
          <a:ln w="9525">
            <a:solidFill>
              <a:srgbClr val="1F3557"/>
            </a:solidFill>
            <a:prstDash val="solid"/>
          </a:ln>
        </p:spPr>
      </p:sp>
      <p:sp>
        <p:nvSpPr>
          <p:cNvPr id="9" name="Shape 7"/>
          <p:cNvSpPr/>
          <p:nvPr/>
        </p:nvSpPr>
        <p:spPr>
          <a:xfrm>
            <a:off x="658368" y="2523744"/>
            <a:ext cx="237744" cy="237744"/>
          </a:xfrm>
          <a:prstGeom prst="ellipse">
            <a:avLst/>
          </a:prstGeom>
          <a:solidFill>
            <a:srgbClr val="2DD4BF">
              <a:alpha val="20000"/>
            </a:srgbClr>
          </a:solidFill>
          <a:ln w="12700">
            <a:solidFill>
              <a:srgbClr val="2DD4BF"/>
            </a:solidFill>
            <a:prstDash val="solid"/>
          </a:ln>
        </p:spPr>
      </p:sp>
      <p:sp>
        <p:nvSpPr>
          <p:cNvPr id="10" name="Text 8"/>
          <p:cNvSpPr txBox="1"/>
          <p:nvPr/>
        </p:nvSpPr>
        <p:spPr>
          <a:xfrm>
            <a:off x="658368" y="2518258"/>
            <a:ext cx="237744" cy="237744"/>
          </a:xfrm>
          <a:prstGeom prst="rect">
            <a:avLst/>
          </a:prstGeom>
          <a:noFill/>
          <a:ln/>
        </p:spPr>
        <p:txBody>
          <a:bodyPr wrap="square" lIns="0" tIns="0" rIns="0" bIns="0" rtlCol="0" anchor="ctr"/>
          <a:lstStyle/>
          <a:p>
            <a:pPr algn="ctr" indent="0" marL="0">
              <a:buNone/>
            </a:pPr>
            <a:r>
              <a:rPr lang="en-US" sz="1100" b="1" dirty="0">
                <a:solidFill>
                  <a:srgbClr val="2DD4BF"/>
                </a:solidFill>
                <a:latin typeface="Calibri" pitchFamily="34" charset="0"/>
                <a:ea typeface="Calibri" pitchFamily="34" charset="-122"/>
                <a:cs typeface="Calibri" pitchFamily="34" charset="-120"/>
              </a:rPr>
              <a:t>K</a:t>
            </a:r>
            <a:endParaRPr lang="en-US" sz="1100" dirty="0"/>
          </a:p>
        </p:txBody>
      </p:sp>
      <p:sp>
        <p:nvSpPr>
          <p:cNvPr id="11" name="Text 9"/>
          <p:cNvSpPr txBox="1"/>
          <p:nvPr/>
        </p:nvSpPr>
        <p:spPr>
          <a:xfrm>
            <a:off x="987552" y="2487168"/>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How we built it</a:t>
            </a:r>
            <a:endParaRPr lang="en-US" sz="1300" dirty="0"/>
          </a:p>
        </p:txBody>
      </p:sp>
      <p:sp>
        <p:nvSpPr>
          <p:cNvPr id="12" name="Text 10"/>
          <p:cNvSpPr txBox="1"/>
          <p:nvPr/>
        </p:nvSpPr>
        <p:spPr>
          <a:xfrm>
            <a:off x="694944" y="2852928"/>
            <a:ext cx="5074920" cy="1069848"/>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gNB as a Kubernetes Deployment with an init script that substitutes PLMN/AMF/TAC into the config at container start</a:t>
            </a:r>
            <a:endParaRPr lang="en-US" sz="1000" dirty="0"/>
          </a:p>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Full TS 23.501-based 5QI-to-bearer QoS profile set shipped with the chart</a:t>
            </a:r>
            <a:endParaRPr lang="en-US" sz="1000" dirty="0"/>
          </a:p>
        </p:txBody>
      </p:sp>
      <p:sp>
        <p:nvSpPr>
          <p:cNvPr id="13" name="Shape 11"/>
          <p:cNvSpPr/>
          <p:nvPr/>
        </p:nvSpPr>
        <p:spPr>
          <a:xfrm>
            <a:off x="457200" y="4169664"/>
            <a:ext cx="5532120" cy="2231136"/>
          </a:xfrm>
          <a:prstGeom prst="roundRect">
            <a:avLst>
              <a:gd name="adj" fmla="val 3689"/>
            </a:avLst>
          </a:prstGeom>
          <a:solidFill>
            <a:srgbClr val="12233D"/>
          </a:solidFill>
          <a:ln w="9525">
            <a:solidFill>
              <a:srgbClr val="1F3557"/>
            </a:solidFill>
            <a:prstDash val="solid"/>
          </a:ln>
        </p:spPr>
      </p:sp>
      <p:sp>
        <p:nvSpPr>
          <p:cNvPr id="14" name="Shape 12"/>
          <p:cNvSpPr/>
          <p:nvPr/>
        </p:nvSpPr>
        <p:spPr>
          <a:xfrm>
            <a:off x="658368" y="4334256"/>
            <a:ext cx="237744" cy="237744"/>
          </a:xfrm>
          <a:prstGeom prst="ellipse">
            <a:avLst/>
          </a:prstGeom>
          <a:solidFill>
            <a:srgbClr val="F2A65A">
              <a:alpha val="20000"/>
            </a:srgbClr>
          </a:solidFill>
          <a:ln w="12700">
            <a:solidFill>
              <a:srgbClr val="F2A65A"/>
            </a:solidFill>
            <a:prstDash val="solid"/>
          </a:ln>
        </p:spPr>
      </p:sp>
      <p:sp>
        <p:nvSpPr>
          <p:cNvPr id="15" name="Text 13"/>
          <p:cNvSpPr txBox="1"/>
          <p:nvPr/>
        </p:nvSpPr>
        <p:spPr>
          <a:xfrm>
            <a:off x="658368" y="4328770"/>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987552" y="4297680"/>
            <a:ext cx="4800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Challenges solved</a:t>
            </a:r>
            <a:endParaRPr lang="en-US" sz="1250" dirty="0"/>
          </a:p>
        </p:txBody>
      </p:sp>
      <p:sp>
        <p:nvSpPr>
          <p:cNvPr id="17" name="Text 15"/>
          <p:cNvSpPr txBox="1"/>
          <p:nvPr/>
        </p:nvSpPr>
        <p:spPr>
          <a:xfrm>
            <a:off x="694944" y="4626864"/>
            <a:ext cx="5074920" cy="1664208"/>
          </a:xfrm>
          <a:prstGeom prst="rect">
            <a:avLst/>
          </a:prstGeom>
          <a:noFill/>
          <a:ln/>
        </p:spPr>
        <p:txBody>
          <a:bodyPr wrap="square" lIns="0" tIns="0" rIns="0" bIns="0" rtlCol="0" anchor="t"/>
          <a:lstStyle/>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Sizing CPU/memory requests for a software modem — too tight and the pod is OOMKilled, too loose and pooling gains nothing</a:t>
            </a:r>
            <a:endParaRPr lang="en-US" sz="960" dirty="0"/>
          </a:p>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Getting the sed-based config substitution (PLMN, AMF address, TAC) to run reliably before the gNB process starts, every time the pod restarts</a:t>
            </a:r>
            <a:endParaRPr lang="en-US" sz="960" dirty="0"/>
          </a:p>
        </p:txBody>
      </p:sp>
      <p:sp>
        <p:nvSpPr>
          <p:cNvPr id="18" name="Shape 16"/>
          <p:cNvSpPr/>
          <p:nvPr/>
        </p:nvSpPr>
        <p:spPr>
          <a:xfrm>
            <a:off x="6199632" y="1828800"/>
            <a:ext cx="5532120" cy="384048"/>
          </a:xfrm>
          <a:prstGeom prst="roundRect">
            <a:avLst>
              <a:gd name="adj" fmla="val 16667"/>
            </a:avLst>
          </a:prstGeom>
          <a:solidFill>
            <a:srgbClr val="34D399">
              <a:alpha val="14000"/>
            </a:srgbClr>
          </a:solidFill>
          <a:ln w="12700">
            <a:solidFill>
              <a:srgbClr val="34D399"/>
            </a:solidFill>
            <a:prstDash val="solid"/>
          </a:ln>
        </p:spPr>
      </p:sp>
      <p:sp>
        <p:nvSpPr>
          <p:cNvPr id="19" name="Text 17"/>
          <p:cNvSpPr txBox="1"/>
          <p:nvPr/>
        </p:nvSpPr>
        <p:spPr>
          <a:xfrm>
            <a:off x="6382512" y="1828800"/>
            <a:ext cx="5166360" cy="384048"/>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04  Virtualized Cloud-RAN</a:t>
            </a:r>
            <a:endParaRPr lang="en-US" sz="1150" dirty="0"/>
          </a:p>
        </p:txBody>
      </p:sp>
      <p:sp>
        <p:nvSpPr>
          <p:cNvPr id="20" name="Shape 18"/>
          <p:cNvSpPr/>
          <p:nvPr/>
        </p:nvSpPr>
        <p:spPr>
          <a:xfrm>
            <a:off x="6199632" y="2340864"/>
            <a:ext cx="5532120" cy="1691640"/>
          </a:xfrm>
          <a:prstGeom prst="roundRect">
            <a:avLst>
              <a:gd name="adj" fmla="val 4865"/>
            </a:avLst>
          </a:prstGeom>
          <a:solidFill>
            <a:srgbClr val="12233D"/>
          </a:solidFill>
          <a:ln w="9525">
            <a:solidFill>
              <a:srgbClr val="1F3557"/>
            </a:solidFill>
            <a:prstDash val="solid"/>
          </a:ln>
        </p:spPr>
      </p:sp>
      <p:sp>
        <p:nvSpPr>
          <p:cNvPr id="21" name="Shape 19"/>
          <p:cNvSpPr/>
          <p:nvPr/>
        </p:nvSpPr>
        <p:spPr>
          <a:xfrm>
            <a:off x="6400800" y="2523744"/>
            <a:ext cx="237744" cy="237744"/>
          </a:xfrm>
          <a:prstGeom prst="ellipse">
            <a:avLst/>
          </a:prstGeom>
          <a:solidFill>
            <a:srgbClr val="34D399">
              <a:alpha val="20000"/>
            </a:srgbClr>
          </a:solidFill>
          <a:ln w="12700">
            <a:solidFill>
              <a:srgbClr val="34D399"/>
            </a:solidFill>
            <a:prstDash val="solid"/>
          </a:ln>
        </p:spPr>
      </p:sp>
      <p:sp>
        <p:nvSpPr>
          <p:cNvPr id="22" name="Text 20"/>
          <p:cNvSpPr txBox="1"/>
          <p:nvPr/>
        </p:nvSpPr>
        <p:spPr>
          <a:xfrm>
            <a:off x="6400800" y="2518258"/>
            <a:ext cx="237744" cy="237744"/>
          </a:xfrm>
          <a:prstGeom prst="rect">
            <a:avLst/>
          </a:prstGeom>
          <a:noFill/>
          <a:ln/>
        </p:spPr>
        <p:txBody>
          <a:bodyPr wrap="square" lIns="0" tIns="0" rIns="0" bIns="0"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K</a:t>
            </a:r>
            <a:endParaRPr lang="en-US" sz="1100" dirty="0"/>
          </a:p>
        </p:txBody>
      </p:sp>
      <p:sp>
        <p:nvSpPr>
          <p:cNvPr id="23" name="Text 21"/>
          <p:cNvSpPr txBox="1"/>
          <p:nvPr/>
        </p:nvSpPr>
        <p:spPr>
          <a:xfrm>
            <a:off x="6729984" y="2487168"/>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How we built it</a:t>
            </a:r>
            <a:endParaRPr lang="en-US" sz="1300" dirty="0"/>
          </a:p>
        </p:txBody>
      </p:sp>
      <p:sp>
        <p:nvSpPr>
          <p:cNvPr id="24" name="Text 22"/>
          <p:cNvSpPr txBox="1"/>
          <p:nvPr/>
        </p:nvSpPr>
        <p:spPr>
          <a:xfrm>
            <a:off x="6437376" y="2852928"/>
            <a:ext cx="5074920" cy="1069848"/>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Forked the O-RAN CU/DU charts (srsRAN and OAI) and added an HPA, resource requests/limits and pod anti-affinity to the CU only</a:t>
            </a:r>
            <a:endParaRPr lang="en-US" sz="1000" dirty="0"/>
          </a:p>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Installed metrics-server (--kubelet-insecure-tls on kubeadm) so the HPA has real CPU data to act on</a:t>
            </a:r>
            <a:endParaRPr lang="en-US" sz="1000" dirty="0"/>
          </a:p>
        </p:txBody>
      </p:sp>
      <p:sp>
        <p:nvSpPr>
          <p:cNvPr id="25" name="Shape 23"/>
          <p:cNvSpPr/>
          <p:nvPr/>
        </p:nvSpPr>
        <p:spPr>
          <a:xfrm>
            <a:off x="6199632" y="4169664"/>
            <a:ext cx="5532120" cy="2231136"/>
          </a:xfrm>
          <a:prstGeom prst="roundRect">
            <a:avLst>
              <a:gd name="adj" fmla="val 3689"/>
            </a:avLst>
          </a:prstGeom>
          <a:solidFill>
            <a:srgbClr val="12233D"/>
          </a:solidFill>
          <a:ln w="9525">
            <a:solidFill>
              <a:srgbClr val="1F3557"/>
            </a:solidFill>
            <a:prstDash val="solid"/>
          </a:ln>
        </p:spPr>
      </p:sp>
      <p:sp>
        <p:nvSpPr>
          <p:cNvPr id="26" name="Shape 24"/>
          <p:cNvSpPr/>
          <p:nvPr/>
        </p:nvSpPr>
        <p:spPr>
          <a:xfrm>
            <a:off x="6400800" y="4334256"/>
            <a:ext cx="237744" cy="237744"/>
          </a:xfrm>
          <a:prstGeom prst="ellipse">
            <a:avLst/>
          </a:prstGeom>
          <a:solidFill>
            <a:srgbClr val="F2A65A">
              <a:alpha val="20000"/>
            </a:srgbClr>
          </a:solidFill>
          <a:ln w="12700">
            <a:solidFill>
              <a:srgbClr val="F2A65A"/>
            </a:solidFill>
            <a:prstDash val="solid"/>
          </a:ln>
        </p:spPr>
      </p:sp>
      <p:sp>
        <p:nvSpPr>
          <p:cNvPr id="27" name="Text 25"/>
          <p:cNvSpPr txBox="1"/>
          <p:nvPr/>
        </p:nvSpPr>
        <p:spPr>
          <a:xfrm>
            <a:off x="6400800" y="4328770"/>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28" name="Text 26"/>
          <p:cNvSpPr txBox="1"/>
          <p:nvPr/>
        </p:nvSpPr>
        <p:spPr>
          <a:xfrm>
            <a:off x="6729984" y="4297680"/>
            <a:ext cx="4800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Challenges solved</a:t>
            </a:r>
            <a:endParaRPr lang="en-US" sz="1250" dirty="0"/>
          </a:p>
        </p:txBody>
      </p:sp>
      <p:sp>
        <p:nvSpPr>
          <p:cNvPr id="29" name="Text 27"/>
          <p:cNvSpPr txBox="1"/>
          <p:nvPr/>
        </p:nvSpPr>
        <p:spPr>
          <a:xfrm>
            <a:off x="6437376" y="4626864"/>
            <a:ext cx="5074920" cy="1664208"/>
          </a:xfrm>
          <a:prstGeom prst="rect">
            <a:avLst/>
          </a:prstGeom>
          <a:noFill/>
          <a:ln/>
        </p:spPr>
        <p:txBody>
          <a:bodyPr wrap="square" lIns="0" tIns="0" rIns="0" bIns="0" rtlCol="0" anchor="t"/>
          <a:lstStyle/>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The CU was OOMKilled at a 2Gi memory limit — needed 4Gi; found only by reading the pod's termination reason, not the application log</a:t>
            </a:r>
            <a:endParaRPr lang="en-US" sz="960" dirty="0"/>
          </a:p>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Watched the HPA read 104-107% against its 70% target and scale 1 → 2 replicas entirely on its own — the autoscaling loop working end to end</a:t>
            </a:r>
            <a:endParaRPr lang="en-US" sz="960" dirty="0"/>
          </a:p>
        </p:txBody>
      </p:sp>
      <p:sp>
        <p:nvSpPr>
          <p:cNvPr id="30" name="Text 2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31" name="Text 2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23 / 24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84048"/>
            <a:ext cx="1316736" cy="292608"/>
          </a:xfrm>
          <a:prstGeom prst="roundRect">
            <a:avLst>
              <a:gd name="adj" fmla="val 18750"/>
            </a:avLst>
          </a:prstGeom>
          <a:solidFill>
            <a:srgbClr val="2DD4BF">
              <a:alpha val="14000"/>
            </a:srgbClr>
          </a:solidFill>
          <a:ln w="9525">
            <a:solidFill>
              <a:srgbClr val="2DD4BF"/>
            </a:solidFill>
            <a:prstDash val="solid"/>
          </a:ln>
        </p:spPr>
      </p:sp>
      <p:sp>
        <p:nvSpPr>
          <p:cNvPr id="3" name="Text 1"/>
          <p:cNvSpPr txBox="1"/>
          <p:nvPr/>
        </p:nvSpPr>
        <p:spPr>
          <a:xfrm>
            <a:off x="457200" y="384048"/>
            <a:ext cx="1316736" cy="292608"/>
          </a:xfrm>
          <a:prstGeom prst="rect">
            <a:avLst/>
          </a:prstGeom>
          <a:noFill/>
          <a:ln/>
        </p:spPr>
        <p:txBody>
          <a:bodyPr wrap="none" lIns="0" tIns="0" rIns="0" bIns="0" rtlCol="0" anchor="ctr"/>
          <a:lstStyle/>
          <a:p>
            <a:pPr algn="ctr" indent="0" marL="0">
              <a:buNone/>
            </a:pPr>
            <a:r>
              <a:rPr lang="en-US" sz="1050" b="1" spc="110" kern="0" dirty="0">
                <a:solidFill>
                  <a:srgbClr val="2DD4BF"/>
                </a:solidFill>
                <a:latin typeface="Calibri" pitchFamily="34" charset="0"/>
                <a:ea typeface="Calibri" pitchFamily="34" charset="-122"/>
                <a:cs typeface="Calibri" pitchFamily="34" charset="-120"/>
              </a:rPr>
              <a:t>ADDENDUM</a:t>
            </a:r>
            <a:endParaRPr lang="en-US" sz="1050" dirty="0"/>
          </a:p>
        </p:txBody>
      </p:sp>
      <p:sp>
        <p:nvSpPr>
          <p:cNvPr id="4" name="Text 2"/>
          <p:cNvSpPr txBox="1"/>
          <p:nvPr/>
        </p:nvSpPr>
        <p:spPr>
          <a:xfrm>
            <a:off x="457200" y="731520"/>
            <a:ext cx="112471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Notes</a:t>
            </a:r>
            <a:endParaRPr lang="en-US" sz="3200" dirty="0"/>
          </a:p>
        </p:txBody>
      </p:sp>
      <p:sp>
        <p:nvSpPr>
          <p:cNvPr id="5" name="Text 3"/>
          <p:cNvSpPr txBox="1"/>
          <p:nvPr/>
        </p:nvSpPr>
        <p:spPr>
          <a:xfrm>
            <a:off x="457200" y="1280160"/>
            <a:ext cx="11247120" cy="310896"/>
          </a:xfrm>
          <a:prstGeom prst="rect">
            <a:avLst/>
          </a:prstGeom>
          <a:noFill/>
          <a:ln/>
        </p:spPr>
        <p:txBody>
          <a:bodyPr wrap="square" lIns="0" tIns="0" rIns="0" bIns="0" rtlCol="0" anchor="ctr"/>
          <a:lstStyle/>
          <a:p>
            <a:pPr indent="0" marL="0">
              <a:buNone/>
            </a:pPr>
            <a:r>
              <a:rPr lang="en-US" sz="1350" dirty="0">
                <a:solidFill>
                  <a:srgbClr val="AFC5DE"/>
                </a:solidFill>
                <a:latin typeface="Calibri" pitchFamily="34" charset="0"/>
                <a:ea typeface="Calibri" pitchFamily="34" charset="-122"/>
                <a:cs typeface="Calibri" pitchFamily="34" charset="-120"/>
              </a:rPr>
              <a:t>H-CRAN and F-RAN — implementation and problems solved</a:t>
            </a:r>
            <a:endParaRPr lang="en-US" sz="1350" dirty="0"/>
          </a:p>
        </p:txBody>
      </p:sp>
      <p:sp>
        <p:nvSpPr>
          <p:cNvPr id="6" name="Shape 4"/>
          <p:cNvSpPr/>
          <p:nvPr/>
        </p:nvSpPr>
        <p:spPr>
          <a:xfrm>
            <a:off x="457200" y="1828800"/>
            <a:ext cx="5532120" cy="384048"/>
          </a:xfrm>
          <a:prstGeom prst="roundRect">
            <a:avLst>
              <a:gd name="adj" fmla="val 16667"/>
            </a:avLst>
          </a:prstGeom>
          <a:solidFill>
            <a:srgbClr val="F2A65A">
              <a:alpha val="14000"/>
            </a:srgbClr>
          </a:solidFill>
          <a:ln w="12700">
            <a:solidFill>
              <a:srgbClr val="F2A65A"/>
            </a:solidFill>
            <a:prstDash val="solid"/>
          </a:ln>
        </p:spPr>
      </p:sp>
      <p:sp>
        <p:nvSpPr>
          <p:cNvPr id="7" name="Text 5"/>
          <p:cNvSpPr txBox="1"/>
          <p:nvPr/>
        </p:nvSpPr>
        <p:spPr>
          <a:xfrm>
            <a:off x="640080" y="1828800"/>
            <a:ext cx="5166360" cy="384048"/>
          </a:xfrm>
          <a:prstGeom prst="rect">
            <a:avLst/>
          </a:prstGeom>
          <a:noFill/>
          <a:ln/>
        </p:spPr>
        <p:txBody>
          <a:bodyPr wrap="square" lIns="0" tIns="0" rIns="0" bIns="0" rtlCol="0" anchor="ctr"/>
          <a:lstStyle/>
          <a:p>
            <a:pPr indent="0" marL="0">
              <a:buNone/>
            </a:pPr>
            <a:r>
              <a:rPr lang="en-US" sz="1150" b="1" dirty="0">
                <a:solidFill>
                  <a:srgbClr val="F2A65A"/>
                </a:solidFill>
                <a:latin typeface="Calibri" pitchFamily="34" charset="0"/>
                <a:ea typeface="Calibri" pitchFamily="34" charset="-122"/>
                <a:cs typeface="Calibri" pitchFamily="34" charset="-120"/>
              </a:rPr>
              <a:t>05  Heterogeneous Cloud-RAN</a:t>
            </a:r>
            <a:endParaRPr lang="en-US" sz="1150" dirty="0"/>
          </a:p>
        </p:txBody>
      </p:sp>
      <p:sp>
        <p:nvSpPr>
          <p:cNvPr id="8" name="Shape 6"/>
          <p:cNvSpPr/>
          <p:nvPr/>
        </p:nvSpPr>
        <p:spPr>
          <a:xfrm>
            <a:off x="457200" y="2340864"/>
            <a:ext cx="5532120" cy="1691640"/>
          </a:xfrm>
          <a:prstGeom prst="roundRect">
            <a:avLst>
              <a:gd name="adj" fmla="val 4865"/>
            </a:avLst>
          </a:prstGeom>
          <a:solidFill>
            <a:srgbClr val="12233D"/>
          </a:solidFill>
          <a:ln w="9525">
            <a:solidFill>
              <a:srgbClr val="1F3557"/>
            </a:solidFill>
            <a:prstDash val="solid"/>
          </a:ln>
        </p:spPr>
      </p:sp>
      <p:sp>
        <p:nvSpPr>
          <p:cNvPr id="9" name="Shape 7"/>
          <p:cNvSpPr/>
          <p:nvPr/>
        </p:nvSpPr>
        <p:spPr>
          <a:xfrm>
            <a:off x="658368" y="2523744"/>
            <a:ext cx="237744" cy="237744"/>
          </a:xfrm>
          <a:prstGeom prst="ellipse">
            <a:avLst/>
          </a:prstGeom>
          <a:solidFill>
            <a:srgbClr val="F2A65A">
              <a:alpha val="20000"/>
            </a:srgbClr>
          </a:solidFill>
          <a:ln w="12700">
            <a:solidFill>
              <a:srgbClr val="F2A65A"/>
            </a:solidFill>
            <a:prstDash val="solid"/>
          </a:ln>
        </p:spPr>
      </p:sp>
      <p:sp>
        <p:nvSpPr>
          <p:cNvPr id="10" name="Text 8"/>
          <p:cNvSpPr txBox="1"/>
          <p:nvPr/>
        </p:nvSpPr>
        <p:spPr>
          <a:xfrm>
            <a:off x="658368" y="2518258"/>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K</a:t>
            </a:r>
            <a:endParaRPr lang="en-US" sz="1100" dirty="0"/>
          </a:p>
        </p:txBody>
      </p:sp>
      <p:sp>
        <p:nvSpPr>
          <p:cNvPr id="11" name="Text 9"/>
          <p:cNvSpPr txBox="1"/>
          <p:nvPr/>
        </p:nvSpPr>
        <p:spPr>
          <a:xfrm>
            <a:off x="987552" y="2487168"/>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How we built it</a:t>
            </a:r>
            <a:endParaRPr lang="en-US" sz="1300" dirty="0"/>
          </a:p>
        </p:txBody>
      </p:sp>
      <p:sp>
        <p:nvSpPr>
          <p:cNvPr id="12" name="Text 10"/>
          <p:cNvSpPr txBox="1"/>
          <p:nvPr/>
        </p:nvSpPr>
        <p:spPr>
          <a:xfrm>
            <a:off x="694944" y="2852928"/>
            <a:ext cx="5074920" cy="1069848"/>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One parameterized Helm chart (PCI, bandwidth, tx_gain, resources as values) deployed twice — once per tier — for both srsRAN and OAI</a:t>
            </a:r>
            <a:endParaRPr lang="en-US" sz="1000" dirty="0"/>
          </a:p>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Both cells attach to the same core simultaneously, confirmed by the AMF's own gNB count</a:t>
            </a:r>
            <a:endParaRPr lang="en-US" sz="1000" dirty="0"/>
          </a:p>
        </p:txBody>
      </p:sp>
      <p:sp>
        <p:nvSpPr>
          <p:cNvPr id="13" name="Shape 11"/>
          <p:cNvSpPr/>
          <p:nvPr/>
        </p:nvSpPr>
        <p:spPr>
          <a:xfrm>
            <a:off x="457200" y="4169664"/>
            <a:ext cx="5532120" cy="2231136"/>
          </a:xfrm>
          <a:prstGeom prst="roundRect">
            <a:avLst>
              <a:gd name="adj" fmla="val 3689"/>
            </a:avLst>
          </a:prstGeom>
          <a:solidFill>
            <a:srgbClr val="12233D"/>
          </a:solidFill>
          <a:ln w="9525">
            <a:solidFill>
              <a:srgbClr val="1F3557"/>
            </a:solidFill>
            <a:prstDash val="solid"/>
          </a:ln>
        </p:spPr>
      </p:sp>
      <p:sp>
        <p:nvSpPr>
          <p:cNvPr id="14" name="Shape 12"/>
          <p:cNvSpPr/>
          <p:nvPr/>
        </p:nvSpPr>
        <p:spPr>
          <a:xfrm>
            <a:off x="658368" y="4334256"/>
            <a:ext cx="237744" cy="237744"/>
          </a:xfrm>
          <a:prstGeom prst="ellipse">
            <a:avLst/>
          </a:prstGeom>
          <a:solidFill>
            <a:srgbClr val="F2A65A">
              <a:alpha val="20000"/>
            </a:srgbClr>
          </a:solidFill>
          <a:ln w="12700">
            <a:solidFill>
              <a:srgbClr val="F2A65A"/>
            </a:solidFill>
            <a:prstDash val="solid"/>
          </a:ln>
        </p:spPr>
      </p:sp>
      <p:sp>
        <p:nvSpPr>
          <p:cNvPr id="15" name="Text 13"/>
          <p:cNvSpPr txBox="1"/>
          <p:nvPr/>
        </p:nvSpPr>
        <p:spPr>
          <a:xfrm>
            <a:off x="658368" y="4328770"/>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987552" y="4297680"/>
            <a:ext cx="4800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Challenges solved</a:t>
            </a:r>
            <a:endParaRPr lang="en-US" sz="1250" dirty="0"/>
          </a:p>
        </p:txBody>
      </p:sp>
      <p:sp>
        <p:nvSpPr>
          <p:cNvPr id="17" name="Text 15"/>
          <p:cNvSpPr txBox="1"/>
          <p:nvPr/>
        </p:nvSpPr>
        <p:spPr>
          <a:xfrm>
            <a:off x="694944" y="4626864"/>
            <a:ext cx="5074920" cy="1664208"/>
          </a:xfrm>
          <a:prstGeom prst="rect">
            <a:avLst/>
          </a:prstGeom>
          <a:noFill/>
          <a:ln/>
        </p:spPr>
        <p:txBody>
          <a:bodyPr wrap="square" lIns="0" tIns="0" rIns="0" bIns="0" rtlCol="0" anchor="t"/>
          <a:lstStyle/>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10 MHz at 30 kHz subcarrier spacing failed srsRAN's own validation (PUCCH would exceed 50% of the channel) — both cells run 20 MHz and differentiate by power and compute instead, arguably the more realistic choice</a:t>
            </a:r>
            <a:endParaRPr lang="en-US" sz="960" dirty="0"/>
          </a:p>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OAI cross-references its gNB by name in several config fields at once — renaming one cell without updating all of them made the softmodem assert a mismatch and exit</a:t>
            </a:r>
            <a:endParaRPr lang="en-US" sz="960" dirty="0"/>
          </a:p>
        </p:txBody>
      </p:sp>
      <p:sp>
        <p:nvSpPr>
          <p:cNvPr id="18" name="Shape 16"/>
          <p:cNvSpPr/>
          <p:nvPr/>
        </p:nvSpPr>
        <p:spPr>
          <a:xfrm>
            <a:off x="6199632" y="1828800"/>
            <a:ext cx="5532120" cy="384048"/>
          </a:xfrm>
          <a:prstGeom prst="roundRect">
            <a:avLst>
              <a:gd name="adj" fmla="val 16667"/>
            </a:avLst>
          </a:prstGeom>
          <a:solidFill>
            <a:srgbClr val="F2A65A">
              <a:alpha val="14000"/>
            </a:srgbClr>
          </a:solidFill>
          <a:ln w="12700">
            <a:solidFill>
              <a:srgbClr val="F2A65A"/>
            </a:solidFill>
            <a:prstDash val="solid"/>
          </a:ln>
        </p:spPr>
      </p:sp>
      <p:sp>
        <p:nvSpPr>
          <p:cNvPr id="19" name="Text 17"/>
          <p:cNvSpPr txBox="1"/>
          <p:nvPr/>
        </p:nvSpPr>
        <p:spPr>
          <a:xfrm>
            <a:off x="6382512" y="1828800"/>
            <a:ext cx="5166360" cy="384048"/>
          </a:xfrm>
          <a:prstGeom prst="rect">
            <a:avLst/>
          </a:prstGeom>
          <a:noFill/>
          <a:ln/>
        </p:spPr>
        <p:txBody>
          <a:bodyPr wrap="square" lIns="0" tIns="0" rIns="0" bIns="0" rtlCol="0" anchor="ctr"/>
          <a:lstStyle/>
          <a:p>
            <a:pPr indent="0" marL="0">
              <a:buNone/>
            </a:pPr>
            <a:r>
              <a:rPr lang="en-US" sz="1150" b="1" dirty="0">
                <a:solidFill>
                  <a:srgbClr val="F2A65A"/>
                </a:solidFill>
                <a:latin typeface="Calibri" pitchFamily="34" charset="0"/>
                <a:ea typeface="Calibri" pitchFamily="34" charset="-122"/>
                <a:cs typeface="Calibri" pitchFamily="34" charset="-120"/>
              </a:rPr>
              <a:t>06  Fog RAN</a:t>
            </a:r>
            <a:endParaRPr lang="en-US" sz="1150" dirty="0"/>
          </a:p>
        </p:txBody>
      </p:sp>
      <p:sp>
        <p:nvSpPr>
          <p:cNvPr id="20" name="Shape 18"/>
          <p:cNvSpPr/>
          <p:nvPr/>
        </p:nvSpPr>
        <p:spPr>
          <a:xfrm>
            <a:off x="6199632" y="2340864"/>
            <a:ext cx="5532120" cy="1691640"/>
          </a:xfrm>
          <a:prstGeom prst="roundRect">
            <a:avLst>
              <a:gd name="adj" fmla="val 4865"/>
            </a:avLst>
          </a:prstGeom>
          <a:solidFill>
            <a:srgbClr val="12233D"/>
          </a:solidFill>
          <a:ln w="9525">
            <a:solidFill>
              <a:srgbClr val="1F3557"/>
            </a:solidFill>
            <a:prstDash val="solid"/>
          </a:ln>
        </p:spPr>
      </p:sp>
      <p:sp>
        <p:nvSpPr>
          <p:cNvPr id="21" name="Shape 19"/>
          <p:cNvSpPr/>
          <p:nvPr/>
        </p:nvSpPr>
        <p:spPr>
          <a:xfrm>
            <a:off x="6400800" y="2523744"/>
            <a:ext cx="237744" cy="237744"/>
          </a:xfrm>
          <a:prstGeom prst="ellipse">
            <a:avLst/>
          </a:prstGeom>
          <a:solidFill>
            <a:srgbClr val="F2A65A">
              <a:alpha val="20000"/>
            </a:srgbClr>
          </a:solidFill>
          <a:ln w="12700">
            <a:solidFill>
              <a:srgbClr val="F2A65A"/>
            </a:solidFill>
            <a:prstDash val="solid"/>
          </a:ln>
        </p:spPr>
      </p:sp>
      <p:sp>
        <p:nvSpPr>
          <p:cNvPr id="22" name="Text 20"/>
          <p:cNvSpPr txBox="1"/>
          <p:nvPr/>
        </p:nvSpPr>
        <p:spPr>
          <a:xfrm>
            <a:off x="6400800" y="2518258"/>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K</a:t>
            </a:r>
            <a:endParaRPr lang="en-US" sz="1100" dirty="0"/>
          </a:p>
        </p:txBody>
      </p:sp>
      <p:sp>
        <p:nvSpPr>
          <p:cNvPr id="23" name="Text 21"/>
          <p:cNvSpPr txBox="1"/>
          <p:nvPr/>
        </p:nvSpPr>
        <p:spPr>
          <a:xfrm>
            <a:off x="6729984" y="2487168"/>
            <a:ext cx="4800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How we built it</a:t>
            </a:r>
            <a:endParaRPr lang="en-US" sz="1300" dirty="0"/>
          </a:p>
        </p:txBody>
      </p:sp>
      <p:sp>
        <p:nvSpPr>
          <p:cNvPr id="24" name="Text 22"/>
          <p:cNvSpPr txBox="1"/>
          <p:nvPr/>
        </p:nvSpPr>
        <p:spPr>
          <a:xfrm>
            <a:off x="6437376" y="2852928"/>
            <a:ext cx="5074920" cy="1069848"/>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A dedicated edge DNN (10.47.0.0/16) with its own tunnel interface and NAT disabled, added to the SMF and UPF</a:t>
            </a:r>
            <a:endParaRPr lang="en-US" sz="1000" dirty="0"/>
          </a:p>
          <a:p>
            <a:pPr marL="342900" indent="-342900">
              <a:spcAft>
                <a:spcPts val="600"/>
              </a:spcAft>
              <a:buSzPct val="100000"/>
              <a:buChar char="•"/>
            </a:pPr>
            <a:r>
              <a:rPr lang="en-US" sz="1000" dirty="0">
                <a:solidFill>
                  <a:srgbClr val="AFC5DE"/>
                </a:solidFill>
                <a:latin typeface="Calibri" pitchFamily="34" charset="0"/>
                <a:ea typeface="Calibri" pitchFamily="34" charset="-122"/>
                <a:cs typeface="Calibri" pitchFamily="34" charset="-120"/>
              </a:rPr>
              <a:t>A small nginx MEC application reachable only through that edge session</a:t>
            </a:r>
            <a:endParaRPr lang="en-US" sz="1000" dirty="0"/>
          </a:p>
        </p:txBody>
      </p:sp>
      <p:sp>
        <p:nvSpPr>
          <p:cNvPr id="25" name="Shape 23"/>
          <p:cNvSpPr/>
          <p:nvPr/>
        </p:nvSpPr>
        <p:spPr>
          <a:xfrm>
            <a:off x="6199632" y="4169664"/>
            <a:ext cx="5532120" cy="2231136"/>
          </a:xfrm>
          <a:prstGeom prst="roundRect">
            <a:avLst>
              <a:gd name="adj" fmla="val 3689"/>
            </a:avLst>
          </a:prstGeom>
          <a:solidFill>
            <a:srgbClr val="12233D"/>
          </a:solidFill>
          <a:ln w="9525">
            <a:solidFill>
              <a:srgbClr val="1F3557"/>
            </a:solidFill>
            <a:prstDash val="solid"/>
          </a:ln>
        </p:spPr>
      </p:sp>
      <p:sp>
        <p:nvSpPr>
          <p:cNvPr id="26" name="Shape 24"/>
          <p:cNvSpPr/>
          <p:nvPr/>
        </p:nvSpPr>
        <p:spPr>
          <a:xfrm>
            <a:off x="6400800" y="4334256"/>
            <a:ext cx="237744" cy="237744"/>
          </a:xfrm>
          <a:prstGeom prst="ellipse">
            <a:avLst/>
          </a:prstGeom>
          <a:solidFill>
            <a:srgbClr val="F2A65A">
              <a:alpha val="20000"/>
            </a:srgbClr>
          </a:solidFill>
          <a:ln w="12700">
            <a:solidFill>
              <a:srgbClr val="F2A65A"/>
            </a:solidFill>
            <a:prstDash val="solid"/>
          </a:ln>
        </p:spPr>
      </p:sp>
      <p:sp>
        <p:nvSpPr>
          <p:cNvPr id="27" name="Text 25"/>
          <p:cNvSpPr txBox="1"/>
          <p:nvPr/>
        </p:nvSpPr>
        <p:spPr>
          <a:xfrm>
            <a:off x="6400800" y="4328770"/>
            <a:ext cx="237744" cy="237744"/>
          </a:xfrm>
          <a:prstGeom prst="rect">
            <a:avLst/>
          </a:prstGeom>
          <a:noFill/>
          <a:ln/>
        </p:spPr>
        <p:txBody>
          <a:bodyPr wrap="square" lIns="0" tIns="0" rIns="0" bIns="0" rtlCol="0" anchor="ctr"/>
          <a:lstStyle/>
          <a:p>
            <a:pPr algn="ctr" indent="0" marL="0">
              <a:buNone/>
            </a:pPr>
            <a:r>
              <a:rPr lang="en-US" sz="1100" b="1" dirty="0">
                <a:solidFill>
                  <a:srgbClr val="F2A65A"/>
                </a:solidFill>
                <a:latin typeface="Calibri" pitchFamily="34" charset="0"/>
                <a:ea typeface="Calibri" pitchFamily="34" charset="-122"/>
                <a:cs typeface="Calibri" pitchFamily="34" charset="-120"/>
              </a:rPr>
              <a:t>?</a:t>
            </a:r>
            <a:endParaRPr lang="en-US" sz="1100" dirty="0"/>
          </a:p>
        </p:txBody>
      </p:sp>
      <p:sp>
        <p:nvSpPr>
          <p:cNvPr id="28" name="Text 26"/>
          <p:cNvSpPr txBox="1"/>
          <p:nvPr/>
        </p:nvSpPr>
        <p:spPr>
          <a:xfrm>
            <a:off x="6729984" y="4297680"/>
            <a:ext cx="480060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Challenges solved</a:t>
            </a:r>
            <a:endParaRPr lang="en-US" sz="1250" dirty="0"/>
          </a:p>
        </p:txBody>
      </p:sp>
      <p:sp>
        <p:nvSpPr>
          <p:cNvPr id="29" name="Text 27"/>
          <p:cNvSpPr txBox="1"/>
          <p:nvPr/>
        </p:nvSpPr>
        <p:spPr>
          <a:xfrm>
            <a:off x="6437376" y="4626864"/>
            <a:ext cx="5074920" cy="1664208"/>
          </a:xfrm>
          <a:prstGeom prst="rect">
            <a:avLst/>
          </a:prstGeom>
          <a:noFill/>
          <a:ln/>
        </p:spPr>
        <p:txBody>
          <a:bodyPr wrap="square" lIns="0" tIns="0" rIns="0" bIns="0" rtlCol="0" anchor="t"/>
          <a:lstStyle/>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The SMF's advertised DNN list had to include the new DNN explicitly, or the AMF rejected the session with PAYLOAD_NOT_FORWARDED</a:t>
            </a:r>
            <a:endParaRPr lang="en-US" sz="960" dirty="0"/>
          </a:p>
          <a:p>
            <a:pPr marL="342900" indent="-342900">
              <a:spcAft>
                <a:spcPts val="800"/>
              </a:spcAft>
              <a:buSzPct val="100000"/>
              <a:buChar char="•"/>
            </a:pPr>
            <a:r>
              <a:rPr lang="en-US" sz="960" dirty="0">
                <a:solidFill>
                  <a:srgbClr val="AFC5DE"/>
                </a:solidFill>
                <a:latin typeface="Calibri" pitchFamily="34" charset="0"/>
                <a:ea typeface="Calibri" pitchFamily="34" charset="-122"/>
                <a:cs typeface="Calibri" pitchFamily="34" charset="-120"/>
              </a:rPr>
              <a:t>Proved genuine local breakout two ways: the edge app's access log recorded the handset's real unmasqueraded address rather than a NAT'd cluster address, and the same session could not reach the internet at all</a:t>
            </a:r>
            <a:endParaRPr lang="en-US" sz="960" dirty="0"/>
          </a:p>
        </p:txBody>
      </p:sp>
      <p:sp>
        <p:nvSpPr>
          <p:cNvPr id="30" name="Text 28"/>
          <p:cNvSpPr txBox="1"/>
          <p:nvPr/>
        </p:nvSpPr>
        <p:spPr>
          <a:xfrm>
            <a:off x="457200" y="6519672"/>
            <a:ext cx="8229600" cy="256032"/>
          </a:xfrm>
          <a:prstGeom prst="rect">
            <a:avLst/>
          </a:prstGeom>
          <a:noFill/>
          <a:ln/>
        </p:spPr>
        <p:txBody>
          <a:bodyPr wrap="square" lIns="0" tIns="0" rIns="0" bIns="0" rtlCol="0" anchor="ctr"/>
          <a:lstStyle/>
          <a:p>
            <a:pPr indent="0" marL="0">
              <a:buNone/>
            </a:pPr>
            <a:r>
              <a:rPr lang="en-US" sz="800" spc="100" kern="0" dirty="0">
                <a:solidFill>
                  <a:srgbClr val="7690AC"/>
                </a:solidFill>
                <a:latin typeface="Calibri" pitchFamily="34" charset="0"/>
                <a:ea typeface="Calibri" pitchFamily="34" charset="-122"/>
                <a:cs typeface="Calibri" pitchFamily="34" charset="-120"/>
              </a:rPr>
              <a:t>5G RAN ARCHITECTURES  ·  MEASURED ON A KUBERNETES-NATIVE PLATFORM</a:t>
            </a:r>
            <a:endParaRPr lang="en-US" sz="800" dirty="0"/>
          </a:p>
        </p:txBody>
      </p:sp>
      <p:sp>
        <p:nvSpPr>
          <p:cNvPr id="31" name="Text 29"/>
          <p:cNvSpPr txBox="1"/>
          <p:nvPr/>
        </p:nvSpPr>
        <p:spPr>
          <a:xfrm>
            <a:off x="10607040" y="6519672"/>
            <a:ext cx="1124712" cy="256032"/>
          </a:xfrm>
          <a:prstGeom prst="rect">
            <a:avLst/>
          </a:prstGeom>
          <a:noFill/>
          <a:ln/>
        </p:spPr>
        <p:txBody>
          <a:bodyPr wrap="square" lIns="0" tIns="0" rIns="0" bIns="0" rtlCol="0" anchor="ctr"/>
          <a:lstStyle/>
          <a:p>
            <a:pPr algn="r" indent="0" marL="0">
              <a:buNone/>
            </a:pPr>
            <a:r>
              <a:rPr lang="en-US" sz="800" dirty="0">
                <a:solidFill>
                  <a:srgbClr val="7690AC"/>
                </a:solidFill>
                <a:latin typeface="Calibri" pitchFamily="34" charset="0"/>
                <a:ea typeface="Calibri" pitchFamily="34" charset="-122"/>
                <a:cs typeface="Calibri" pitchFamily="34" charset="-120"/>
              </a:rPr>
              <a:t>24 / 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2026-09-08T09:37:39Z</dcterms:created>
  <dcterms:modified xsi:type="dcterms:W3CDTF">2026-09-08T09:37:39Z</dcterms:modified>
</cp:coreProperties>
</file>